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One frame per student (Frames PDF; the typeable copy for devices). Show the headline only, take three questions from the room, name the frame. Then advance to the routine slide. Slides 3–12 are one per frame: leave the frame you're running on screen while students work; the method on the slide matches the method on their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Blocks match the lesson plan: 5 + 10 + 20 + 10 = 45. Transitions: 'Frames out. Top box first: the story, where you saw it, the date. Then we read.' · 'Story down. Frame up. Method steps in order, number one first.' · 'Swap frames with your partner. Read their evidence, not their answer. Ask one question they can't dodge.' · 'Pens down. Share-out is one line each: your call, and the evidence behind it.' BELL-RINGER, 25 MINUTES: Open 2 (headline, one question, you name the frame) · Read 5 (you read the story aloud once; one volunteer retells) · Frame 15 (solo, no pair-check, So what? last) · Share-out 3 (three volunteers). For a bell-ringer run Frames 1, 2, 4, 8 or 9; Frames 3, 6 and 10 are the long ones. Collect frames; the So what? lines are the exit ticket, scored with the rubric (Teacher Guide 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'Underline anything with a name, a date, a number, a place or a quote in it. If it can be checked, it's a claim.' · 'A second source is not where you first saw it. Same video, same account, same AI: doesn't count.' · 'The stamp is the easy part. Your evidence is the grade.' STRONG ANSWER: three or more claims copied exactly, each with a specific kind of second source (a museum site, an encyclopedia entry, the team's own schedule), one stamp, and an evidence line that says whether the story's point still stands. 'I'd Google it' earns nothing; 'I'd Google it and open the university's own page' earns credit. Counts as a second source: a textbook, an encyclopedia, a museum or government site, a different outlet that did not copy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'Somebody always loses something. If your loser box is empty, you haven't looked yet.' · 'Later counts. What goes wrong in a year, not just on day one?' · 'Your call has to name the win or the loss that decided it.' STRONG ANSWER: the winner and the loser are specific groups, not 'people'; the loss is real even when the change is good (a free app that costs you your attention); 'what could go wrong' is a chain of events, not one word; one box checked, and the 'because' names the side of the trade that decided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'We're not deciding who was right. We're writing the rule we'd want.' · 'Four rules that are actually different. If two of yours would do the same thing, you have three.' · 'A policy is rules that go together. Could a school run all three of yours at once?' STRONG ANSWER: a real yes-or-no or how-much question; four rules that run from strict to creative; every grid cell filled, including a cost in money, time or freedom; three rules that don't collide; a three-sentence defense whose proof sentence points at the story or the grid, never at 'everyone knows'. Sentence frame for Support: The rule is ______. It matters because ______. We know this works because ______.</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'Free means someone else is paying. Find them.' · 'Every row has a loss. If a way to pay looks perfect, you've missed the loss.' · 'Pick the loss you can live with, not the one that sounds nice.' STRONG ANSWER: running costs named (servers, the people who keep it up); a gain and a loss in all five rows, written from the user's side; one pick; a why that names the loss and says why it's bearable. Watch for 'Ads: no loss.' The loss is attention, tracking and slower 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sticker price is what they want you to compare. Cost per unit is what you actually pay.' · 'Same unit for all three, or the math is a lie.' · 'Cheapest per unit isn't always best. Best for whom?' STRONG ANSWER: the unit is named once and used three times; the division is shown for each option and rounded to cents; each of the three people is matched with a reason that uses the numbers (the light user would pay for hours they never use). Accept a calculator. Don't accept an answer with no unit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'Difference divided by the OLD price. Old is the whole; you're finding what part of it changed.' · 'Now turn it into hours. Money is time you already spent.' · 'Eight weeks. Where does each week's money come from? Somewhere is not a place.' STRONG ANSWER: a correct percent with the division shown and rounded; a pay rate they could really earn (chores, babysitting, a first job) and the hours it implies; eight weekly amounts that add up to the new price; sources for the money that aren't 'my parents' every week. This is the CCSS Math 6.RP.A.3c item: the percent is computed, not guessed. With devices, a calculator checks the division.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 work is a thing. A style is a way. A person is a who.' · 'The big-eyes comic is a style. The traced drawing is a work. Same pencil, different rule.' · 'Your line has to survive your own story. Sort row 9, then test your line on it.' STRONG ANSWER, sort key: 1 work · 2 style · 3 person · 4 work · 5 work · 6 person · 7 style · 8 work (a dance routine is a work; the talent show is the allowed kind of copying). Accept a defended 'style' on rows 5 and 8. Row 9 holds the story's own copying, sorted. The line says when copying is fine (learning, credit, making your own new thing) and where it crosses (a person's voice, face or name; a whole work sold as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 source can be telling the truth and still be selling you something.' · 'Who paid for the study is the first fact about the study.' · 'A fact is measured. An opinion is wanted. Which is this sentence?' STRONG ANSWER: maker and payer are specific (the company's own report; a group funded by the industry it studies); the gain is concrete (more users, a better price, a friendlier rule); five statements copied, with at least one fact and one opinion among them; a trust line that says 'trust the count, question the conclusion' rather than a flat yes or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'Allow is for things you can undo. Deny is for things you can't.' · 'Because it could ______. Finish the sentence or you haven't got a reason.' · 'Two rows that are harmless alone. Together, what could they do?' STRONG ANSWER: every row checked, with a reason that names the harm (could spend money I can't get back; could read something private); deleting, paying, passwords and location land on Check first or Deny; the combo is two specific rows and a chain (read my messages + send as me = it answers a private message before I've seen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'You can't protect everything. That's the point of the grid.' · 'Cheap to replace but a disaster to lose still scores high. Rate both.' · 'Ten coins, two protections. What did you leave unprotected, and can you live with that?' STRONG ANSWER: five things with honest ratings (a phone: cost 3, bad 3, score 9; a water bottle: 1 × 1); protections bought for the top scores and inside the budget (a passcode plus a backup copy is 5 coins); a sentence naming what stays unprotected and why that's acceptable. Close the deck here: 'The story changes every week. The method doesn't.' Collect frames; the So what? lines are the exit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news-desk-frames/dist/News Desk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NEWS DESK PACK</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News Desk Frames</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500" dirty="0">
                <a:solidFill>
                  <a:srgbClr val="E8E8F5"/>
                </a:solidFill>
                <a:latin typeface="Arial" pitchFamily="34" charset="0"/>
                <a:ea typeface="Arial" pitchFamily="34" charset="-122"/>
                <a:cs typeface="Arial" pitchFamily="34" charset="-120"/>
              </a:rPr>
              <a:t>Any story. Ten ways to think it through. Pick a frame, run the numbered method, then say why it matters to someone your age.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News Desk Day — The Routine</a:t>
            </a:r>
            <a:endParaRPr lang="en-US" sz="26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Open — headline only   ·   5 min</a:t>
            </a:r>
            <a:endParaRPr lang="en-US" sz="1500" dirty="0"/>
          </a:p>
        </p:txBody>
      </p:sp>
      <p:sp>
        <p:nvSpPr>
          <p:cNvPr id="11" name="Text 8"/>
          <p:cNvSpPr txBox="1"/>
          <p:nvPr/>
        </p:nvSpPr>
        <p:spPr>
          <a:xfrm>
            <a:off x="1143000" y="1517904"/>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Read the headline and nothing else. What question does it make you want to ask? Three answers, then we name the frame.</a:t>
            </a:r>
            <a:endParaRPr lang="en-US" sz="1200" dirty="0"/>
          </a:p>
        </p:txBody>
      </p:sp>
      <p:sp>
        <p:nvSpPr>
          <p:cNvPr id="12" name="Shape 9"/>
          <p:cNvSpPr/>
          <p:nvPr/>
        </p:nvSpPr>
        <p:spPr>
          <a:xfrm>
            <a:off x="502920" y="2108835"/>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108835"/>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063115"/>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Read — mark it up   ·   10 min</a:t>
            </a:r>
            <a:endParaRPr lang="en-US" sz="1500" dirty="0"/>
          </a:p>
        </p:txBody>
      </p:sp>
      <p:sp>
        <p:nvSpPr>
          <p:cNvPr id="15" name="Text 12"/>
          <p:cNvSpPr txBox="1"/>
          <p:nvPr/>
        </p:nvSpPr>
        <p:spPr>
          <a:xfrm>
            <a:off x="1143000" y="2392299"/>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Read once. Underline every claim you could check. Circle words you don't know. Retell it to a partner in one sentence.</a:t>
            </a:r>
            <a:endParaRPr lang="en-US" sz="1200" dirty="0"/>
          </a:p>
        </p:txBody>
      </p:sp>
      <p:sp>
        <p:nvSpPr>
          <p:cNvPr id="16" name="Shape 13"/>
          <p:cNvSpPr/>
          <p:nvPr/>
        </p:nvSpPr>
        <p:spPr>
          <a:xfrm>
            <a:off x="502920" y="298323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298323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293751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Frame — run the method   ·   20 min</a:t>
            </a:r>
            <a:endParaRPr lang="en-US" sz="1500" dirty="0"/>
          </a:p>
        </p:txBody>
      </p:sp>
      <p:sp>
        <p:nvSpPr>
          <p:cNvPr id="19" name="Text 16"/>
          <p:cNvSpPr txBox="1"/>
          <p:nvPr/>
        </p:nvSpPr>
        <p:spPr>
          <a:xfrm>
            <a:off x="1143000" y="3266694"/>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Solo 12: steps in order, top box first. Pair-check 8: swap, read their evidence, ask one question, fix one thing. So what? last.</a:t>
            </a:r>
            <a:endParaRPr lang="en-US" sz="1200" dirty="0"/>
          </a:p>
        </p:txBody>
      </p:sp>
      <p:sp>
        <p:nvSpPr>
          <p:cNvPr id="20" name="Shape 17"/>
          <p:cNvSpPr/>
          <p:nvPr/>
        </p:nvSpPr>
        <p:spPr>
          <a:xfrm>
            <a:off x="502920" y="3857625"/>
            <a:ext cx="457200" cy="457200"/>
          </a:xfrm>
          <a:prstGeom prst="ellipse">
            <a:avLst/>
          </a:prstGeom>
          <a:solidFill>
            <a:srgbClr val="FFB020"/>
          </a:solidFill>
          <a:ln w="12700">
            <a:solidFill>
              <a:srgbClr val="FFB020"/>
            </a:solidFill>
            <a:prstDash val="solid"/>
          </a:ln>
        </p:spPr>
      </p:sp>
      <p:sp>
        <p:nvSpPr>
          <p:cNvPr id="21" name="Text 18"/>
          <p:cNvSpPr txBox="1"/>
          <p:nvPr/>
        </p:nvSpPr>
        <p:spPr>
          <a:xfrm>
            <a:off x="502920" y="3857625"/>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4</a:t>
            </a:r>
            <a:endParaRPr lang="en-US" sz="1600" dirty="0"/>
          </a:p>
        </p:txBody>
      </p:sp>
      <p:sp>
        <p:nvSpPr>
          <p:cNvPr id="22" name="Text 19"/>
          <p:cNvSpPr txBox="1"/>
          <p:nvPr/>
        </p:nvSpPr>
        <p:spPr>
          <a:xfrm>
            <a:off x="1143000" y="3811905"/>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Share-out — one line each   ·   10 min</a:t>
            </a:r>
            <a:endParaRPr lang="en-US" sz="1500" dirty="0"/>
          </a:p>
        </p:txBody>
      </p:sp>
      <p:sp>
        <p:nvSpPr>
          <p:cNvPr id="23" name="Text 20"/>
          <p:cNvSpPr txBox="1"/>
          <p:nvPr/>
        </p:nvSpPr>
        <p:spPr>
          <a:xfrm>
            <a:off x="1143000" y="4141089"/>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Your call and the evidence behind it. Tally on the board. The story changes every week. The method doesn't.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Frame 1 · Fact Desk — Is it true?</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UNDERLINE every claim you could check: a name, a date, a number, a place, a quote.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RANK them. C = check it. S = safe, everyone knows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LEAVE the story. Name a second source for each C. Not where you first saw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VERDICT: RUN, FIX or KILL. Give your evidence.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200" b="1" dirty="0">
                <a:solidFill>
                  <a:srgbClr val="FFB020"/>
                </a:solidFill>
                <a:latin typeface="Arial" pitchFamily="34" charset="0"/>
                <a:ea typeface="Arial" pitchFamily="34" charset="-122"/>
                <a:cs typeface="Arial" pitchFamily="34" charset="-120"/>
              </a:rPr>
              <a:t>Frame 2 · The Trade — Who wins, who loses?</a:t>
            </a:r>
            <a:endParaRPr lang="en-US" sz="22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NAME the change in the story. One sentence.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WHO WINS? What do they get?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WHO LOSES SOMETHING? Somebody always does. Look harder.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WHAT COULD GO WRONG later, even if it works at first?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MY CALL: worth it, not worth it, or only with a rule. Say why.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3 · Write the Rule — What should the rule be?</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QUESTION the story is trying to decide. Write it as a question.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FOUR RULES that could answer it: strict, loose, in the middle, creative.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GRID each rule: who it helps, who it hurts, what it costs.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PICK THREE. That's your policy: rules that go together.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DEFEND ONE in three sentences: the rule, the reason, the proof.</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4 · Who Pays for Free? — If it's free, who pays?</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NAME the free thing. Who uses it? What does it cost to keep running?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FIVE WAYS to pay the bills are in the grid: donations, ads, membership, one sponsor, sell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For each way: one gain and one loss for the people who use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PICK ONE. The way you'd choose if you ran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SAY WHY in two lines. Name the loss you can live with.</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5 · Unit Rate Receipt — Which deal is really cheaper?</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THREE OPTIONS from the story: the price, and how much you get for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PICK THE UNIT: one hour, one month, one gigabyte. Same unit for all.</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COST PER UNIT = price ÷ amount. Show your math.</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MATCH each person to the best option for them. Say why.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6 · Percent Change Card — How big is the change, really?</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OLD and NEW price go on the card.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DIFFERENCE = new − old.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PERCENT CHANGE = difference ÷ old × 100. Round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HOURS OF WORK = new price ÷ your pay per hour, at a rate you could really earn.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SAVE-UP PLAN: eight weeks. Where does each week's money come from?</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7 · Copy, Style, or Person? — What got copied?</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WORK is one thing someone made. A STYLE is the way they make things. A PERSON is a face, voice or name.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SORT each card: work, style or person. One box per row.</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ROW 9: write what got copied in your story, then sort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DRAW YOUR LINE. Which should be allowed? Where does it cross?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8 · Source Check — Who's telling me this, and why?</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WHO MADE THIS? A company, a group, one person, a news outlet?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WHO PAID for it? Follow the money.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WHAT DO THEY GAIN if you believe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FIVE STATEMENTS from the story: a FACT the source shows, or an OPINION it wants you to hold?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TRUST IT? Say why, or why not.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9 · Permission Slip — What may an AI helper do on its own?</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READ each thing an AI helper could do for you.</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CHECK ONE: ALLOW (go ahead) · CHECK FIRST (ask me every time) · DENY (never).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ONE-LINE REASON for each: "Because it could ______."</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RISKY COMBO: two rows that are fine alone but dangerous together.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10 · Risk Grid — What would hurt most to lose?</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FIVE THINGS worth protecting: from the story, or your own phone, game saves, bike, account.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RATE 1 to 3: cost to replace, and how bad if it's gone.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SCORE = cost × how bad. The highest score gets protected first.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SPEND 10 COINS on two protections from the menu. Say why those two.</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News Desk Frames — Slides</dc:title>
  <dc:subject>PptxGenJS Presentation</dc:subject>
  <dc:creator>Future Skills Series</dc:creator>
  <cp:lastModifiedBy>Future Skills Series</cp:lastModifiedBy>
  <cp:revision>1</cp:revision>
  <dcterms:created xsi:type="dcterms:W3CDTF">2026-09-11T16:31:54Z</dcterms:created>
  <dcterms:modified xsi:type="dcterms:W3CDTF">2026-09-11T16:31:54Z</dcterms:modified>
</cp:coreProperties>
</file>
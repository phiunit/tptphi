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this slide while students settle. Worksheet: My Taste File, The Editor's Chair, and Revise &amp; Last Check, 3 pages, one per student. The deck follows the lesson plan block for block; the minute chips top-right match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feed counts: YouTube, a music app, even a game store's "recommended" row. Take 2–3 answers. Land on: every like, skip, rewatch, and follow is a signal. Nobody guessed. You taught it. Your feed is your taste, written down in likes and skips. WHAT IF a student says 'my feed is random': "Random is a signal too. What do you skip in the first second? That's a like in reverse." Nobody raises a hand? Name your own feed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(say it, don't show it): your taste, written down. You teach it, the same way you taught the feed. Bridge, verbatim: "Here's the other side. An AI doesn't know your taste unless you tell it, or it has saved notes about you. Today you write yours down on one page, then use it to make YOUR OWN writing better." TRANSITION: "So what happens when your editor knows nothing about you? Let's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beats, in order. Beat 2, if your class did Lesson 1, How to Talk to AI: the taste file is the R in P.R.O., written down once. Beat 3: say it plainly, once. "AI is your editor, not your ghostwriter." Then advance: which note could you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draft aloud first, then both notes. Ask: which one could you actually act on? The generic note fits any writer. The taste-file note names a section AND a sentence. That's the whole difference. WHAT IF 'the AI I use already knows me': "Some tools save notes about you. A fresh chat usually doesn't. Either way, the file makes sure the notes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once: a ghostwriter writes it for you and lets you put your name on it. Today nobody in this room is a ghostwriter, not a partner and not an AI. Then move on. TRANSITION: "Page 1. Your taste, written down — five sections, ten minutes, solo. Nobody swaps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Solo on worksheet page 1. Circulate and push for specifics: "quiet" beats "good"; "don't make me sound like a textbook" beats "be nice." WHAT IF stuck on So Me: "Read me the last text you sent a friend. That's your voice." Still stuck? Read Jaylen's pair aloud: "Saturday I made the world's saddest pancake and ate it anyway." / "On Saturday I prepared a breakfast item that did not meet expectations." Minute 8: two volunteers read a So Me sentence, so the class hears how different real taste sounds. TRANSITION: "Flip to page 2. Three to four sentences: the About Me for a channel or profile you'd really make. Match your taste file. Solo —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 — WHAT IF 'I don't have a channel': "The one you WOULD make — a game name, a team, a club, a pet's account." TRANSITION: "Pens down. Swap ALL your pages with your partner. You're their editor now — and page 1 is the only thing you're allowed to know about them." NOTES, by the clock: 0:00 swap (30 s) · 0:30 write 2 notes (4 min; put the next slide up) · 4:30 read the turn order aloud, Speaker 1's minute · 5:30 Speaker 2's minute · 6:30 swap back (30 s). WHAT IF the editor rewrites: "You're the editor. Hand the pen back." No section number: "Which section? No section, no note." Typing? Partners swap Chromebooks, not sheets; notes go in the Note 1 and Note 2 fields. With devices: run Step 2 once on YOUR projected account, with one volunteer's taste file and draft in the copy-ready prompt (Teacher Guide). The class checks that each note names a section. Students never need an account. TRANSITION at 4:30: "Pens down. Speaker 1, you're the editor first. Writers, one question." At 5:30: "Switch. Speaker 2, you're the editor now." At 6:30: "Swap back. Page 3 — your draft, your pen. Star every change." REVISE: read the Step 3 line aloud, word for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while editors write. Three rules: use only the taste file, exactly 2 notes, notes not rewrites. The second the editor writes a sentence, they've become a ghostwriter. A second pair for the board if needed. Reject: "It's good. Maybe add more." Accept: "Section 2 says short and punchy — sentence 3 is 22 words. Which half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SL.6.1 moment, and the turn order is what makes it one: every student reads notes aloud AND asks a question. The same text is printed on worksheet page 2, with the two question frames: "Which sentence?" or "What would fit?" Sample 3–4 pairs. Listen for an answer that cites a section ("Section 3 says no textbook voice"), not the editor's own taste ("I'd just make it funnier"). WHAT IF two partners have the same first letter: "Check the second letter." Same name? "Whoever sits nearer the door goes first." WHAT IF the writer argues back: "Ask which sentence, not whether." Both check checklist row 4 on page 3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3, after the revision. Students check all four before the Last Check. Rows 1 and 3 check the human at both ends (own draft, own revision; check against the handwriting and the stars). Row 4 checks the talk you sampled. WHAT IF a student changed nothing: "Your editor pointed at Section 3. Read it out loud. Now change one sentence to match it." TRANSITION: "Four checks. Then the Last Check: three answers, your own words, five minutes. Short is fine 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Solo, 5 minutes. Collect. KEY — #1: names one word or phrase and gives it both ways, old → new ("I made it funnier" without the words = redo). #2: names a section and the match: "Section 1 says blunt; the new line is blunt." #3 (Objective 1): proficient = "make it better" names no sentence and no direction (better for whom?), while the real note named a section and a sentence. Jaylen exemplar: #1 "'I enjoy various hobbies such as gaming and cooking' → 'I lose at games and cook worse.'" #2 "Section 3 says no textbook voice; Section 1 says funny and blunt." #3 "'Make it better' doesn't say what's wrong or what better means for ME. The note that named Section 3 told me which sentence and why." WHAT IF "I made it better": "Which word changed? Write the old word and the new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this. Next in the unit: Robots Do the Boring Work (Lesson 5, sold separately). This lesson stands alone either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1 / 13</a:t>
            </a:r>
            <a:endParaRPr lang="en-US" sz="900" dirty="0"/>
          </a:p>
        </p:txBody>
      </p:sp>
      <p:pic>
        <p:nvPicPr>
          <p:cNvPr id="5" name="Image 0" descr="/home/user/tptphi/products/ai-taste-file/dist/Teach AI Your Taste - Cover.png">    </p:cNvPr>
          <p:cNvPicPr>
            <a:picLocks noChangeAspect="1"/>
          </p:cNvPicPr>
          <p:nvPr/>
        </p:nvPicPr>
        <p:blipFill>
          <a:blip r:embed="rId1"/>
          <a:stretch>
            <a:fillRect/>
          </a:stretch>
        </p:blipFill>
        <p:spPr>
          <a:xfrm>
            <a:off x="5532120" y="605790"/>
            <a:ext cx="3108960" cy="4023360"/>
          </a:xfrm>
          <a:prstGeom prst="ellipse">
            <a:avLst/>
          </a:prstGeom>
        </p:spPr>
      </p:pic>
      <p:sp>
        <p:nvSpPr>
          <p:cNvPr id="6" name="Text 2"/>
          <p:cNvSpPr txBox="1"/>
          <p:nvPr/>
        </p:nvSpPr>
        <p:spPr>
          <a:xfrm>
            <a:off x="502920" y="1051560"/>
            <a:ext cx="4617720" cy="274320"/>
          </a:xfrm>
          <a:prstGeom prst="rect">
            <a:avLst/>
          </a:prstGeom>
          <a:noFill/>
          <a:ln/>
        </p:spPr>
        <p:txBody>
          <a:bodyPr wrap="square" lIns="0" tIns="0" rIns="0" bIns="0" rtlCol="0" anchor="t"/>
          <a:lstStyle/>
          <a:p>
            <a:pPr indent="0" marL="0">
              <a:buNone/>
            </a:pPr>
            <a:r>
              <a:rPr lang="en-US" sz="1100" b="1" spc="300" kern="0" dirty="0">
                <a:solidFill>
                  <a:srgbClr val="A9A9C4"/>
                </a:solidFill>
                <a:latin typeface="Arial" pitchFamily="34" charset="0"/>
                <a:ea typeface="Arial" pitchFamily="34" charset="-122"/>
                <a:cs typeface="Arial" pitchFamily="34" charset="-120"/>
              </a:rPr>
              <a:t>THE REVISION LESSON</a:t>
            </a:r>
            <a:endParaRPr lang="en-US" sz="1100" dirty="0"/>
          </a:p>
        </p:txBody>
      </p:sp>
      <p:sp>
        <p:nvSpPr>
          <p:cNvPr id="7" name="Text 3"/>
          <p:cNvSpPr txBox="1"/>
          <p:nvPr/>
        </p:nvSpPr>
        <p:spPr>
          <a:xfrm>
            <a:off x="502920" y="1371600"/>
            <a:ext cx="4617720" cy="13716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Teach AI Your Taste</a:t>
            </a:r>
            <a:endParaRPr lang="en-US" sz="4000" dirty="0"/>
          </a:p>
        </p:txBody>
      </p:sp>
      <p:sp>
        <p:nvSpPr>
          <p:cNvPr id="8" name="Text 4"/>
          <p:cNvSpPr txBox="1"/>
          <p:nvPr/>
        </p:nvSpPr>
        <p:spPr>
          <a:xfrm>
            <a:off x="502920" y="2834640"/>
            <a:ext cx="4617720" cy="914400"/>
          </a:xfrm>
          <a:prstGeom prst="rect">
            <a:avLst/>
          </a:prstGeom>
          <a:noFill/>
          <a:ln/>
        </p:spPr>
        <p:txBody>
          <a:bodyPr wrap="square" lIns="0" tIns="0" rIns="0" bIns="0" rtlCol="0" anchor="t"/>
          <a:lstStyle/>
          <a:p>
            <a:pPr indent="0" marL="0">
              <a:buNone/>
            </a:pPr>
            <a:r>
              <a:rPr lang="en-US" sz="1400" dirty="0">
                <a:solidFill>
                  <a:srgbClr val="E8E8F5"/>
                </a:solidFill>
                <a:latin typeface="Arial" pitchFamily="34" charset="0"/>
                <a:ea typeface="Arial" pitchFamily="34" charset="-122"/>
                <a:cs typeface="Arial" pitchFamily="34" charset="-120"/>
              </a:rPr>
              <a:t>Your For-You Page didn't guess your taste — you taught it, one like at a time. Today you write your taste down on one page, then use it to make YOUR OWN writing better.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2 / 13</a:t>
            </a:r>
            <a:endParaRPr lang="en-US" sz="900" dirty="0"/>
          </a:p>
        </p:txBody>
      </p:sp>
      <p:sp>
        <p:nvSpPr>
          <p:cNvPr id="4" name="Shape 2"/>
          <p:cNvSpPr/>
          <p:nvPr/>
        </p:nvSpPr>
        <p:spPr>
          <a:xfrm>
            <a:off x="7680960" y="146304"/>
            <a:ext cx="960120" cy="310896"/>
          </a:xfrm>
          <a:prstGeom prst="roundRect">
            <a:avLst>
              <a:gd name="adj" fmla="val 50000"/>
            </a:avLst>
          </a:prstGeom>
          <a:solidFill>
            <a:srgbClr val="14141F"/>
          </a:solidFill>
          <a:ln w="15875">
            <a:solidFill>
              <a:srgbClr val="FFB020"/>
            </a:solidFill>
            <a:prstDash val="solid"/>
          </a:ln>
        </p:spPr>
      </p:sp>
      <p:sp>
        <p:nvSpPr>
          <p:cNvPr id="5" name="Text 3"/>
          <p:cNvSpPr txBox="1"/>
          <p:nvPr/>
        </p:nvSpPr>
        <p:spPr>
          <a:xfrm>
            <a:off x="7680960" y="146304"/>
            <a:ext cx="960120" cy="310896"/>
          </a:xfrm>
          <a:prstGeom prst="rect">
            <a:avLst/>
          </a:prstGeom>
          <a:noFill/>
          <a:ln/>
        </p:spPr>
        <p:txBody>
          <a:bodyPr wrap="square" lIns="0" tIns="0" rIns="0" bIns="0" rtlCol="0" anchor="ctr"/>
          <a:lstStyle/>
          <a:p>
            <a:pPr algn="ctr" indent="0" marL="0">
              <a:buNone/>
            </a:pPr>
            <a:r>
              <a:rPr lang="en-US" sz="1000" b="1" dirty="0">
                <a:solidFill>
                  <a:srgbClr val="FFB020"/>
                </a:solidFill>
                <a:latin typeface="Arial" pitchFamily="34" charset="0"/>
                <a:ea typeface="Arial" pitchFamily="34" charset="-122"/>
                <a:cs typeface="Arial" pitchFamily="34" charset="-120"/>
              </a:rPr>
              <a:t>6 MIN</a:t>
            </a:r>
            <a:endParaRPr lang="en-US" sz="1000" dirty="0"/>
          </a:p>
        </p:txBody>
      </p:sp>
      <p:sp>
        <p:nvSpPr>
          <p:cNvPr id="6" name="Text 4"/>
          <p:cNvSpPr txBox="1"/>
          <p:nvPr/>
        </p:nvSpPr>
        <p:spPr>
          <a:xfrm>
            <a:off x="502920" y="502920"/>
            <a:ext cx="7040880" cy="548640"/>
          </a:xfrm>
          <a:prstGeom prst="rect">
            <a:avLst/>
          </a:prstGeom>
          <a:noFill/>
          <a:ln/>
        </p:spPr>
        <p:txBody>
          <a:bodyPr wrap="square" lIns="0" tIns="0" rIns="0" bIns="0" rtlCol="0" anchor="ctr"/>
          <a:lstStyle/>
          <a:p>
            <a:pPr indent="0" marL="0">
              <a:buNone/>
            </a:pPr>
            <a:r>
              <a:rPr lang="en-US" sz="2600" b="1" dirty="0">
                <a:solidFill>
                  <a:srgbClr val="FFB020"/>
                </a:solidFill>
                <a:latin typeface="Arial" pitchFamily="34" charset="0"/>
                <a:ea typeface="Arial" pitchFamily="34" charset="-122"/>
                <a:cs typeface="Arial" pitchFamily="34" charset="-120"/>
              </a:rPr>
              <a:t>Warm-Up — The Algorithm Knows You</a:t>
            </a:r>
            <a:endParaRPr lang="en-US" sz="2600" dirty="0"/>
          </a:p>
        </p:txBody>
      </p:sp>
      <p:sp>
        <p:nvSpPr>
          <p:cNvPr id="8" name="Text 5"/>
          <p:cNvSpPr txBox="1"/>
          <p:nvPr/>
        </p:nvSpPr>
        <p:spPr>
          <a:xfrm>
            <a:off x="502920" y="1188720"/>
            <a:ext cx="8138160" cy="8229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Raise your hand if your feed knows you a little too well.</a:t>
            </a:r>
            <a:endParaRPr lang="en-US" sz="2400" dirty="0"/>
          </a:p>
        </p:txBody>
      </p:sp>
      <p:sp>
        <p:nvSpPr>
          <p:cNvPr id="9" name="Shape 6"/>
          <p:cNvSpPr/>
          <p:nvPr/>
        </p:nvSpPr>
        <p:spPr>
          <a:xfrm>
            <a:off x="502920" y="2103120"/>
            <a:ext cx="8138160" cy="658368"/>
          </a:xfrm>
          <a:prstGeom prst="roundRect">
            <a:avLst>
              <a:gd name="adj" fmla="val 16667"/>
            </a:avLst>
          </a:prstGeom>
          <a:solidFill>
            <a:srgbClr val="262648"/>
          </a:solidFill>
          <a:ln w="12700">
            <a:solidFill>
              <a:srgbClr val="262648"/>
            </a:solidFill>
            <a:prstDash val="solid"/>
          </a:ln>
        </p:spPr>
      </p:sp>
      <p:sp>
        <p:nvSpPr>
          <p:cNvPr id="10" name="Text 7"/>
          <p:cNvSpPr txBox="1"/>
          <p:nvPr/>
        </p:nvSpPr>
        <p:spPr>
          <a:xfrm>
            <a:off x="731520" y="2103120"/>
            <a:ext cx="7680960" cy="658368"/>
          </a:xfrm>
          <a:prstGeom prst="rect">
            <a:avLst/>
          </a:prstGeom>
          <a:noFill/>
          <a:ln/>
        </p:spPr>
        <p:txBody>
          <a:bodyPr wrap="square" lIns="0" tIns="0" rIns="0" bIns="0" rtlCol="0" anchor="ctr"/>
          <a:lstStyle/>
          <a:p>
            <a:pPr indent="0" marL="0">
              <a:buNone/>
            </a:pPr>
            <a:r>
              <a:rPr lang="en-US" sz="1500" dirty="0">
                <a:solidFill>
                  <a:srgbClr val="E8E8F5"/>
                </a:solidFill>
                <a:latin typeface="Arial" pitchFamily="34" charset="0"/>
                <a:ea typeface="Arial" pitchFamily="34" charset="-122"/>
                <a:cs typeface="Arial" pitchFamily="34" charset="-120"/>
              </a:rPr>
              <a:t>Two people download the same app on the same day.</a:t>
            </a:r>
            <a:endParaRPr lang="en-US" sz="1500" dirty="0"/>
          </a:p>
        </p:txBody>
      </p:sp>
      <p:sp>
        <p:nvSpPr>
          <p:cNvPr id="11" name="Shape 8"/>
          <p:cNvSpPr/>
          <p:nvPr/>
        </p:nvSpPr>
        <p:spPr>
          <a:xfrm>
            <a:off x="502920" y="2852928"/>
            <a:ext cx="8138160" cy="658368"/>
          </a:xfrm>
          <a:prstGeom prst="roundRect">
            <a:avLst>
              <a:gd name="adj" fmla="val 16667"/>
            </a:avLst>
          </a:prstGeom>
          <a:solidFill>
            <a:srgbClr val="262648"/>
          </a:solidFill>
          <a:ln w="12700">
            <a:solidFill>
              <a:srgbClr val="262648"/>
            </a:solidFill>
            <a:prstDash val="solid"/>
          </a:ln>
        </p:spPr>
      </p:sp>
      <p:sp>
        <p:nvSpPr>
          <p:cNvPr id="12" name="Text 9"/>
          <p:cNvSpPr txBox="1"/>
          <p:nvPr/>
        </p:nvSpPr>
        <p:spPr>
          <a:xfrm>
            <a:off x="731520" y="2852928"/>
            <a:ext cx="7680960" cy="658368"/>
          </a:xfrm>
          <a:prstGeom prst="rect">
            <a:avLst/>
          </a:prstGeom>
          <a:noFill/>
          <a:ln/>
        </p:spPr>
        <p:txBody>
          <a:bodyPr wrap="square" lIns="0" tIns="0" rIns="0" bIns="0" rtlCol="0" anchor="ctr"/>
          <a:lstStyle/>
          <a:p>
            <a:pPr indent="0" marL="0">
              <a:buNone/>
            </a:pPr>
            <a:r>
              <a:rPr lang="en-US" sz="1500" dirty="0">
                <a:solidFill>
                  <a:srgbClr val="E8E8F5"/>
                </a:solidFill>
                <a:latin typeface="Arial" pitchFamily="34" charset="0"/>
                <a:ea typeface="Arial" pitchFamily="34" charset="-122"/>
                <a:cs typeface="Arial" pitchFamily="34" charset="-120"/>
              </a:rPr>
              <a:t>A month later: one feed is all horror edits, the other is all cooking videos.</a:t>
            </a:r>
            <a:endParaRPr lang="en-US" sz="1500" dirty="0"/>
          </a:p>
        </p:txBody>
      </p:sp>
      <p:sp>
        <p:nvSpPr>
          <p:cNvPr id="13" name="Shape 10"/>
          <p:cNvSpPr/>
          <p:nvPr/>
        </p:nvSpPr>
        <p:spPr>
          <a:xfrm>
            <a:off x="502920" y="3602736"/>
            <a:ext cx="8138160" cy="658368"/>
          </a:xfrm>
          <a:prstGeom prst="roundRect">
            <a:avLst>
              <a:gd name="adj" fmla="val 16667"/>
            </a:avLst>
          </a:prstGeom>
          <a:solidFill>
            <a:srgbClr val="262648"/>
          </a:solidFill>
          <a:ln w="12700">
            <a:solidFill>
              <a:srgbClr val="262648"/>
            </a:solidFill>
            <a:prstDash val="solid"/>
          </a:ln>
        </p:spPr>
      </p:sp>
      <p:sp>
        <p:nvSpPr>
          <p:cNvPr id="14" name="Text 11"/>
          <p:cNvSpPr txBox="1"/>
          <p:nvPr/>
        </p:nvSpPr>
        <p:spPr>
          <a:xfrm>
            <a:off x="731520" y="3602736"/>
            <a:ext cx="7680960" cy="658368"/>
          </a:xfrm>
          <a:prstGeom prst="rect">
            <a:avLst/>
          </a:prstGeom>
          <a:noFill/>
          <a:ln/>
        </p:spPr>
        <p:txBody>
          <a:bodyPr wrap="square" lIns="0" tIns="0" rIns="0" bIns="0" rtlCol="0" anchor="ctr"/>
          <a:lstStyle/>
          <a:p>
            <a:pPr indent="0" marL="0">
              <a:buNone/>
            </a:pPr>
            <a:r>
              <a:rPr lang="en-US" sz="1500" dirty="0">
                <a:solidFill>
                  <a:srgbClr val="E8E8F5"/>
                </a:solidFill>
                <a:latin typeface="Arial" pitchFamily="34" charset="0"/>
                <a:ea typeface="Arial" pitchFamily="34" charset="-122"/>
                <a:cs typeface="Arial" pitchFamily="34" charset="-120"/>
              </a:rPr>
              <a:t>The app didn't guess. How did it learn?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3 / 13</a:t>
            </a:r>
            <a:endParaRPr lang="en-US" sz="900" dirty="0"/>
          </a:p>
        </p:txBody>
      </p:sp>
      <p:sp>
        <p:nvSpPr>
          <p:cNvPr id="4" name="Text 2"/>
          <p:cNvSpPr txBox="1"/>
          <p:nvPr/>
        </p:nvSpPr>
        <p:spPr>
          <a:xfrm>
            <a:off x="502920" y="502920"/>
            <a:ext cx="8138160" cy="548640"/>
          </a:xfrm>
          <a:prstGeom prst="rect">
            <a:avLst/>
          </a:prstGeom>
          <a:noFill/>
          <a:ln/>
        </p:spPr>
        <p:txBody>
          <a:bodyPr wrap="square" lIns="0" tIns="0" rIns="0" bIns="0" rtlCol="0" anchor="ctr"/>
          <a:lstStyle/>
          <a:p>
            <a:pPr indent="0" marL="0">
              <a:buNone/>
            </a:pPr>
            <a:r>
              <a:rPr lang="en-US" sz="2600" b="1" dirty="0">
                <a:solidFill>
                  <a:srgbClr val="FFB020"/>
                </a:solidFill>
                <a:latin typeface="Arial" pitchFamily="34" charset="0"/>
                <a:ea typeface="Arial" pitchFamily="34" charset="-122"/>
                <a:cs typeface="Arial" pitchFamily="34" charset="-120"/>
              </a:rPr>
              <a:t>Here's the other side</a:t>
            </a:r>
            <a:endParaRPr lang="en-US" sz="2600" dirty="0"/>
          </a:p>
        </p:txBody>
      </p:sp>
      <p:sp>
        <p:nvSpPr>
          <p:cNvPr id="6" name="Text 3"/>
          <p:cNvSpPr txBox="1"/>
          <p:nvPr/>
        </p:nvSpPr>
        <p:spPr>
          <a:xfrm>
            <a:off x="502920" y="1097280"/>
            <a:ext cx="1097280" cy="1737360"/>
          </a:xfrm>
          <a:prstGeom prst="rect">
            <a:avLst/>
          </a:prstGeom>
          <a:noFill/>
          <a:ln/>
        </p:spPr>
        <p:txBody>
          <a:bodyPr wrap="square" lIns="0" tIns="0" rIns="0" bIns="0" rtlCol="0" anchor="t"/>
          <a:lstStyle/>
          <a:p>
            <a:pPr indent="0" marL="0">
              <a:buNone/>
            </a:pPr>
            <a:r>
              <a:rPr lang="en-US" sz="9600" b="1" dirty="0">
                <a:solidFill>
                  <a:srgbClr val="FFB020"/>
                </a:solidFill>
                <a:latin typeface="Arial" pitchFamily="34" charset="0"/>
                <a:ea typeface="Arial" pitchFamily="34" charset="-122"/>
                <a:cs typeface="Arial" pitchFamily="34" charset="-120"/>
              </a:rPr>
              <a:t>?</a:t>
            </a:r>
            <a:endParaRPr lang="en-US" sz="9600" dirty="0"/>
          </a:p>
        </p:txBody>
      </p:sp>
      <p:sp>
        <p:nvSpPr>
          <p:cNvPr id="7" name="Text 4"/>
          <p:cNvSpPr txBox="1"/>
          <p:nvPr/>
        </p:nvSpPr>
        <p:spPr>
          <a:xfrm>
            <a:off x="1737360" y="1188720"/>
            <a:ext cx="6903720" cy="340614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An AI doesn't know your taste unless you tell it, or it has saved notes about you. So what do you hand it?</a:t>
            </a:r>
            <a:endParaRPr lang="en-US" sz="3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4 / 13</a:t>
            </a:r>
            <a:endParaRPr lang="en-US" sz="900" dirty="0"/>
          </a:p>
        </p:txBody>
      </p:sp>
      <p:sp>
        <p:nvSpPr>
          <p:cNvPr id="4" name="Shape 2"/>
          <p:cNvSpPr/>
          <p:nvPr/>
        </p:nvSpPr>
        <p:spPr>
          <a:xfrm>
            <a:off x="7680960" y="146304"/>
            <a:ext cx="960120" cy="310896"/>
          </a:xfrm>
          <a:prstGeom prst="roundRect">
            <a:avLst>
              <a:gd name="adj" fmla="val 50000"/>
            </a:avLst>
          </a:prstGeom>
          <a:solidFill>
            <a:srgbClr val="14141F"/>
          </a:solidFill>
          <a:ln w="15875">
            <a:solidFill>
              <a:srgbClr val="FFB020"/>
            </a:solidFill>
            <a:prstDash val="solid"/>
          </a:ln>
        </p:spPr>
      </p:sp>
      <p:sp>
        <p:nvSpPr>
          <p:cNvPr id="5" name="Text 3"/>
          <p:cNvSpPr txBox="1"/>
          <p:nvPr/>
        </p:nvSpPr>
        <p:spPr>
          <a:xfrm>
            <a:off x="7680960" y="146304"/>
            <a:ext cx="960120" cy="310896"/>
          </a:xfrm>
          <a:prstGeom prst="rect">
            <a:avLst/>
          </a:prstGeom>
          <a:noFill/>
          <a:ln/>
        </p:spPr>
        <p:txBody>
          <a:bodyPr wrap="square" lIns="0" tIns="0" rIns="0" bIns="0" rtlCol="0" anchor="ctr"/>
          <a:lstStyle/>
          <a:p>
            <a:pPr algn="ctr" indent="0" marL="0">
              <a:buNone/>
            </a:pPr>
            <a:r>
              <a:rPr lang="en-US" sz="1000" b="1" dirty="0">
                <a:solidFill>
                  <a:srgbClr val="FFB020"/>
                </a:solidFill>
                <a:latin typeface="Arial" pitchFamily="34" charset="0"/>
                <a:ea typeface="Arial" pitchFamily="34" charset="-122"/>
                <a:cs typeface="Arial" pitchFamily="34" charset="-120"/>
              </a:rPr>
              <a:t>6 MIN</a:t>
            </a:r>
            <a:endParaRPr lang="en-US" sz="1000" dirty="0"/>
          </a:p>
        </p:txBody>
      </p:sp>
      <p:sp>
        <p:nvSpPr>
          <p:cNvPr id="6" name="Text 4"/>
          <p:cNvSpPr txBox="1"/>
          <p:nvPr/>
        </p:nvSpPr>
        <p:spPr>
          <a:xfrm>
            <a:off x="502920" y="502920"/>
            <a:ext cx="7040880" cy="548640"/>
          </a:xfrm>
          <a:prstGeom prst="rect">
            <a:avLst/>
          </a:prstGeom>
          <a:noFill/>
          <a:ln/>
        </p:spPr>
        <p:txBody>
          <a:bodyPr wrap="square" lIns="0" tIns="0" rIns="0" bIns="0" rtlCol="0" anchor="ctr"/>
          <a:lstStyle/>
          <a:p>
            <a:pPr indent="0" marL="0">
              <a:buNone/>
            </a:pPr>
            <a:r>
              <a:rPr lang="en-US" sz="2600" b="1" dirty="0">
                <a:solidFill>
                  <a:srgbClr val="FFB020"/>
                </a:solidFill>
                <a:latin typeface="Arial" pitchFamily="34" charset="0"/>
                <a:ea typeface="Arial" pitchFamily="34" charset="-122"/>
                <a:cs typeface="Arial" pitchFamily="34" charset="-120"/>
              </a:rPr>
              <a:t>Generic In, Generic Out</a:t>
            </a:r>
            <a:endParaRPr lang="en-US" sz="2600" dirty="0"/>
          </a:p>
        </p:txBody>
      </p:sp>
      <p:sp>
        <p:nvSpPr>
          <p:cNvPr id="8" name="Shape 5"/>
          <p:cNvSpPr/>
          <p:nvPr/>
        </p:nvSpPr>
        <p:spPr>
          <a:xfrm>
            <a:off x="502920" y="1188720"/>
            <a:ext cx="2560320" cy="3406140"/>
          </a:xfrm>
          <a:prstGeom prst="roundRect">
            <a:avLst>
              <a:gd name="adj" fmla="val 5000"/>
            </a:avLst>
          </a:prstGeom>
          <a:solidFill>
            <a:srgbClr val="262648"/>
          </a:solidFill>
          <a:ln w="12700">
            <a:solidFill>
              <a:srgbClr val="262648"/>
            </a:solidFill>
            <a:prstDash val="solid"/>
          </a:ln>
        </p:spPr>
      </p:sp>
      <p:sp>
        <p:nvSpPr>
          <p:cNvPr id="9" name="Shape 6"/>
          <p:cNvSpPr/>
          <p:nvPr/>
        </p:nvSpPr>
        <p:spPr>
          <a:xfrm>
            <a:off x="731520" y="1417320"/>
            <a:ext cx="502920" cy="502920"/>
          </a:xfrm>
          <a:prstGeom prst="ellipse">
            <a:avLst/>
          </a:prstGeom>
          <a:solidFill>
            <a:srgbClr val="FFB020"/>
          </a:solidFill>
          <a:ln w="12700">
            <a:solidFill>
              <a:srgbClr val="FFB020"/>
            </a:solidFill>
            <a:prstDash val="solid"/>
          </a:ln>
        </p:spPr>
      </p:sp>
      <p:sp>
        <p:nvSpPr>
          <p:cNvPr id="10" name="Text 7"/>
          <p:cNvSpPr txBox="1"/>
          <p:nvPr/>
        </p:nvSpPr>
        <p:spPr>
          <a:xfrm>
            <a:off x="731520" y="1417320"/>
            <a:ext cx="502920" cy="502920"/>
          </a:xfrm>
          <a:prstGeom prst="rect">
            <a:avLst/>
          </a:prstGeom>
          <a:noFill/>
          <a:ln/>
        </p:spPr>
        <p:txBody>
          <a:bodyPr wrap="square" lIns="0" tIns="0" rIns="0" bIns="0" rtlCol="0" anchor="ctr"/>
          <a:lstStyle/>
          <a:p>
            <a:pPr algn="ctr" indent="0" marL="0">
              <a:buNone/>
            </a:pPr>
            <a:r>
              <a:rPr lang="en-US" sz="1600" b="1" dirty="0">
                <a:solidFill>
                  <a:srgbClr val="14141F"/>
                </a:solidFill>
                <a:latin typeface="Arial" pitchFamily="34" charset="0"/>
                <a:ea typeface="Arial" pitchFamily="34" charset="-122"/>
                <a:cs typeface="Arial" pitchFamily="34" charset="-120"/>
              </a:rPr>
              <a:t>1</a:t>
            </a:r>
            <a:endParaRPr lang="en-US" sz="1600" dirty="0"/>
          </a:p>
        </p:txBody>
      </p:sp>
      <p:sp>
        <p:nvSpPr>
          <p:cNvPr id="11" name="Text 8"/>
          <p:cNvSpPr txBox="1"/>
          <p:nvPr/>
        </p:nvSpPr>
        <p:spPr>
          <a:xfrm>
            <a:off x="731520" y="2057400"/>
            <a:ext cx="2103120" cy="457200"/>
          </a:xfrm>
          <a:prstGeom prst="rect">
            <a:avLst/>
          </a:prstGeom>
          <a:noFill/>
          <a:ln/>
        </p:spPr>
        <p:txBody>
          <a:bodyPr wrap="square" lIns="0" tIns="0" rIns="0" bIns="0" rtlCol="0" anchor="ctr"/>
          <a:lstStyle/>
          <a:p>
            <a:pPr indent="0" marL="0">
              <a:buNone/>
            </a:pPr>
            <a:r>
              <a:rPr lang="en-US" sz="1400" b="1" dirty="0">
                <a:solidFill>
                  <a:srgbClr val="FFB020"/>
                </a:solidFill>
                <a:latin typeface="Arial" pitchFamily="34" charset="0"/>
                <a:ea typeface="Arial" pitchFamily="34" charset="-122"/>
                <a:cs typeface="Arial" pitchFamily="34" charset="-120"/>
              </a:rPr>
              <a:t>Generic in, generic out</a:t>
            </a:r>
            <a:endParaRPr lang="en-US" sz="1400" dirty="0"/>
          </a:p>
        </p:txBody>
      </p:sp>
      <p:sp>
        <p:nvSpPr>
          <p:cNvPr id="12" name="Text 9"/>
          <p:cNvSpPr txBox="1"/>
          <p:nvPr/>
        </p:nvSpPr>
        <p:spPr>
          <a:xfrm>
            <a:off x="731520" y="2560320"/>
            <a:ext cx="2103120" cy="1805940"/>
          </a:xfrm>
          <a:prstGeom prst="rect">
            <a:avLst/>
          </a:prstGeom>
          <a:noFill/>
          <a:ln/>
        </p:spPr>
        <p:txBody>
          <a:bodyPr wrap="square" lIns="0" tIns="0" rIns="0" bIns="0" rtlCol="0" anchor="t"/>
          <a:lstStyle/>
          <a:p>
            <a:pPr indent="0" marL="0">
              <a:buNone/>
            </a:pPr>
            <a:r>
              <a:rPr lang="en-US" sz="1400" dirty="0">
                <a:solidFill>
                  <a:srgbClr val="E8E8F5"/>
                </a:solidFill>
                <a:latin typeface="Arial" pitchFamily="34" charset="0"/>
                <a:ea typeface="Arial" pitchFamily="34" charset="-122"/>
                <a:cs typeface="Arial" pitchFamily="34" charset="-120"/>
              </a:rPr>
              <a:t>Ask "give me feedback on my paragraph" and you usually get notes for a generic writer: "add detail." True for anyone, useful to no one.</a:t>
            </a:r>
            <a:endParaRPr lang="en-US" sz="1400" dirty="0"/>
          </a:p>
        </p:txBody>
      </p:sp>
      <p:sp>
        <p:nvSpPr>
          <p:cNvPr id="13" name="Shape 10"/>
          <p:cNvSpPr/>
          <p:nvPr/>
        </p:nvSpPr>
        <p:spPr>
          <a:xfrm>
            <a:off x="3291840" y="1188720"/>
            <a:ext cx="2560320" cy="3406140"/>
          </a:xfrm>
          <a:prstGeom prst="roundRect">
            <a:avLst>
              <a:gd name="adj" fmla="val 5000"/>
            </a:avLst>
          </a:prstGeom>
          <a:solidFill>
            <a:srgbClr val="262648"/>
          </a:solidFill>
          <a:ln w="12700">
            <a:solidFill>
              <a:srgbClr val="262648"/>
            </a:solidFill>
            <a:prstDash val="solid"/>
          </a:ln>
        </p:spPr>
      </p:sp>
      <p:sp>
        <p:nvSpPr>
          <p:cNvPr id="14" name="Shape 11"/>
          <p:cNvSpPr/>
          <p:nvPr/>
        </p:nvSpPr>
        <p:spPr>
          <a:xfrm>
            <a:off x="3520440" y="1417320"/>
            <a:ext cx="502920" cy="502920"/>
          </a:xfrm>
          <a:prstGeom prst="ellipse">
            <a:avLst/>
          </a:prstGeom>
          <a:solidFill>
            <a:srgbClr val="FFB020"/>
          </a:solidFill>
          <a:ln w="12700">
            <a:solidFill>
              <a:srgbClr val="FFB020"/>
            </a:solidFill>
            <a:prstDash val="solid"/>
          </a:ln>
        </p:spPr>
      </p:sp>
      <p:sp>
        <p:nvSpPr>
          <p:cNvPr id="15" name="Text 12"/>
          <p:cNvSpPr txBox="1"/>
          <p:nvPr/>
        </p:nvSpPr>
        <p:spPr>
          <a:xfrm>
            <a:off x="3520440" y="1417320"/>
            <a:ext cx="502920" cy="502920"/>
          </a:xfrm>
          <a:prstGeom prst="rect">
            <a:avLst/>
          </a:prstGeom>
          <a:noFill/>
          <a:ln/>
        </p:spPr>
        <p:txBody>
          <a:bodyPr wrap="square" lIns="0" tIns="0" rIns="0" bIns="0" rtlCol="0" anchor="ctr"/>
          <a:lstStyle/>
          <a:p>
            <a:pPr algn="ctr" indent="0" marL="0">
              <a:buNone/>
            </a:pPr>
            <a:r>
              <a:rPr lang="en-US" sz="1600" b="1" dirty="0">
                <a:solidFill>
                  <a:srgbClr val="14141F"/>
                </a:solidFill>
                <a:latin typeface="Arial" pitchFamily="34" charset="0"/>
                <a:ea typeface="Arial" pitchFamily="34" charset="-122"/>
                <a:cs typeface="Arial" pitchFamily="34" charset="-120"/>
              </a:rPr>
              <a:t>2</a:t>
            </a:r>
            <a:endParaRPr lang="en-US" sz="1600" dirty="0"/>
          </a:p>
        </p:txBody>
      </p:sp>
      <p:sp>
        <p:nvSpPr>
          <p:cNvPr id="16" name="Text 13"/>
          <p:cNvSpPr txBox="1"/>
          <p:nvPr/>
        </p:nvSpPr>
        <p:spPr>
          <a:xfrm>
            <a:off x="3520440" y="2057400"/>
            <a:ext cx="2103120" cy="457200"/>
          </a:xfrm>
          <a:prstGeom prst="rect">
            <a:avLst/>
          </a:prstGeom>
          <a:noFill/>
          <a:ln/>
        </p:spPr>
        <p:txBody>
          <a:bodyPr wrap="square" lIns="0" tIns="0" rIns="0" bIns="0" rtlCol="0" anchor="ctr"/>
          <a:lstStyle/>
          <a:p>
            <a:pPr indent="0" marL="0">
              <a:buNone/>
            </a:pPr>
            <a:r>
              <a:rPr lang="en-US" sz="1400" b="1" dirty="0">
                <a:solidFill>
                  <a:srgbClr val="FFB020"/>
                </a:solidFill>
                <a:latin typeface="Arial" pitchFamily="34" charset="0"/>
                <a:ea typeface="Arial" pitchFamily="34" charset="-122"/>
                <a:cs typeface="Arial" pitchFamily="34" charset="-120"/>
              </a:rPr>
              <a:t>The Taste File</a:t>
            </a:r>
            <a:endParaRPr lang="en-US" sz="1400" dirty="0"/>
          </a:p>
        </p:txBody>
      </p:sp>
      <p:sp>
        <p:nvSpPr>
          <p:cNvPr id="17" name="Text 14"/>
          <p:cNvSpPr txBox="1"/>
          <p:nvPr/>
        </p:nvSpPr>
        <p:spPr>
          <a:xfrm>
            <a:off x="3520440" y="2560320"/>
            <a:ext cx="2103120" cy="1805940"/>
          </a:xfrm>
          <a:prstGeom prst="rect">
            <a:avLst/>
          </a:prstGeom>
          <a:noFill/>
          <a:ln/>
        </p:spPr>
        <p:txBody>
          <a:bodyPr wrap="square" lIns="0" tIns="0" rIns="0" bIns="0" rtlCol="0" anchor="t"/>
          <a:lstStyle/>
          <a:p>
            <a:pPr indent="0" marL="0">
              <a:buNone/>
            </a:pPr>
            <a:r>
              <a:rPr lang="en-US" sz="1400" dirty="0">
                <a:solidFill>
                  <a:srgbClr val="E8E8F5"/>
                </a:solidFill>
                <a:latin typeface="Arial" pitchFamily="34" charset="0"/>
                <a:ea typeface="Arial" pitchFamily="34" charset="-122"/>
                <a:cs typeface="Arial" pitchFamily="34" charset="-120"/>
              </a:rPr>
              <a:t>One page: your tone, formats, pet peeves, one "so me" sentence. Hand it to any editor and the notes finally fit YOU.</a:t>
            </a:r>
            <a:endParaRPr lang="en-US" sz="1400" dirty="0"/>
          </a:p>
        </p:txBody>
      </p:sp>
      <p:sp>
        <p:nvSpPr>
          <p:cNvPr id="18" name="Shape 15"/>
          <p:cNvSpPr/>
          <p:nvPr/>
        </p:nvSpPr>
        <p:spPr>
          <a:xfrm>
            <a:off x="6080760" y="1188720"/>
            <a:ext cx="2560320" cy="3406140"/>
          </a:xfrm>
          <a:prstGeom prst="roundRect">
            <a:avLst>
              <a:gd name="adj" fmla="val 5000"/>
            </a:avLst>
          </a:prstGeom>
          <a:solidFill>
            <a:srgbClr val="262648"/>
          </a:solidFill>
          <a:ln w="12700">
            <a:solidFill>
              <a:srgbClr val="262648"/>
            </a:solidFill>
            <a:prstDash val="solid"/>
          </a:ln>
        </p:spPr>
      </p:sp>
      <p:sp>
        <p:nvSpPr>
          <p:cNvPr id="19" name="Shape 16"/>
          <p:cNvSpPr/>
          <p:nvPr/>
        </p:nvSpPr>
        <p:spPr>
          <a:xfrm>
            <a:off x="6309360" y="1417320"/>
            <a:ext cx="502920" cy="502920"/>
          </a:xfrm>
          <a:prstGeom prst="ellipse">
            <a:avLst/>
          </a:prstGeom>
          <a:solidFill>
            <a:srgbClr val="FFB020"/>
          </a:solidFill>
          <a:ln w="12700">
            <a:solidFill>
              <a:srgbClr val="FFB020"/>
            </a:solidFill>
            <a:prstDash val="solid"/>
          </a:ln>
        </p:spPr>
      </p:sp>
      <p:sp>
        <p:nvSpPr>
          <p:cNvPr id="20" name="Text 17"/>
          <p:cNvSpPr txBox="1"/>
          <p:nvPr/>
        </p:nvSpPr>
        <p:spPr>
          <a:xfrm>
            <a:off x="6309360" y="1417320"/>
            <a:ext cx="502920" cy="502920"/>
          </a:xfrm>
          <a:prstGeom prst="rect">
            <a:avLst/>
          </a:prstGeom>
          <a:noFill/>
          <a:ln/>
        </p:spPr>
        <p:txBody>
          <a:bodyPr wrap="square" lIns="0" tIns="0" rIns="0" bIns="0" rtlCol="0" anchor="ctr"/>
          <a:lstStyle/>
          <a:p>
            <a:pPr algn="ctr" indent="0" marL="0">
              <a:buNone/>
            </a:pPr>
            <a:r>
              <a:rPr lang="en-US" sz="1600" b="1" dirty="0">
                <a:solidFill>
                  <a:srgbClr val="14141F"/>
                </a:solidFill>
                <a:latin typeface="Arial" pitchFamily="34" charset="0"/>
                <a:ea typeface="Arial" pitchFamily="34" charset="-122"/>
                <a:cs typeface="Arial" pitchFamily="34" charset="-120"/>
              </a:rPr>
              <a:t>3</a:t>
            </a:r>
            <a:endParaRPr lang="en-US" sz="1600" dirty="0"/>
          </a:p>
        </p:txBody>
      </p:sp>
      <p:sp>
        <p:nvSpPr>
          <p:cNvPr id="21" name="Text 18"/>
          <p:cNvSpPr txBox="1"/>
          <p:nvPr/>
        </p:nvSpPr>
        <p:spPr>
          <a:xfrm>
            <a:off x="6309360" y="2057400"/>
            <a:ext cx="2103120" cy="457200"/>
          </a:xfrm>
          <a:prstGeom prst="rect">
            <a:avLst/>
          </a:prstGeom>
          <a:noFill/>
          <a:ln/>
        </p:spPr>
        <p:txBody>
          <a:bodyPr wrap="square" lIns="0" tIns="0" rIns="0" bIns="0" rtlCol="0" anchor="ctr"/>
          <a:lstStyle/>
          <a:p>
            <a:pPr indent="0" marL="0">
              <a:buNone/>
            </a:pPr>
            <a:r>
              <a:rPr lang="en-US" sz="1400" b="1" dirty="0">
                <a:solidFill>
                  <a:srgbClr val="FFB020"/>
                </a:solidFill>
                <a:latin typeface="Arial" pitchFamily="34" charset="0"/>
                <a:ea typeface="Arial" pitchFamily="34" charset="-122"/>
                <a:cs typeface="Arial" pitchFamily="34" charset="-120"/>
              </a:rPr>
              <a:t>The editor loop</a:t>
            </a:r>
            <a:endParaRPr lang="en-US" sz="1400" dirty="0"/>
          </a:p>
        </p:txBody>
      </p:sp>
      <p:sp>
        <p:nvSpPr>
          <p:cNvPr id="22" name="Text 19"/>
          <p:cNvSpPr txBox="1"/>
          <p:nvPr/>
        </p:nvSpPr>
        <p:spPr>
          <a:xfrm>
            <a:off x="6309360" y="2560320"/>
            <a:ext cx="2103120" cy="1805940"/>
          </a:xfrm>
          <a:prstGeom prst="rect">
            <a:avLst/>
          </a:prstGeom>
          <a:noFill/>
          <a:ln/>
        </p:spPr>
        <p:txBody>
          <a:bodyPr wrap="square" lIns="0" tIns="0" rIns="0" bIns="0" rtlCol="0" anchor="t"/>
          <a:lstStyle/>
          <a:p>
            <a:pPr indent="0" marL="0">
              <a:buNone/>
            </a:pPr>
            <a:r>
              <a:rPr lang="en-US" sz="1400" dirty="0">
                <a:solidFill>
                  <a:srgbClr val="E8E8F5"/>
                </a:solidFill>
                <a:latin typeface="Arial" pitchFamily="34" charset="0"/>
                <a:ea typeface="Arial" pitchFamily="34" charset="-122"/>
                <a:cs typeface="Arial" pitchFamily="34" charset="-120"/>
              </a:rPr>
              <a:t>YOU draft → editor gives notes → YOU revise. The human does the writing at both ends.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5 / 13</a:t>
            </a:r>
            <a:endParaRPr lang="en-US" sz="900" dirty="0"/>
          </a:p>
        </p:txBody>
      </p:sp>
      <p:sp>
        <p:nvSpPr>
          <p:cNvPr id="4" name="Text 2"/>
          <p:cNvSpPr txBox="1"/>
          <p:nvPr/>
        </p:nvSpPr>
        <p:spPr>
          <a:xfrm>
            <a:off x="502920" y="502920"/>
            <a:ext cx="8138160" cy="548640"/>
          </a:xfrm>
          <a:prstGeom prst="rect">
            <a:avLst/>
          </a:prstGeom>
          <a:noFill/>
          <a:ln/>
        </p:spPr>
        <p:txBody>
          <a:bodyPr wrap="square" lIns="0" tIns="0" rIns="0" bIns="0" rtlCol="0" anchor="ctr"/>
          <a:lstStyle/>
          <a:p>
            <a:pPr indent="0" marL="0">
              <a:buNone/>
            </a:pPr>
            <a:r>
              <a:rPr lang="en-US" sz="2600" b="1" dirty="0">
                <a:solidFill>
                  <a:srgbClr val="FFB020"/>
                </a:solidFill>
                <a:latin typeface="Arial" pitchFamily="34" charset="0"/>
                <a:ea typeface="Arial" pitchFamily="34" charset="-122"/>
                <a:cs typeface="Arial" pitchFamily="34" charset="-120"/>
              </a:rPr>
              <a:t>Which note could you use?</a:t>
            </a:r>
            <a:endParaRPr lang="en-US" sz="2600" dirty="0"/>
          </a:p>
        </p:txBody>
      </p:sp>
      <p:sp>
        <p:nvSpPr>
          <p:cNvPr id="6" name="Shape 3"/>
          <p:cNvSpPr/>
          <p:nvPr/>
        </p:nvSpPr>
        <p:spPr>
          <a:xfrm>
            <a:off x="502920" y="1188720"/>
            <a:ext cx="2560320" cy="3406140"/>
          </a:xfrm>
          <a:prstGeom prst="roundRect">
            <a:avLst>
              <a:gd name="adj" fmla="val 5000"/>
            </a:avLst>
          </a:prstGeom>
          <a:solidFill>
            <a:srgbClr val="262648"/>
          </a:solidFill>
          <a:ln w="12700">
            <a:solidFill>
              <a:srgbClr val="262648"/>
            </a:solidFill>
            <a:prstDash val="solid"/>
          </a:ln>
        </p:spPr>
      </p:sp>
      <p:sp>
        <p:nvSpPr>
          <p:cNvPr id="7" name="Text 4"/>
          <p:cNvSpPr txBox="1"/>
          <p:nvPr/>
        </p:nvSpPr>
        <p:spPr>
          <a:xfrm>
            <a:off x="731520" y="2057400"/>
            <a:ext cx="2103120" cy="457200"/>
          </a:xfrm>
          <a:prstGeom prst="rect">
            <a:avLst/>
          </a:prstGeom>
          <a:noFill/>
          <a:ln/>
        </p:spPr>
        <p:txBody>
          <a:bodyPr wrap="square" lIns="0" tIns="0" rIns="0" bIns="0" rtlCol="0" anchor="ctr"/>
          <a:lstStyle/>
          <a:p>
            <a:pPr indent="0" marL="0">
              <a:buNone/>
            </a:pPr>
            <a:r>
              <a:rPr lang="en-US" sz="1400" b="1" dirty="0">
                <a:solidFill>
                  <a:srgbClr val="FFB020"/>
                </a:solidFill>
                <a:latin typeface="Arial" pitchFamily="34" charset="0"/>
                <a:ea typeface="Arial" pitchFamily="34" charset="-122"/>
                <a:cs typeface="Arial" pitchFamily="34" charset="-120"/>
              </a:rPr>
              <a:t>Draft: watch sentence 2</a:t>
            </a:r>
            <a:endParaRPr lang="en-US" sz="1400" dirty="0"/>
          </a:p>
        </p:txBody>
      </p:sp>
      <p:sp>
        <p:nvSpPr>
          <p:cNvPr id="8" name="Text 5"/>
          <p:cNvSpPr txBox="1"/>
          <p:nvPr/>
        </p:nvSpPr>
        <p:spPr>
          <a:xfrm>
            <a:off x="731520" y="2560320"/>
            <a:ext cx="2103120" cy="1805940"/>
          </a:xfrm>
          <a:prstGeom prst="rect">
            <a:avLst/>
          </a:prstGeom>
          <a:noFill/>
          <a:ln/>
        </p:spPr>
        <p:txBody>
          <a:bodyPr wrap="square" lIns="0" tIns="0" rIns="0" bIns="0" rtlCol="0" anchor="t"/>
          <a:lstStyle/>
          <a:p>
            <a:pPr indent="0" marL="0">
              <a:buNone/>
            </a:pPr>
            <a:r>
              <a:rPr lang="en-US" sz="1400" dirty="0">
                <a:solidFill>
                  <a:srgbClr val="E8E8F5"/>
                </a:solidFill>
                <a:latin typeface="Arial" pitchFamily="34" charset="0"/>
                <a:ea typeface="Arial" pitchFamily="34" charset="-122"/>
                <a:cs typeface="Arial" pitchFamily="34" charset="-120"/>
              </a:rPr>
              <a:t>1. "Hello and welcome to my channel!"</a:t>
            </a:r>
            <a:endParaRPr lang="en-US" sz="1400" dirty="0"/>
          </a:p>
          <a:p>
            <a:pPr indent="0" marL="0">
              <a:buNone/>
            </a:pPr>
            <a:r>
              <a:rPr lang="en-US" sz="1400" dirty="0">
                <a:solidFill>
                  <a:srgbClr val="E8E8F5"/>
                </a:solidFill>
                <a:latin typeface="Arial" pitchFamily="34" charset="0"/>
                <a:ea typeface="Arial" pitchFamily="34" charset="-122"/>
                <a:cs typeface="Arial" pitchFamily="34" charset="-120"/>
              </a:rPr>
              <a:t>2. "I enjoy various hobbies such as gaming and cooking."</a:t>
            </a:r>
            <a:endParaRPr lang="en-US" sz="1400" dirty="0"/>
          </a:p>
          <a:p>
            <a:pPr indent="0" marL="0">
              <a:buNone/>
            </a:pPr>
            <a:r>
              <a:rPr lang="en-US" sz="1400" dirty="0">
                <a:solidFill>
                  <a:srgbClr val="E8E8F5"/>
                </a:solidFill>
                <a:latin typeface="Arial" pitchFamily="34" charset="0"/>
                <a:ea typeface="Arial" pitchFamily="34" charset="-122"/>
                <a:cs typeface="Arial" pitchFamily="34" charset="-120"/>
              </a:rPr>
              <a:t>3. "I upload content on a regular basis."</a:t>
            </a:r>
            <a:endParaRPr lang="en-US" sz="1400" dirty="0"/>
          </a:p>
        </p:txBody>
      </p:sp>
      <p:sp>
        <p:nvSpPr>
          <p:cNvPr id="9" name="Shape 6"/>
          <p:cNvSpPr/>
          <p:nvPr/>
        </p:nvSpPr>
        <p:spPr>
          <a:xfrm>
            <a:off x="3291840" y="1188720"/>
            <a:ext cx="2560320" cy="3406140"/>
          </a:xfrm>
          <a:prstGeom prst="roundRect">
            <a:avLst>
              <a:gd name="adj" fmla="val 5000"/>
            </a:avLst>
          </a:prstGeom>
          <a:solidFill>
            <a:srgbClr val="262648"/>
          </a:solidFill>
          <a:ln w="12700">
            <a:solidFill>
              <a:srgbClr val="262648"/>
            </a:solidFill>
            <a:prstDash val="solid"/>
          </a:ln>
        </p:spPr>
      </p:sp>
      <p:sp>
        <p:nvSpPr>
          <p:cNvPr id="10" name="Text 7"/>
          <p:cNvSpPr txBox="1"/>
          <p:nvPr/>
        </p:nvSpPr>
        <p:spPr>
          <a:xfrm>
            <a:off x="3520440" y="2057400"/>
            <a:ext cx="2103120" cy="457200"/>
          </a:xfrm>
          <a:prstGeom prst="rect">
            <a:avLst/>
          </a:prstGeom>
          <a:noFill/>
          <a:ln/>
        </p:spPr>
        <p:txBody>
          <a:bodyPr wrap="square" lIns="0" tIns="0" rIns="0" bIns="0" rtlCol="0" anchor="ctr"/>
          <a:lstStyle/>
          <a:p>
            <a:pPr indent="0" marL="0">
              <a:buNone/>
            </a:pPr>
            <a:r>
              <a:rPr lang="en-US" sz="1400" b="1" dirty="0">
                <a:solidFill>
                  <a:srgbClr val="FFB020"/>
                </a:solidFill>
                <a:latin typeface="Arial" pitchFamily="34" charset="0"/>
                <a:ea typeface="Arial" pitchFamily="34" charset="-122"/>
                <a:cs typeface="Arial" pitchFamily="34" charset="-120"/>
              </a:rPr>
              <a:t>Generic note</a:t>
            </a:r>
            <a:endParaRPr lang="en-US" sz="1400" dirty="0"/>
          </a:p>
        </p:txBody>
      </p:sp>
      <p:sp>
        <p:nvSpPr>
          <p:cNvPr id="11" name="Text 8"/>
          <p:cNvSpPr txBox="1"/>
          <p:nvPr/>
        </p:nvSpPr>
        <p:spPr>
          <a:xfrm>
            <a:off x="3520440" y="2560320"/>
            <a:ext cx="2103120" cy="1805940"/>
          </a:xfrm>
          <a:prstGeom prst="rect">
            <a:avLst/>
          </a:prstGeom>
          <a:noFill/>
          <a:ln/>
        </p:spPr>
        <p:txBody>
          <a:bodyPr wrap="square" lIns="0" tIns="0" rIns="0" bIns="0" rtlCol="0" anchor="t"/>
          <a:lstStyle/>
          <a:p>
            <a:pPr indent="0" marL="0">
              <a:buNone/>
            </a:pPr>
            <a:r>
              <a:rPr lang="en-US" sz="1400" dirty="0">
                <a:solidFill>
                  <a:srgbClr val="E8E8F5"/>
                </a:solidFill>
                <a:latin typeface="Arial" pitchFamily="34" charset="0"/>
                <a:ea typeface="Arial" pitchFamily="34" charset="-122"/>
                <a:cs typeface="Arial" pitchFamily="34" charset="-120"/>
              </a:rPr>
              <a:t>"Make it more interesting."</a:t>
            </a:r>
            <a:endParaRPr lang="en-US" sz="1400" dirty="0"/>
          </a:p>
        </p:txBody>
      </p:sp>
      <p:sp>
        <p:nvSpPr>
          <p:cNvPr id="12" name="Shape 9"/>
          <p:cNvSpPr/>
          <p:nvPr/>
        </p:nvSpPr>
        <p:spPr>
          <a:xfrm>
            <a:off x="6080760" y="1188720"/>
            <a:ext cx="2560320" cy="3406140"/>
          </a:xfrm>
          <a:prstGeom prst="roundRect">
            <a:avLst>
              <a:gd name="adj" fmla="val 5000"/>
            </a:avLst>
          </a:prstGeom>
          <a:solidFill>
            <a:srgbClr val="262648"/>
          </a:solidFill>
          <a:ln w="12700">
            <a:solidFill>
              <a:srgbClr val="262648"/>
            </a:solidFill>
            <a:prstDash val="solid"/>
          </a:ln>
        </p:spPr>
      </p:sp>
      <p:sp>
        <p:nvSpPr>
          <p:cNvPr id="13" name="Text 10"/>
          <p:cNvSpPr txBox="1"/>
          <p:nvPr/>
        </p:nvSpPr>
        <p:spPr>
          <a:xfrm>
            <a:off x="6309360" y="2057400"/>
            <a:ext cx="2103120" cy="457200"/>
          </a:xfrm>
          <a:prstGeom prst="rect">
            <a:avLst/>
          </a:prstGeom>
          <a:noFill/>
          <a:ln/>
        </p:spPr>
        <p:txBody>
          <a:bodyPr wrap="square" lIns="0" tIns="0" rIns="0" bIns="0" rtlCol="0" anchor="ctr"/>
          <a:lstStyle/>
          <a:p>
            <a:pPr indent="0" marL="0">
              <a:buNone/>
            </a:pPr>
            <a:r>
              <a:rPr lang="en-US" sz="1400" b="1" dirty="0">
                <a:solidFill>
                  <a:srgbClr val="FFB020"/>
                </a:solidFill>
                <a:latin typeface="Arial" pitchFamily="34" charset="0"/>
                <a:ea typeface="Arial" pitchFamily="34" charset="-122"/>
                <a:cs typeface="Arial" pitchFamily="34" charset="-120"/>
              </a:rPr>
              <a:t>Taste-file note</a:t>
            </a:r>
            <a:endParaRPr lang="en-US" sz="1400" dirty="0"/>
          </a:p>
        </p:txBody>
      </p:sp>
      <p:sp>
        <p:nvSpPr>
          <p:cNvPr id="14" name="Text 11"/>
          <p:cNvSpPr txBox="1"/>
          <p:nvPr/>
        </p:nvSpPr>
        <p:spPr>
          <a:xfrm>
            <a:off x="6309360" y="2560320"/>
            <a:ext cx="2103120" cy="1805940"/>
          </a:xfrm>
          <a:prstGeom prst="rect">
            <a:avLst/>
          </a:prstGeom>
          <a:noFill/>
          <a:ln/>
        </p:spPr>
        <p:txBody>
          <a:bodyPr wrap="square" lIns="0" tIns="0" rIns="0" bIns="0" rtlCol="0" anchor="t"/>
          <a:lstStyle/>
          <a:p>
            <a:pPr indent="0" marL="0">
              <a:buNone/>
            </a:pPr>
            <a:r>
              <a:rPr lang="en-US" sz="1400" dirty="0">
                <a:solidFill>
                  <a:srgbClr val="E8E8F5"/>
                </a:solidFill>
                <a:latin typeface="Arial" pitchFamily="34" charset="0"/>
                <a:ea typeface="Arial" pitchFamily="34" charset="-122"/>
                <a:cs typeface="Arial" pitchFamily="34" charset="-120"/>
              </a:rPr>
              <a:t>"Section 1 says funny and blunt — sentence 2 sounds like a homework robot. Say it like you'd text a friend."</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6 / 13</a:t>
            </a:r>
            <a:endParaRPr lang="en-US" sz="900" dirty="0"/>
          </a:p>
        </p:txBody>
      </p:sp>
      <p:sp>
        <p:nvSpPr>
          <p:cNvPr id="5" name="Text 2"/>
          <p:cNvSpPr txBox="1"/>
          <p:nvPr/>
        </p:nvSpPr>
        <p:spPr>
          <a:xfrm>
            <a:off x="502920" y="457200"/>
            <a:ext cx="1005840" cy="2011680"/>
          </a:xfrm>
          <a:prstGeom prst="rect">
            <a:avLst/>
          </a:prstGeom>
          <a:noFill/>
          <a:ln/>
        </p:spPr>
        <p:txBody>
          <a:bodyPr wrap="square" lIns="0" tIns="0" rIns="0" bIns="0" rtlCol="0" anchor="t"/>
          <a:lstStyle/>
          <a:p>
            <a:pPr indent="0" marL="0">
              <a:buNone/>
            </a:pPr>
            <a:r>
              <a:rPr lang="en-US" sz="11000" b="1" dirty="0">
                <a:solidFill>
                  <a:srgbClr val="FFB020"/>
                </a:solidFill>
                <a:latin typeface="Arial" pitchFamily="34" charset="0"/>
                <a:ea typeface="Arial" pitchFamily="34" charset="-122"/>
                <a:cs typeface="Arial" pitchFamily="34" charset="-120"/>
              </a:rPr>
              <a:t>“</a:t>
            </a:r>
            <a:endParaRPr lang="en-US" sz="11000" dirty="0"/>
          </a:p>
        </p:txBody>
      </p:sp>
      <p:sp>
        <p:nvSpPr>
          <p:cNvPr id="6" name="Text 3"/>
          <p:cNvSpPr txBox="1"/>
          <p:nvPr/>
        </p:nvSpPr>
        <p:spPr>
          <a:xfrm>
            <a:off x="1554480" y="685800"/>
            <a:ext cx="7086600" cy="2267255"/>
          </a:xfrm>
          <a:prstGeom prst="rect">
            <a:avLst/>
          </a:prstGeom>
          <a:noFill/>
          <a:ln/>
        </p:spPr>
        <p:txBody>
          <a:bodyPr wrap="square" lIns="0" tIns="0" rIns="0" bIns="0" rtlCol="0" anchor="ctr"/>
          <a:lstStyle/>
          <a:p>
            <a:pPr indent="0" marL="0">
              <a:buNone/>
            </a:pPr>
            <a:r>
              <a:rPr lang="en-US" sz="2800" i="1" dirty="0">
                <a:solidFill>
                  <a:srgbClr val="FFFFFF"/>
                </a:solidFill>
                <a:latin typeface="Arial" pitchFamily="34" charset="0"/>
                <a:ea typeface="Arial" pitchFamily="34" charset="-122"/>
                <a:cs typeface="Arial" pitchFamily="34" charset="-120"/>
              </a:rPr>
              <a:t>AI is your editor, not your ghostwriter.</a:t>
            </a:r>
            <a:endParaRPr lang="en-US" sz="2800" dirty="0"/>
          </a:p>
        </p:txBody>
      </p:sp>
      <p:sp>
        <p:nvSpPr>
          <p:cNvPr id="7" name="Text 4"/>
          <p:cNvSpPr txBox="1"/>
          <p:nvPr/>
        </p:nvSpPr>
        <p:spPr>
          <a:xfrm>
            <a:off x="1554480" y="3090215"/>
            <a:ext cx="7086600" cy="1504645"/>
          </a:xfrm>
          <a:prstGeom prst="rect">
            <a:avLst/>
          </a:prstGeom>
          <a:noFill/>
          <a:ln/>
        </p:spPr>
        <p:txBody>
          <a:bodyPr wrap="square" lIns="0" tIns="0" rIns="0" bIns="0" rtlCol="0" anchor="t"/>
          <a:lstStyle/>
          <a:p>
            <a:pPr indent="0" marL="0">
              <a:buNone/>
            </a:pPr>
            <a:r>
              <a:rPr lang="en-US" sz="1500" dirty="0">
                <a:solidFill>
                  <a:srgbClr val="A9A9C4"/>
                </a:solidFill>
                <a:latin typeface="Arial" pitchFamily="34" charset="0"/>
                <a:ea typeface="Arial" pitchFamily="34" charset="-122"/>
                <a:cs typeface="Arial" pitchFamily="34" charset="-120"/>
              </a:rPr>
              <a:t>An editor gives notes on YOUR writing. A ghostwriter writes it for you.</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7 / 13</a:t>
            </a:r>
            <a:endParaRPr lang="en-US" sz="900" dirty="0"/>
          </a:p>
        </p:txBody>
      </p:sp>
      <p:sp>
        <p:nvSpPr>
          <p:cNvPr id="4" name="Shape 2"/>
          <p:cNvSpPr/>
          <p:nvPr/>
        </p:nvSpPr>
        <p:spPr>
          <a:xfrm>
            <a:off x="7680960" y="146304"/>
            <a:ext cx="960120" cy="310896"/>
          </a:xfrm>
          <a:prstGeom prst="roundRect">
            <a:avLst>
              <a:gd name="adj" fmla="val 50000"/>
            </a:avLst>
          </a:prstGeom>
          <a:solidFill>
            <a:srgbClr val="14141F"/>
          </a:solidFill>
          <a:ln w="15875">
            <a:solidFill>
              <a:srgbClr val="FFB020"/>
            </a:solidFill>
            <a:prstDash val="solid"/>
          </a:ln>
        </p:spPr>
      </p:sp>
      <p:sp>
        <p:nvSpPr>
          <p:cNvPr id="5" name="Text 3"/>
          <p:cNvSpPr txBox="1"/>
          <p:nvPr/>
        </p:nvSpPr>
        <p:spPr>
          <a:xfrm>
            <a:off x="7680960" y="146304"/>
            <a:ext cx="960120" cy="310896"/>
          </a:xfrm>
          <a:prstGeom prst="rect">
            <a:avLst/>
          </a:prstGeom>
          <a:noFill/>
          <a:ln/>
        </p:spPr>
        <p:txBody>
          <a:bodyPr wrap="square" lIns="0" tIns="0" rIns="0" bIns="0" rtlCol="0" anchor="ctr"/>
          <a:lstStyle/>
          <a:p>
            <a:pPr algn="ctr" indent="0" marL="0">
              <a:buNone/>
            </a:pPr>
            <a:r>
              <a:rPr lang="en-US" sz="1000" b="1" dirty="0">
                <a:solidFill>
                  <a:srgbClr val="FFB020"/>
                </a:solidFill>
                <a:latin typeface="Arial" pitchFamily="34" charset="0"/>
                <a:ea typeface="Arial" pitchFamily="34" charset="-122"/>
                <a:cs typeface="Arial" pitchFamily="34" charset="-120"/>
              </a:rPr>
              <a:t>10 MIN</a:t>
            </a:r>
            <a:endParaRPr lang="en-US" sz="1000" dirty="0"/>
          </a:p>
        </p:txBody>
      </p:sp>
      <p:sp>
        <p:nvSpPr>
          <p:cNvPr id="6" name="Text 4"/>
          <p:cNvSpPr txBox="1"/>
          <p:nvPr/>
        </p:nvSpPr>
        <p:spPr>
          <a:xfrm>
            <a:off x="502920" y="502920"/>
            <a:ext cx="7040880" cy="548640"/>
          </a:xfrm>
          <a:prstGeom prst="rect">
            <a:avLst/>
          </a:prstGeom>
          <a:noFill/>
          <a:ln/>
        </p:spPr>
        <p:txBody>
          <a:bodyPr wrap="square" lIns="0" tIns="0" rIns="0" bIns="0" rtlCol="0" anchor="ctr"/>
          <a:lstStyle/>
          <a:p>
            <a:pPr indent="0" marL="0">
              <a:buNone/>
            </a:pPr>
            <a:r>
              <a:rPr lang="en-US" sz="2600" b="1" dirty="0">
                <a:solidFill>
                  <a:srgbClr val="FFB020"/>
                </a:solidFill>
                <a:latin typeface="Arial" pitchFamily="34" charset="0"/>
                <a:ea typeface="Arial" pitchFamily="34" charset="-122"/>
                <a:cs typeface="Arial" pitchFamily="34" charset="-120"/>
              </a:rPr>
              <a:t>Activity 1 — Build Your Taste File</a:t>
            </a:r>
            <a:endParaRPr lang="en-US" sz="2600" dirty="0"/>
          </a:p>
        </p:txBody>
      </p:sp>
      <p:sp>
        <p:nvSpPr>
          <p:cNvPr id="8" name="Text 5"/>
          <p:cNvSpPr txBox="1"/>
          <p:nvPr/>
        </p:nvSpPr>
        <p:spPr>
          <a:xfrm>
            <a:off x="594360" y="1188720"/>
            <a:ext cx="7955280" cy="340614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Section 1 — The Vibe: check the 3 tone words that sound like you, add one of your own.</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Section 2 — How I Like It: check every format you actually enjoy reading.</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Section 3 — Pet Peeves: "Editor, never ______." Write two.</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Section 4 — So Me / Not Me: your weekend in your voice, then as a robot, a textbook, or a fancy poet.</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Section 5 — What I'm Into Right Now: music, shows, and games. Give the feel, not the name.</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8 / 13</a:t>
            </a:r>
            <a:endParaRPr lang="en-US" sz="900" dirty="0"/>
          </a:p>
        </p:txBody>
      </p:sp>
      <p:sp>
        <p:nvSpPr>
          <p:cNvPr id="4" name="Shape 2"/>
          <p:cNvSpPr/>
          <p:nvPr/>
        </p:nvSpPr>
        <p:spPr>
          <a:xfrm>
            <a:off x="7680960" y="146304"/>
            <a:ext cx="960120" cy="310896"/>
          </a:xfrm>
          <a:prstGeom prst="roundRect">
            <a:avLst>
              <a:gd name="adj" fmla="val 50000"/>
            </a:avLst>
          </a:prstGeom>
          <a:solidFill>
            <a:srgbClr val="14141F"/>
          </a:solidFill>
          <a:ln w="15875">
            <a:solidFill>
              <a:srgbClr val="FFB020"/>
            </a:solidFill>
            <a:prstDash val="solid"/>
          </a:ln>
        </p:spPr>
      </p:sp>
      <p:sp>
        <p:nvSpPr>
          <p:cNvPr id="5" name="Text 3"/>
          <p:cNvSpPr txBox="1"/>
          <p:nvPr/>
        </p:nvSpPr>
        <p:spPr>
          <a:xfrm>
            <a:off x="7680960" y="146304"/>
            <a:ext cx="960120" cy="310896"/>
          </a:xfrm>
          <a:prstGeom prst="rect">
            <a:avLst/>
          </a:prstGeom>
          <a:noFill/>
          <a:ln/>
        </p:spPr>
        <p:txBody>
          <a:bodyPr wrap="square" lIns="0" tIns="0" rIns="0" bIns="0" rtlCol="0" anchor="ctr"/>
          <a:lstStyle/>
          <a:p>
            <a:pPr algn="ctr" indent="0" marL="0">
              <a:buNone/>
            </a:pPr>
            <a:r>
              <a:rPr lang="en-US" sz="1000" b="1" dirty="0">
                <a:solidFill>
                  <a:srgbClr val="FFB020"/>
                </a:solidFill>
                <a:latin typeface="Arial" pitchFamily="34" charset="0"/>
                <a:ea typeface="Arial" pitchFamily="34" charset="-122"/>
                <a:cs typeface="Arial" pitchFamily="34" charset="-120"/>
              </a:rPr>
              <a:t>18 MIN</a:t>
            </a:r>
            <a:endParaRPr lang="en-US" sz="1000" dirty="0"/>
          </a:p>
        </p:txBody>
      </p:sp>
      <p:sp>
        <p:nvSpPr>
          <p:cNvPr id="6" name="Text 4"/>
          <p:cNvSpPr txBox="1"/>
          <p:nvPr/>
        </p:nvSpPr>
        <p:spPr>
          <a:xfrm>
            <a:off x="502920" y="502920"/>
            <a:ext cx="7040880" cy="548640"/>
          </a:xfrm>
          <a:prstGeom prst="rect">
            <a:avLst/>
          </a:prstGeom>
          <a:noFill/>
          <a:ln/>
        </p:spPr>
        <p:txBody>
          <a:bodyPr wrap="square" lIns="0" tIns="0" rIns="0" bIns="0" rtlCol="0" anchor="ctr"/>
          <a:lstStyle/>
          <a:p>
            <a:pPr indent="0" marL="0">
              <a:buNone/>
            </a:pPr>
            <a:r>
              <a:rPr lang="en-US" sz="2600" b="1" dirty="0">
                <a:solidFill>
                  <a:srgbClr val="FFB020"/>
                </a:solidFill>
                <a:latin typeface="Arial" pitchFamily="34" charset="0"/>
                <a:ea typeface="Arial" pitchFamily="34" charset="-122"/>
                <a:cs typeface="Arial" pitchFamily="34" charset="-120"/>
              </a:rPr>
              <a:t>Activity 2 — The Editor's Chair</a:t>
            </a:r>
            <a:endParaRPr lang="en-US" sz="2600" dirty="0"/>
          </a:p>
        </p:txBody>
      </p:sp>
      <p:sp>
        <p:nvSpPr>
          <p:cNvPr id="8" name="Shape 5"/>
          <p:cNvSpPr/>
          <p:nvPr/>
        </p:nvSpPr>
        <p:spPr>
          <a:xfrm>
            <a:off x="502920" y="1234440"/>
            <a:ext cx="457200" cy="457200"/>
          </a:xfrm>
          <a:prstGeom prst="ellipse">
            <a:avLst/>
          </a:prstGeom>
          <a:solidFill>
            <a:srgbClr val="FFB020"/>
          </a:solidFill>
          <a:ln w="12700">
            <a:solidFill>
              <a:srgbClr val="FFB020"/>
            </a:solidFill>
            <a:prstDash val="solid"/>
          </a:ln>
        </p:spPr>
      </p:sp>
      <p:sp>
        <p:nvSpPr>
          <p:cNvPr id="9" name="Text 6"/>
          <p:cNvSpPr txBox="1"/>
          <p:nvPr/>
        </p:nvSpPr>
        <p:spPr>
          <a:xfrm>
            <a:off x="502920" y="1234440"/>
            <a:ext cx="457200" cy="457200"/>
          </a:xfrm>
          <a:prstGeom prst="rect">
            <a:avLst/>
          </a:prstGeom>
          <a:noFill/>
          <a:ln/>
        </p:spPr>
        <p:txBody>
          <a:bodyPr wrap="square" lIns="0" tIns="0" rIns="0" bIns="0" rtlCol="0" anchor="ctr"/>
          <a:lstStyle/>
          <a:p>
            <a:pPr algn="ctr" indent="0" marL="0">
              <a:buNone/>
            </a:pPr>
            <a:r>
              <a:rPr lang="en-US" sz="1600" b="1" dirty="0">
                <a:solidFill>
                  <a:srgbClr val="14141F"/>
                </a:solidFill>
                <a:latin typeface="Arial" pitchFamily="34" charset="0"/>
                <a:ea typeface="Arial" pitchFamily="34" charset="-122"/>
                <a:cs typeface="Arial" pitchFamily="34" charset="-120"/>
              </a:rPr>
              <a:t>1</a:t>
            </a:r>
            <a:endParaRPr lang="en-US" sz="1600" dirty="0"/>
          </a:p>
        </p:txBody>
      </p:sp>
      <p:sp>
        <p:nvSpPr>
          <p:cNvPr id="10" name="Text 7"/>
          <p:cNvSpPr txBox="1"/>
          <p:nvPr/>
        </p:nvSpPr>
        <p:spPr>
          <a:xfrm>
            <a:off x="1143000" y="1188720"/>
            <a:ext cx="7498080" cy="320040"/>
          </a:xfrm>
          <a:prstGeom prst="rect">
            <a:avLst/>
          </a:prstGeom>
          <a:noFill/>
          <a:ln/>
        </p:spPr>
        <p:txBody>
          <a:bodyPr wrap="square" lIns="0" tIns="0" rIns="0" bIns="0" rtlCol="0" anchor="ctr"/>
          <a:lstStyle/>
          <a:p>
            <a:pPr indent="0" marL="0">
              <a:buNone/>
            </a:pPr>
            <a:r>
              <a:rPr lang="en-US" sz="1500" b="1" dirty="0">
                <a:solidFill>
                  <a:srgbClr val="FFB020"/>
                </a:solidFill>
                <a:latin typeface="Arial" pitchFamily="34" charset="0"/>
                <a:ea typeface="Arial" pitchFamily="34" charset="-122"/>
                <a:cs typeface="Arial" pitchFamily="34" charset="-120"/>
              </a:rPr>
              <a:t>Draft it yourself   ·   5 min</a:t>
            </a:r>
            <a:endParaRPr lang="en-US" sz="1500" dirty="0"/>
          </a:p>
        </p:txBody>
      </p:sp>
      <p:sp>
        <p:nvSpPr>
          <p:cNvPr id="11" name="Text 8"/>
          <p:cNvSpPr txBox="1"/>
          <p:nvPr/>
        </p:nvSpPr>
        <p:spPr>
          <a:xfrm>
            <a:off x="1143000" y="1517904"/>
            <a:ext cx="7498080" cy="612648"/>
          </a:xfrm>
          <a:prstGeom prst="rect">
            <a:avLst/>
          </a:prstGeom>
          <a:noFill/>
          <a:ln/>
        </p:spPr>
        <p:txBody>
          <a:bodyPr wrap="square" lIns="0" tIns="0" rIns="0" bIns="0" rtlCol="0" anchor="t"/>
          <a:lstStyle/>
          <a:p>
            <a:pPr indent="0" marL="0">
              <a:buNone/>
            </a:pPr>
            <a:r>
              <a:rPr lang="en-US" sz="1300" dirty="0">
                <a:solidFill>
                  <a:srgbClr val="E8E8F5"/>
                </a:solidFill>
                <a:latin typeface="Arial" pitchFamily="34" charset="0"/>
                <a:ea typeface="Arial" pitchFamily="34" charset="-122"/>
                <a:cs typeface="Arial" pitchFamily="34" charset="-120"/>
              </a:rPr>
              <a:t>Solo, page 2, Step 1. 3–4 sentences: the About Me for a channel or profile you'd really make. No AI, no partner.</a:t>
            </a:r>
            <a:endParaRPr lang="en-US" sz="1300" dirty="0"/>
          </a:p>
        </p:txBody>
      </p:sp>
      <p:sp>
        <p:nvSpPr>
          <p:cNvPr id="12" name="Shape 9"/>
          <p:cNvSpPr/>
          <p:nvPr/>
        </p:nvSpPr>
        <p:spPr>
          <a:xfrm>
            <a:off x="502920" y="2286000"/>
            <a:ext cx="457200" cy="457200"/>
          </a:xfrm>
          <a:prstGeom prst="ellipse">
            <a:avLst/>
          </a:prstGeom>
          <a:solidFill>
            <a:srgbClr val="FFB020"/>
          </a:solidFill>
          <a:ln w="12700">
            <a:solidFill>
              <a:srgbClr val="FFB020"/>
            </a:solidFill>
            <a:prstDash val="solid"/>
          </a:ln>
        </p:spPr>
      </p:sp>
      <p:sp>
        <p:nvSpPr>
          <p:cNvPr id="13" name="Text 10"/>
          <p:cNvSpPr txBox="1"/>
          <p:nvPr/>
        </p:nvSpPr>
        <p:spPr>
          <a:xfrm>
            <a:off x="502920" y="2286000"/>
            <a:ext cx="457200" cy="457200"/>
          </a:xfrm>
          <a:prstGeom prst="rect">
            <a:avLst/>
          </a:prstGeom>
          <a:noFill/>
          <a:ln/>
        </p:spPr>
        <p:txBody>
          <a:bodyPr wrap="square" lIns="0" tIns="0" rIns="0" bIns="0" rtlCol="0" anchor="ctr"/>
          <a:lstStyle/>
          <a:p>
            <a:pPr algn="ctr" indent="0" marL="0">
              <a:buNone/>
            </a:pPr>
            <a:r>
              <a:rPr lang="en-US" sz="1600" b="1" dirty="0">
                <a:solidFill>
                  <a:srgbClr val="14141F"/>
                </a:solidFill>
                <a:latin typeface="Arial" pitchFamily="34" charset="0"/>
                <a:ea typeface="Arial" pitchFamily="34" charset="-122"/>
                <a:cs typeface="Arial" pitchFamily="34" charset="-120"/>
              </a:rPr>
              <a:t>2</a:t>
            </a:r>
            <a:endParaRPr lang="en-US" sz="1600" dirty="0"/>
          </a:p>
        </p:txBody>
      </p:sp>
      <p:sp>
        <p:nvSpPr>
          <p:cNvPr id="14" name="Text 11"/>
          <p:cNvSpPr txBox="1"/>
          <p:nvPr/>
        </p:nvSpPr>
        <p:spPr>
          <a:xfrm>
            <a:off x="1143000" y="2240280"/>
            <a:ext cx="7498080" cy="320040"/>
          </a:xfrm>
          <a:prstGeom prst="rect">
            <a:avLst/>
          </a:prstGeom>
          <a:noFill/>
          <a:ln/>
        </p:spPr>
        <p:txBody>
          <a:bodyPr wrap="square" lIns="0" tIns="0" rIns="0" bIns="0" rtlCol="0" anchor="ctr"/>
          <a:lstStyle/>
          <a:p>
            <a:pPr indent="0" marL="0">
              <a:buNone/>
            </a:pPr>
            <a:r>
              <a:rPr lang="en-US" sz="1500" b="1" dirty="0">
                <a:solidFill>
                  <a:srgbClr val="FFB020"/>
                </a:solidFill>
                <a:latin typeface="Arial" pitchFamily="34" charset="0"/>
                <a:ea typeface="Arial" pitchFamily="34" charset="-122"/>
                <a:cs typeface="Arial" pitchFamily="34" charset="-120"/>
              </a:rPr>
              <a:t>Editor's notes   ·   7 min</a:t>
            </a:r>
            <a:endParaRPr lang="en-US" sz="1500" dirty="0"/>
          </a:p>
        </p:txBody>
      </p:sp>
      <p:sp>
        <p:nvSpPr>
          <p:cNvPr id="15" name="Text 12"/>
          <p:cNvSpPr txBox="1"/>
          <p:nvPr/>
        </p:nvSpPr>
        <p:spPr>
          <a:xfrm>
            <a:off x="1143000" y="2569464"/>
            <a:ext cx="7498080" cy="612648"/>
          </a:xfrm>
          <a:prstGeom prst="rect">
            <a:avLst/>
          </a:prstGeom>
          <a:noFill/>
          <a:ln/>
        </p:spPr>
        <p:txBody>
          <a:bodyPr wrap="square" lIns="0" tIns="0" rIns="0" bIns="0" rtlCol="0" anchor="t"/>
          <a:lstStyle/>
          <a:p>
            <a:pPr indent="0" marL="0">
              <a:buNone/>
            </a:pPr>
            <a:r>
              <a:rPr lang="en-US" sz="1300" dirty="0">
                <a:solidFill>
                  <a:srgbClr val="E8E8F5"/>
                </a:solidFill>
                <a:latin typeface="Arial" pitchFamily="34" charset="0"/>
                <a:ea typeface="Arial" pitchFamily="34" charset="-122"/>
                <a:cs typeface="Arial" pitchFamily="34" charset="-120"/>
              </a:rPr>
              <a:t>Swap ALL pages. Read THEIR taste file, then write 2 notes on THEIR page 2 — each names a section. No rewriting. Then talk for 2 minutes.</a:t>
            </a:r>
            <a:endParaRPr lang="en-US" sz="1300" dirty="0"/>
          </a:p>
        </p:txBody>
      </p:sp>
      <p:sp>
        <p:nvSpPr>
          <p:cNvPr id="16" name="Shape 13"/>
          <p:cNvSpPr/>
          <p:nvPr/>
        </p:nvSpPr>
        <p:spPr>
          <a:xfrm>
            <a:off x="502920" y="3337560"/>
            <a:ext cx="457200" cy="457200"/>
          </a:xfrm>
          <a:prstGeom prst="ellipse">
            <a:avLst/>
          </a:prstGeom>
          <a:solidFill>
            <a:srgbClr val="FFB020"/>
          </a:solidFill>
          <a:ln w="12700">
            <a:solidFill>
              <a:srgbClr val="FFB020"/>
            </a:solidFill>
            <a:prstDash val="solid"/>
          </a:ln>
        </p:spPr>
      </p:sp>
      <p:sp>
        <p:nvSpPr>
          <p:cNvPr id="17" name="Text 14"/>
          <p:cNvSpPr txBox="1"/>
          <p:nvPr/>
        </p:nvSpPr>
        <p:spPr>
          <a:xfrm>
            <a:off x="502920" y="3337560"/>
            <a:ext cx="457200" cy="457200"/>
          </a:xfrm>
          <a:prstGeom prst="rect">
            <a:avLst/>
          </a:prstGeom>
          <a:noFill/>
          <a:ln/>
        </p:spPr>
        <p:txBody>
          <a:bodyPr wrap="square" lIns="0" tIns="0" rIns="0" bIns="0" rtlCol="0" anchor="ctr"/>
          <a:lstStyle/>
          <a:p>
            <a:pPr algn="ctr" indent="0" marL="0">
              <a:buNone/>
            </a:pPr>
            <a:r>
              <a:rPr lang="en-US" sz="1600" b="1" dirty="0">
                <a:solidFill>
                  <a:srgbClr val="14141F"/>
                </a:solidFill>
                <a:latin typeface="Arial" pitchFamily="34" charset="0"/>
                <a:ea typeface="Arial" pitchFamily="34" charset="-122"/>
                <a:cs typeface="Arial" pitchFamily="34" charset="-120"/>
              </a:rPr>
              <a:t>3</a:t>
            </a:r>
            <a:endParaRPr lang="en-US" sz="1600" dirty="0"/>
          </a:p>
        </p:txBody>
      </p:sp>
      <p:sp>
        <p:nvSpPr>
          <p:cNvPr id="18" name="Text 15"/>
          <p:cNvSpPr txBox="1"/>
          <p:nvPr/>
        </p:nvSpPr>
        <p:spPr>
          <a:xfrm>
            <a:off x="1143000" y="3291840"/>
            <a:ext cx="7498080" cy="320040"/>
          </a:xfrm>
          <a:prstGeom prst="rect">
            <a:avLst/>
          </a:prstGeom>
          <a:noFill/>
          <a:ln/>
        </p:spPr>
        <p:txBody>
          <a:bodyPr wrap="square" lIns="0" tIns="0" rIns="0" bIns="0" rtlCol="0" anchor="ctr"/>
          <a:lstStyle/>
          <a:p>
            <a:pPr indent="0" marL="0">
              <a:buNone/>
            </a:pPr>
            <a:r>
              <a:rPr lang="en-US" sz="1500" b="1" dirty="0">
                <a:solidFill>
                  <a:srgbClr val="FFB020"/>
                </a:solidFill>
                <a:latin typeface="Arial" pitchFamily="34" charset="0"/>
                <a:ea typeface="Arial" pitchFamily="34" charset="-122"/>
                <a:cs typeface="Arial" pitchFamily="34" charset="-120"/>
              </a:rPr>
              <a:t>Revise it yourself   ·   6 min</a:t>
            </a:r>
            <a:endParaRPr lang="en-US" sz="1500" dirty="0"/>
          </a:p>
        </p:txBody>
      </p:sp>
      <p:sp>
        <p:nvSpPr>
          <p:cNvPr id="19" name="Text 16"/>
          <p:cNvSpPr txBox="1"/>
          <p:nvPr/>
        </p:nvSpPr>
        <p:spPr>
          <a:xfrm>
            <a:off x="1143000" y="3621024"/>
            <a:ext cx="7498080" cy="612648"/>
          </a:xfrm>
          <a:prstGeom prst="rect">
            <a:avLst/>
          </a:prstGeom>
          <a:noFill/>
          <a:ln/>
        </p:spPr>
        <p:txBody>
          <a:bodyPr wrap="square" lIns="0" tIns="0" rIns="0" bIns="0" rtlCol="0" anchor="t"/>
          <a:lstStyle/>
          <a:p>
            <a:pPr indent="0" marL="0">
              <a:buNone/>
            </a:pPr>
            <a:r>
              <a:rPr lang="en-US" sz="1300" dirty="0">
                <a:solidFill>
                  <a:srgbClr val="E8E8F5"/>
                </a:solidFill>
                <a:latin typeface="Arial" pitchFamily="34" charset="0"/>
                <a:ea typeface="Arial" pitchFamily="34" charset="-122"/>
                <a:cs typeface="Arial" pitchFamily="34" charset="-120"/>
              </a:rPr>
              <a:t>Copy your draft onto page 3. Change only the sentences your notes point at, plus any word that has to change with them. Star (*) every change.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9 / 13</a:t>
            </a:r>
            <a:endParaRPr lang="en-US" sz="900" dirty="0"/>
          </a:p>
        </p:txBody>
      </p:sp>
      <p:sp>
        <p:nvSpPr>
          <p:cNvPr id="4" name="Text 2"/>
          <p:cNvSpPr txBox="1"/>
          <p:nvPr/>
        </p:nvSpPr>
        <p:spPr>
          <a:xfrm>
            <a:off x="502920" y="502920"/>
            <a:ext cx="8138160" cy="548640"/>
          </a:xfrm>
          <a:prstGeom prst="rect">
            <a:avLst/>
          </a:prstGeom>
          <a:noFill/>
          <a:ln/>
        </p:spPr>
        <p:txBody>
          <a:bodyPr wrap="square" lIns="0" tIns="0" rIns="0" bIns="0" rtlCol="0" anchor="ctr"/>
          <a:lstStyle/>
          <a:p>
            <a:pPr indent="0" marL="0">
              <a:buNone/>
            </a:pPr>
            <a:r>
              <a:rPr lang="en-US" sz="2600" b="1" dirty="0">
                <a:solidFill>
                  <a:srgbClr val="FFB020"/>
                </a:solidFill>
                <a:latin typeface="Arial" pitchFamily="34" charset="0"/>
                <a:ea typeface="Arial" pitchFamily="34" charset="-122"/>
                <a:cs typeface="Arial" pitchFamily="34" charset="-120"/>
              </a:rPr>
              <a:t>What a good note looks like</a:t>
            </a:r>
            <a:endParaRPr lang="en-US" sz="2600" dirty="0"/>
          </a:p>
        </p:txBody>
      </p:sp>
      <p:sp>
        <p:nvSpPr>
          <p:cNvPr id="6" name="Shape 3"/>
          <p:cNvSpPr/>
          <p:nvPr/>
        </p:nvSpPr>
        <p:spPr>
          <a:xfrm>
            <a:off x="502920" y="1188720"/>
            <a:ext cx="3931920" cy="3406140"/>
          </a:xfrm>
          <a:prstGeom prst="roundRect">
            <a:avLst>
              <a:gd name="adj" fmla="val 3758"/>
            </a:avLst>
          </a:prstGeom>
          <a:solidFill>
            <a:srgbClr val="262648"/>
          </a:solidFill>
          <a:ln w="12700">
            <a:solidFill>
              <a:srgbClr val="262648"/>
            </a:solidFill>
            <a:prstDash val="solid"/>
          </a:ln>
        </p:spPr>
      </p:sp>
      <p:sp>
        <p:nvSpPr>
          <p:cNvPr id="7" name="Text 4"/>
          <p:cNvSpPr txBox="1"/>
          <p:nvPr/>
        </p:nvSpPr>
        <p:spPr>
          <a:xfrm>
            <a:off x="731520" y="1371600"/>
            <a:ext cx="3474720" cy="365760"/>
          </a:xfrm>
          <a:prstGeom prst="rect">
            <a:avLst/>
          </a:prstGeom>
          <a:noFill/>
          <a:ln/>
        </p:spPr>
        <p:txBody>
          <a:bodyPr wrap="square" lIns="0" tIns="0" rIns="0" bIns="0" rtlCol="0" anchor="t"/>
          <a:lstStyle/>
          <a:p>
            <a:pPr indent="0" marL="0">
              <a:buNone/>
            </a:pPr>
            <a:r>
              <a:rPr lang="en-US" sz="1300" b="1" spc="100" kern="0" dirty="0">
                <a:solidFill>
                  <a:srgbClr val="A9A9C4"/>
                </a:solidFill>
                <a:latin typeface="Arial" pitchFamily="34" charset="0"/>
                <a:ea typeface="Arial" pitchFamily="34" charset="-122"/>
                <a:cs typeface="Arial" pitchFamily="34" charset="-120"/>
              </a:rPr>
              <a:t>WRITES IT FOR YOU (REJECT)</a:t>
            </a:r>
            <a:endParaRPr lang="en-US" sz="1300" dirty="0"/>
          </a:p>
        </p:txBody>
      </p:sp>
      <p:sp>
        <p:nvSpPr>
          <p:cNvPr id="8" name="Text 5"/>
          <p:cNvSpPr txBox="1"/>
          <p:nvPr/>
        </p:nvSpPr>
        <p:spPr>
          <a:xfrm>
            <a:off x="731520" y="1828800"/>
            <a:ext cx="3474720" cy="2583180"/>
          </a:xfrm>
          <a:prstGeom prst="rect">
            <a:avLst/>
          </a:prstGeom>
          <a:noFill/>
          <a:ln/>
        </p:spPr>
        <p:txBody>
          <a:bodyPr wrap="square" lIns="0" tIns="0" rIns="0" bIns="0" rtlCol="0" anchor="t"/>
          <a:lstStyle/>
          <a:p>
            <a:pPr indent="0" marL="0">
              <a:buNone/>
            </a:pPr>
            <a:r>
              <a:rPr lang="en-US" sz="1700" dirty="0">
                <a:solidFill>
                  <a:srgbClr val="FFFFFF"/>
                </a:solidFill>
                <a:latin typeface="Arial" pitchFamily="34" charset="0"/>
                <a:ea typeface="Arial" pitchFamily="34" charset="-122"/>
                <a:cs typeface="Arial" pitchFamily="34" charset="-120"/>
              </a:rPr>
              <a:t>"Make it funnier. Say: 'Welcome to my chaotic channel!'"</a:t>
            </a:r>
            <a:endParaRPr lang="en-US" sz="1700" dirty="0"/>
          </a:p>
        </p:txBody>
      </p:sp>
      <p:sp>
        <p:nvSpPr>
          <p:cNvPr id="9" name="Shape 6"/>
          <p:cNvSpPr/>
          <p:nvPr/>
        </p:nvSpPr>
        <p:spPr>
          <a:xfrm>
            <a:off x="4709160" y="1188720"/>
            <a:ext cx="3931920" cy="3406140"/>
          </a:xfrm>
          <a:prstGeom prst="roundRect">
            <a:avLst>
              <a:gd name="adj" fmla="val 3758"/>
            </a:avLst>
          </a:prstGeom>
          <a:solidFill>
            <a:srgbClr val="2F2A5C"/>
          </a:solidFill>
          <a:ln w="19050">
            <a:solidFill>
              <a:srgbClr val="FFB020"/>
            </a:solidFill>
            <a:prstDash val="solid"/>
          </a:ln>
        </p:spPr>
      </p:sp>
      <p:sp>
        <p:nvSpPr>
          <p:cNvPr id="10" name="Text 7"/>
          <p:cNvSpPr txBox="1"/>
          <p:nvPr/>
        </p:nvSpPr>
        <p:spPr>
          <a:xfrm>
            <a:off x="4937760" y="1371600"/>
            <a:ext cx="3474720" cy="365760"/>
          </a:xfrm>
          <a:prstGeom prst="rect">
            <a:avLst/>
          </a:prstGeom>
          <a:noFill/>
          <a:ln/>
        </p:spPr>
        <p:txBody>
          <a:bodyPr wrap="square" lIns="0" tIns="0" rIns="0" bIns="0" rtlCol="0" anchor="t"/>
          <a:lstStyle/>
          <a:p>
            <a:pPr indent="0" marL="0">
              <a:buNone/>
            </a:pPr>
            <a:r>
              <a:rPr lang="en-US" sz="1300" b="1" spc="100" kern="0" dirty="0">
                <a:solidFill>
                  <a:srgbClr val="FFB020"/>
                </a:solidFill>
                <a:latin typeface="Arial" pitchFamily="34" charset="0"/>
                <a:ea typeface="Arial" pitchFamily="34" charset="-122"/>
                <a:cs typeface="Arial" pitchFamily="34" charset="-120"/>
              </a:rPr>
              <a:t>EDITOR'S NOTE (ACCEPT)</a:t>
            </a:r>
            <a:endParaRPr lang="en-US" sz="1300" dirty="0"/>
          </a:p>
        </p:txBody>
      </p:sp>
      <p:sp>
        <p:nvSpPr>
          <p:cNvPr id="11" name="Text 8"/>
          <p:cNvSpPr txBox="1"/>
          <p:nvPr/>
        </p:nvSpPr>
        <p:spPr>
          <a:xfrm>
            <a:off x="4937760" y="1828800"/>
            <a:ext cx="3474720" cy="2583180"/>
          </a:xfrm>
          <a:prstGeom prst="rect">
            <a:avLst/>
          </a:prstGeom>
          <a:noFill/>
          <a:ln/>
        </p:spPr>
        <p:txBody>
          <a:bodyPr wrap="square" lIns="0" tIns="0" rIns="0" bIns="0" rtlCol="0" anchor="t"/>
          <a:lstStyle/>
          <a:p>
            <a:pPr indent="0" marL="0">
              <a:buNone/>
            </a:pPr>
            <a:r>
              <a:rPr lang="en-US" sz="1700" dirty="0">
                <a:solidFill>
                  <a:srgbClr val="FFFFFF"/>
                </a:solidFill>
                <a:latin typeface="Arial" pitchFamily="34" charset="0"/>
                <a:ea typeface="Arial" pitchFamily="34" charset="-122"/>
                <a:cs typeface="Arial" pitchFamily="34" charset="-120"/>
              </a:rPr>
              <a:t>"Section 3 says no textbook voice — 'I enjoy various hobbies' is textbook voice. Which hobby, said your way?"</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10 / 13</a:t>
            </a:r>
            <a:endParaRPr lang="en-US" sz="900" dirty="0"/>
          </a:p>
        </p:txBody>
      </p:sp>
      <p:sp>
        <p:nvSpPr>
          <p:cNvPr id="4" name="Text 2"/>
          <p:cNvSpPr txBox="1"/>
          <p:nvPr/>
        </p:nvSpPr>
        <p:spPr>
          <a:xfrm>
            <a:off x="502920" y="502920"/>
            <a:ext cx="8138160" cy="548640"/>
          </a:xfrm>
          <a:prstGeom prst="rect">
            <a:avLst/>
          </a:prstGeom>
          <a:noFill/>
          <a:ln/>
        </p:spPr>
        <p:txBody>
          <a:bodyPr wrap="square" lIns="0" tIns="0" rIns="0" bIns="0" rtlCol="0" anchor="ctr"/>
          <a:lstStyle/>
          <a:p>
            <a:pPr indent="0" marL="0">
              <a:buNone/>
            </a:pPr>
            <a:r>
              <a:rPr lang="en-US" sz="2600" b="1" dirty="0">
                <a:solidFill>
                  <a:srgbClr val="FFB020"/>
                </a:solidFill>
                <a:latin typeface="Arial" pitchFamily="34" charset="0"/>
                <a:ea typeface="Arial" pitchFamily="34" charset="-122"/>
                <a:cs typeface="Arial" pitchFamily="34" charset="-120"/>
              </a:rPr>
              <a:t>Talk it through — 2 minutes</a:t>
            </a:r>
            <a:endParaRPr lang="en-US" sz="2600" dirty="0"/>
          </a:p>
        </p:txBody>
      </p:sp>
      <p:sp>
        <p:nvSpPr>
          <p:cNvPr id="6" name="Text 3"/>
          <p:cNvSpPr txBox="1"/>
          <p:nvPr/>
        </p:nvSpPr>
        <p:spPr>
          <a:xfrm>
            <a:off x="594360" y="1188720"/>
            <a:ext cx="7955280" cy="340614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Speaker 1 is the partner whose first name comes first in the alphabet.</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Speaker 1 is the editor for the first minute: read your two notes out loud.</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Writer: ask ONE question.</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Editor: answer from THEIR taste file — never your own taste.</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Then switch: Speaker 2 is the editor for minute two.</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Then swap sheets back.</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11 / 13</a:t>
            </a:r>
            <a:endParaRPr lang="en-US" sz="900" dirty="0"/>
          </a:p>
        </p:txBody>
      </p:sp>
      <p:sp>
        <p:nvSpPr>
          <p:cNvPr id="4" name="Text 2"/>
          <p:cNvSpPr txBox="1"/>
          <p:nvPr/>
        </p:nvSpPr>
        <p:spPr>
          <a:xfrm>
            <a:off x="502920" y="502920"/>
            <a:ext cx="8138160" cy="548640"/>
          </a:xfrm>
          <a:prstGeom prst="rect">
            <a:avLst/>
          </a:prstGeom>
          <a:noFill/>
          <a:ln/>
        </p:spPr>
        <p:txBody>
          <a:bodyPr wrap="square" lIns="0" tIns="0" rIns="0" bIns="0" rtlCol="0" anchor="ctr"/>
          <a:lstStyle/>
          <a:p>
            <a:pPr indent="0" marL="0">
              <a:buNone/>
            </a:pPr>
            <a:r>
              <a:rPr lang="en-US" sz="2600" b="1" dirty="0">
                <a:solidFill>
                  <a:srgbClr val="FFB020"/>
                </a:solidFill>
                <a:latin typeface="Arial" pitchFamily="34" charset="0"/>
                <a:ea typeface="Arial" pitchFamily="34" charset="-122"/>
                <a:cs typeface="Arial" pitchFamily="34" charset="-120"/>
              </a:rPr>
              <a:t>Editor Loop Checklist</a:t>
            </a:r>
            <a:endParaRPr lang="en-US" sz="2600" dirty="0"/>
          </a:p>
        </p:txBody>
      </p:sp>
      <p:sp>
        <p:nvSpPr>
          <p:cNvPr id="6" name="Text 3"/>
          <p:cNvSpPr txBox="1"/>
          <p:nvPr/>
        </p:nvSpPr>
        <p:spPr>
          <a:xfrm>
            <a:off x="594360" y="1188720"/>
            <a:ext cx="7955280" cy="340614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I wrote the first draft myself — no AI, no copying.</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My editor's notes each named a section and said what to change, not "make it better."</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I made the changes myself and starred every one.</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My editor read both notes aloud, I asked one question, and they answered from my taste file.</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12 / 13</a:t>
            </a:r>
            <a:endParaRPr lang="en-US" sz="900" dirty="0"/>
          </a:p>
        </p:txBody>
      </p:sp>
      <p:sp>
        <p:nvSpPr>
          <p:cNvPr id="4" name="Shape 2"/>
          <p:cNvSpPr/>
          <p:nvPr/>
        </p:nvSpPr>
        <p:spPr>
          <a:xfrm>
            <a:off x="7680960" y="146304"/>
            <a:ext cx="960120" cy="310896"/>
          </a:xfrm>
          <a:prstGeom prst="roundRect">
            <a:avLst>
              <a:gd name="adj" fmla="val 50000"/>
            </a:avLst>
          </a:prstGeom>
          <a:solidFill>
            <a:srgbClr val="14141F"/>
          </a:solidFill>
          <a:ln w="15875">
            <a:solidFill>
              <a:srgbClr val="FFB020"/>
            </a:solidFill>
            <a:prstDash val="solid"/>
          </a:ln>
        </p:spPr>
      </p:sp>
      <p:sp>
        <p:nvSpPr>
          <p:cNvPr id="5" name="Text 3"/>
          <p:cNvSpPr txBox="1"/>
          <p:nvPr/>
        </p:nvSpPr>
        <p:spPr>
          <a:xfrm>
            <a:off x="7680960" y="146304"/>
            <a:ext cx="960120" cy="310896"/>
          </a:xfrm>
          <a:prstGeom prst="rect">
            <a:avLst/>
          </a:prstGeom>
          <a:noFill/>
          <a:ln/>
        </p:spPr>
        <p:txBody>
          <a:bodyPr wrap="square" lIns="0" tIns="0" rIns="0" bIns="0" rtlCol="0" anchor="ctr"/>
          <a:lstStyle/>
          <a:p>
            <a:pPr algn="ctr" indent="0" marL="0">
              <a:buNone/>
            </a:pPr>
            <a:r>
              <a:rPr lang="en-US" sz="1000" b="1" dirty="0">
                <a:solidFill>
                  <a:srgbClr val="FFB020"/>
                </a:solidFill>
                <a:latin typeface="Arial" pitchFamily="34" charset="0"/>
                <a:ea typeface="Arial" pitchFamily="34" charset="-122"/>
                <a:cs typeface="Arial" pitchFamily="34" charset="-120"/>
              </a:rPr>
              <a:t>5 MIN</a:t>
            </a:r>
            <a:endParaRPr lang="en-US" sz="1000" dirty="0"/>
          </a:p>
        </p:txBody>
      </p:sp>
      <p:sp>
        <p:nvSpPr>
          <p:cNvPr id="6" name="Text 4"/>
          <p:cNvSpPr txBox="1"/>
          <p:nvPr/>
        </p:nvSpPr>
        <p:spPr>
          <a:xfrm>
            <a:off x="502920" y="502920"/>
            <a:ext cx="7040880" cy="548640"/>
          </a:xfrm>
          <a:prstGeom prst="rect">
            <a:avLst/>
          </a:prstGeom>
          <a:noFill/>
          <a:ln/>
        </p:spPr>
        <p:txBody>
          <a:bodyPr wrap="square" lIns="0" tIns="0" rIns="0" bIns="0" rtlCol="0" anchor="ctr"/>
          <a:lstStyle/>
          <a:p>
            <a:pPr indent="0" marL="0">
              <a:buNone/>
            </a:pPr>
            <a:r>
              <a:rPr lang="en-US" sz="2600" b="1" dirty="0">
                <a:solidFill>
                  <a:srgbClr val="FFB020"/>
                </a:solidFill>
                <a:latin typeface="Arial" pitchFamily="34" charset="0"/>
                <a:ea typeface="Arial" pitchFamily="34" charset="-122"/>
                <a:cs typeface="Arial" pitchFamily="34" charset="-120"/>
              </a:rPr>
              <a:t>Last Check — page 3, your own sheet</a:t>
            </a:r>
            <a:endParaRPr lang="en-US" sz="2600" dirty="0"/>
          </a:p>
        </p:txBody>
      </p:sp>
      <p:sp>
        <p:nvSpPr>
          <p:cNvPr id="8" name="Text 5"/>
          <p:cNvSpPr txBox="1"/>
          <p:nvPr/>
        </p:nvSpPr>
        <p:spPr>
          <a:xfrm>
            <a:off x="594360" y="1188720"/>
            <a:ext cx="7955280" cy="340614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The one word or phrase you changed (old → new):</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The new version fits my taste file because (name the section):</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Why would the note "make it better" NOT have helped you?</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13 / 13</a:t>
            </a:r>
            <a:endParaRPr lang="en-US" sz="900" dirty="0"/>
          </a:p>
        </p:txBody>
      </p:sp>
      <p:sp>
        <p:nvSpPr>
          <p:cNvPr id="5" name="Shape 2"/>
          <p:cNvSpPr/>
          <p:nvPr/>
        </p:nvSpPr>
        <p:spPr>
          <a:xfrm>
            <a:off x="7132320" y="-1097280"/>
            <a:ext cx="3291840" cy="3291840"/>
          </a:xfrm>
          <a:prstGeom prst="ellipse">
            <a:avLst/>
          </a:prstGeom>
          <a:solidFill>
            <a:srgbClr val="262648"/>
          </a:solidFill>
          <a:ln w="12700">
            <a:solidFill>
              <a:srgbClr val="262648"/>
            </a:solidFill>
            <a:prstDash val="solid"/>
          </a:ln>
        </p:spPr>
      </p:sp>
      <p:sp>
        <p:nvSpPr>
          <p:cNvPr id="6" name="Text 3"/>
          <p:cNvSpPr txBox="1"/>
          <p:nvPr/>
        </p:nvSpPr>
        <p:spPr>
          <a:xfrm>
            <a:off x="502920" y="1097280"/>
            <a:ext cx="6675120" cy="2011680"/>
          </a:xfrm>
          <a:prstGeom prst="rect">
            <a:avLst/>
          </a:prstGeom>
          <a:noFill/>
          <a:ln/>
        </p:spPr>
        <p:txBody>
          <a:bodyPr wrap="square" lIns="0" tIns="0" rIns="0" bIns="0" rtlCol="0" anchor="ctr"/>
          <a:lstStyle/>
          <a:p>
            <a:pPr indent="0" marL="0">
              <a:buNone/>
            </a:pPr>
            <a:r>
              <a:rPr lang="en-US" sz="3400" b="1" dirty="0">
                <a:solidFill>
                  <a:srgbClr val="FFB020"/>
                </a:solidFill>
                <a:latin typeface="Arial" pitchFamily="34" charset="0"/>
                <a:ea typeface="Arial" pitchFamily="34" charset="-122"/>
                <a:cs typeface="Arial" pitchFamily="34" charset="-120"/>
              </a:rPr>
              <a:t>You draft. The editor gives notes. You revise.</a:t>
            </a:r>
            <a:endParaRPr lang="en-US" sz="3400" dirty="0"/>
          </a:p>
        </p:txBody>
      </p:sp>
      <p:sp>
        <p:nvSpPr>
          <p:cNvPr id="7" name="Text 4"/>
          <p:cNvSpPr txBox="1"/>
          <p:nvPr/>
        </p:nvSpPr>
        <p:spPr>
          <a:xfrm>
            <a:off x="502920" y="3200400"/>
            <a:ext cx="7680960" cy="1097280"/>
          </a:xfrm>
          <a:prstGeom prst="rect">
            <a:avLst/>
          </a:prstGeom>
          <a:noFill/>
          <a:ln/>
        </p:spPr>
        <p:txBody>
          <a:bodyPr wrap="square" lIns="0" tIns="0" rIns="0" bIns="0" rtlCol="0" anchor="t"/>
          <a:lstStyle/>
          <a:p>
            <a:pPr indent="0" marL="0">
              <a:buNone/>
            </a:pPr>
            <a:r>
              <a:rPr lang="en-US" sz="1600" dirty="0">
                <a:solidFill>
                  <a:srgbClr val="E8E8F5"/>
                </a:solidFill>
                <a:latin typeface="Arial" pitchFamily="34" charset="0"/>
                <a:ea typeface="Arial" pitchFamily="34" charset="-122"/>
                <a:cs typeface="Arial" pitchFamily="34" charset="-120"/>
              </a:rPr>
              <a:t>A good AI job runs human → AI → human: you draft, the AI gives the notes, you revise. Your feed needed a month of likes to learn you. Your editor needed one page.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Future Skills Series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Teach AI Your Taste — Slides</dc:title>
  <dc:subject>PptxGenJS Presentation</dc:subject>
  <dc:creator>Future Skills Series</dc:creator>
  <cp:lastModifiedBy>Future Skills Series</cp:lastModifiedBy>
  <cp:revision>1</cp:revision>
  <dcterms:created xsi:type="dcterms:W3CDTF">2026-09-23T01:08:32Z</dcterms:created>
  <dcterms:modified xsi:type="dcterms:W3CDTF">2026-09-23T01:08:32Z</dcterms:modified>
</cp:coreProperties>
</file>
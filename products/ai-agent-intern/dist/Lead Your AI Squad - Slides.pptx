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this slide while students settle. Worksheet: Run the Quest, one per student (3 pages; don't staple page 1, because the card-holder's page 1 becomes the team's quest card), plus one sheet of scrap paper per student for squad outputs. Plan teams of 3 (30 students = 10 teams; remainder rule is in the Activity notes). Fully unplugged by design. Deck follows the lesson plan block for block; minute chips top-right match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Tell the class about last night's run and read the three orders with a straight face. The potions one is today's lesson in a single line: nobody said how many, so it guessed and kept going. (If your class did the genie lesson, someone will call it: this party member IS the literal genie — it just joined your squad. New classes need no backstory.) WHAT IF nobody laughs: ask for a fourth order from the room and ruin it the same way — "Heal me" → healed you. Once. Then advance to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Take two or three answers. Bridge: "A chatbot answers a question. An AI agent does a whole job, step by step, on its own — and if your card leaves something out, the agent usually fills the gap with a guess and keeps going. Like the potions. Some agents stop and ask instead. That's why the leader checks. You'll never out-work it. You CAN out-lead it." TRANSITION: "Today you learn the leader's loop: quest card, roles, check the loot — then ship it or run it back. Four parts. Board."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loop on the board as you go: QUEST CARD → ROLES → CHECK THE LOOT → SHIP IT or RUN IT BACK. Gloss the two verdicts out loud the first time: SHIP IT = finished and correct, send it; RUN IT BACK = do it again. Each part gets its own slide next; this one is the map.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your class did the genie lesson: this is P.R.O. grown up — Purpose became Goal + What We Know, Requirements became Rules, Output became Done Looks Like.) How to score any quest card: hand it to the most literal reader in the room. If they can twist it, or have to guess, a part is missing or vague. TRANSITION: "Let's build one together."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 with the cursed order — "Plan the game night." — then build the card on the board part by part, labeling each: GOAL, WHAT WE KNOW, RULES OF THE RUN, DONE LOOKS LIKE (same wording as the lesson plan). Ask: what could a literal party member still twist? Anything they name is a missing rule. WHAT IF a student says the card is "too long": count it — four lines. "Four lines now, or a flyer that says 'games all night'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Say it plainly: "Party leaders don't do the quest twice. When the loot is off, check the card first. If the card was clear, the fix goes to the party member." The leader's first question is always: was it on the card? TRANSITION: "Three roles. Same card, one slice each. Here they are."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KEY — what good output looks like (Game Night card): PLANNER: 1. Pick the games and the TV setup (5 min) 2. Write the flyer title and the when/where line (5 min) 3. ★ Add a 40-word pitch (10 min) 4. Count the words, check every rule (3 min) 5. NOT ON THE CARD: who photocopies it, and how many? (Minutes 4–8 add the time guesses and the star.) SCOUT: Friday ✓ (on the card) · gym ✓ (on the card) · 6–8 pm ✓ (on the card) · both TVs actually work? ? (ask whoever runs the gym) · how many 6th graders there are ? (the front office). Questions (4–8 min): "Do both TVs work, and can we use them Friday night?" (gym) · "How many 6th graders are there this year?" (front office). CRITIC: minutes 0–4, what the people on the card care about: which games, and whether friends are going. What they'd hate: a flyer that looks like homework. Upgrades: (1) Put the TVs and the games in the title — 6th graders come for the games, not the date. (2) Cut the 40 words to 25; nobody reads a wall of text on a wall. (3) Add one line for parents: pick-up is at 8. Coaching: the planner's NOT ON THE CARD flags are gold — they're the next card's fixes. A scout's fact with no "how we know" is a guess wearing a costume. Vague praise from a critic doesn't count. TRANSITION: "Page 1. Teams of 3. ONE card per team; the first name in ABC order writes. Eight minutes."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WRITE THE CARD — WHAT IF a team stalls on GOAL: "What would make you say we won?" TRANSITION at 8 min: "Cards done. Card-holder, you're the Planner: page 1 face-up in the middle. Of the other two, first name in ABC order is the Scout. Sit in a triangle. The Scout sits on the Planner's left; the Critic sits on the Scout's left. For 8 minutes YOU play an AI agent. Silence starts now." SQUAD WORKS — in Sana's squad: DeShawn plans, Lucia scouts, Sana critiques. Papers never move mid-round. PLANT THE CURSED AMULET (minute 2; about a minute of walking; teacher only, never on the board): whisper to each Scout, "Secret job. Make up ONE fact that sounds true, and mark it ✓ like you checked it. Tell nobody." Now the loot has a guess to catch: the Scout's paper goes to the Critic. At the 4-minute call: "Critics, read your Planner's list over their shoulder — 3 upgrades. Planners, keep writing: time every step, star the riskiest. Scouts, turn each ? into a question." Enforce the silence — when a party member asks a question mid-round, answer: "It's not on the card." The frustration is the point. Don't rescue a weak card; the review makes the failure visible and fixable. WHAT IF the class doesn't divide by 3: team of 4 = two critics in a square, same pass-left rule (both read the plan); team of 2 = drop the critic, the leader does the taste check. 30 students = 10 teams. TRANSITION at the swap: "Time. Every paper moves one seat to its owner's left — the Planner's plan goes to the Scout, the Scout's questions go to the Critic, the Critic's list goes to the Planner. Keep your worksheet; you lead again on page 2." LEADER REVIEW — with that seating, Lucia (Scout) reviews DeShawn's (Planner) plan, Sana (Critic) reviews Lucia's facts, DeShawn reviews Sana's upgrades: the Critic never re-reviews the Planner's list. Every leader quotes or points to one line in every row, ticks one box per row, then writes KEEP and FIX. Last 60 seconds: "Hand it back. FIX lines out loud: Scouts, then Critics, then Planners." WHAT IF a leader turns harsh: KEEP comes before FIX, and they read the note aloud to their party member. Next slide stays up during the review.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Leave this up during Leader review. "Read it like your name is on it — because it is." KEY — a filled CHECK row (Lucia reviewing DeShawn's plan): ACCURACY — SHIP IT: "No made-up facts. Step 5 flags a gap instead of guessing." TASTE — RUN IT BACK: "Step 3, 'Add a 40-word pitch': for who? Could be anybody." DONE-NESS — SHIP IT: "Numbered, timed, one star, one NOT ON THE CARD flag." Exemplar note — KEEP: "Steps 1–4 are timed, and step 5 flags a gap instead of guessing." FIX: "Make step 3 'a 40-word pitch for 6th graders.' The card says who it's for." The card's GOAL names 6th graders, so that RUN IT BACK goes to DeShawn, not the card. KEY — THE CURSED AMULET (Sana reviewing Lucia's facts; Lucia's planted line is "prizes for the winners ✓ (on the card)"): a leader who CATCHES it writes ACCURACY — RUN IT BACK: "'Prizes for the winners ✓' — the card never says prizes." FIX: "Cross out prizes or change it to ?. Ask whoever runs Game Night." A leader who MISSES it writes ACCURACY — SHIP IT: "Every fact has a ✓ or a ?." They checked that the marks were there, not that they were true. A miss costs nothing; it's a trap by design. WHAT IF a leader turns harsh: KEEP before FIX, read aloud. Last 60 seconds: Scouts read first, then Critics, then Planners. TRANSITION (the reveal): "Critics, who found a fact that isn't on the card? Scouts, tell them: I asked you to make one up. Agents usually guess at a gap. Leaders catch it. Page 3, solo." Land it in one line: a ✓ is a claim, not proof.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Worksheet p.3, solo, 6 minutes. Collect. KEY — #1 exemplar (study plan): GOAL: pass Friday's fractions quiz with at least a B. WHAT WE KNOW: 7th grade math; I have the review sheet and 30 minutes a night, Monday to Thursday. RULES OF THE RUN: only fractions with different denominators, no calculator, done by Thursday night. DONE LOOKS LIKE: a four-night plan, 5 practice problems a night, answers on a separate line. Test: could a stranger do it tomorrow from the card alone? Scoring: Proficient = all four parts labeled and specific; Developing = parts present but vague ("make it good," "soon"); Beginning = a wish, not a quest card ("help me with math"). #2: any role with a reason tied to the task (scout for a fact-heavy flyer; planner for a schedule) — the reason is what scores. #3: any check with something real to look for ("accuracy — the quiz date"; "done-ness — did it give all four nights?"). WHAT IF a student writes a wish: "Which part would stop a stranger guessing? Add it." Sentence starters for support: Teacher Guide, p.1.</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Close on this — it's the leader rule from the bottom of the worksheet. This is Lesson 6 of 6, the unit finale. It also sells on its own, and every lesson in the unit stands alone. (If your class did the earlier lessons: the quest card is the genie-proof wish grown up, the accuracy check is the Fact Desk, and the taste check is the Taste File. They had the skills; today they found out the skills make them a leader.) With devices: the five-line block in the lesson plan runs one team's card on your projected account and the class checks its output with the same rubric. Hedge if asked about jobs: AI takes over tasks, not whole jobs — nobody can promise the final count.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 / 12</a:t>
            </a:r>
            <a:endParaRPr lang="en-US" sz="900" dirty="0"/>
          </a:p>
        </p:txBody>
      </p:sp>
      <p:pic>
        <p:nvPicPr>
          <p:cNvPr id="5" name="Image 0" descr="/home/user/tptphi/products/ai-agent-intern/dist/Lead Your AI Squad - Cover.png">    </p:cNvPr>
          <p:cNvPicPr>
            <a:picLocks noChangeAspect="1"/>
          </p:cNvPicPr>
          <p:nvPr/>
        </p:nvPicPr>
        <p:blipFill>
          <a:blip r:embed="rId1"/>
          <a:stretch>
            <a:fillRect/>
          </a:stretch>
        </p:blipFill>
        <p:spPr>
          <a:xfrm>
            <a:off x="5532120" y="605790"/>
            <a:ext cx="3108960" cy="4023360"/>
          </a:xfrm>
          <a:prstGeom prst="ellipse">
            <a:avLst/>
          </a:prstGeom>
        </p:spPr>
      </p:pic>
      <p:sp>
        <p:nvSpPr>
          <p:cNvPr id="6" name="Text 2"/>
          <p:cNvSpPr txBox="1"/>
          <p:nvPr/>
        </p:nvSpPr>
        <p:spPr>
          <a:xfrm>
            <a:off x="502920" y="1051560"/>
            <a:ext cx="4617720" cy="274320"/>
          </a:xfrm>
          <a:prstGeom prst="rect">
            <a:avLst/>
          </a:prstGeom>
          <a:noFill/>
          <a:ln/>
        </p:spPr>
        <p:txBody>
          <a:bodyPr wrap="square" lIns="0" tIns="0" rIns="0" bIns="0" rtlCol="0" anchor="t"/>
          <a:lstStyle/>
          <a:p>
            <a:pPr indent="0" marL="0">
              <a:buNone/>
            </a:pPr>
            <a:r>
              <a:rPr lang="en-US" sz="1100" b="1" spc="300" kern="0" dirty="0">
                <a:solidFill>
                  <a:srgbClr val="A9A9C4"/>
                </a:solidFill>
                <a:latin typeface="Arial" pitchFamily="34" charset="0"/>
                <a:ea typeface="Arial" pitchFamily="34" charset="-122"/>
                <a:cs typeface="Arial" pitchFamily="34" charset="-120"/>
              </a:rPr>
              <a:t>THE PARTY LEADER LESSON</a:t>
            </a:r>
            <a:endParaRPr lang="en-US" sz="1100" dirty="0"/>
          </a:p>
        </p:txBody>
      </p:sp>
      <p:sp>
        <p:nvSpPr>
          <p:cNvPr id="7" name="Text 3"/>
          <p:cNvSpPr txBox="1"/>
          <p:nvPr/>
        </p:nvSpPr>
        <p:spPr>
          <a:xfrm>
            <a:off x="502920" y="1371600"/>
            <a:ext cx="4617720" cy="13716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Lead Your AI Squad</a:t>
            </a:r>
            <a:endParaRPr lang="en-US" sz="4000" dirty="0"/>
          </a:p>
        </p:txBody>
      </p:sp>
      <p:sp>
        <p:nvSpPr>
          <p:cNvPr id="8" name="Text 4"/>
          <p:cNvSpPr txBox="1"/>
          <p:nvPr/>
        </p:nvSpPr>
        <p:spPr>
          <a:xfrm>
            <a:off x="502920" y="2834640"/>
            <a:ext cx="4617720" cy="91440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An AI agent does a whole job, step by step, on its own — and if your card leaves something out, the agent usually fills the gap with a guess and keeps going.</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2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100" b="1" dirty="0">
                <a:solidFill>
                  <a:srgbClr val="FFB020"/>
                </a:solidFill>
                <a:latin typeface="Arial" pitchFamily="34" charset="0"/>
                <a:ea typeface="Arial" pitchFamily="34" charset="-122"/>
                <a:cs typeface="Arial" pitchFamily="34" charset="-120"/>
              </a:rPr>
              <a:t>Warm-Up — It Did EXACTLY What You Said</a:t>
            </a:r>
            <a:endParaRPr lang="en-US" sz="2100" dirty="0"/>
          </a:p>
        </p:txBody>
      </p:sp>
      <p:sp>
        <p:nvSpPr>
          <p:cNvPr id="8" name="Text 5"/>
          <p:cNvSpPr txBox="1"/>
          <p:nvPr/>
        </p:nvSpPr>
        <p:spPr>
          <a:xfrm>
            <a:off x="502920" y="1188720"/>
            <a:ext cx="8138160" cy="822960"/>
          </a:xfrm>
          <a:prstGeom prst="rect">
            <a:avLst/>
          </a:prstGeom>
          <a:noFill/>
          <a:ln/>
        </p:spPr>
        <p:txBody>
          <a:bodyPr wrap="square" lIns="0" tIns="0" rIns="0" bIns="0" rtlCol="0" anchor="ctr"/>
          <a:lstStyle/>
          <a:p>
            <a:pPr indent="0" marL="0">
              <a:buNone/>
            </a:pPr>
            <a:r>
              <a:rPr lang="en-US" sz="2400" b="1" dirty="0">
                <a:solidFill>
                  <a:srgbClr val="FFFFFF"/>
                </a:solidFill>
                <a:latin typeface="Arial" pitchFamily="34" charset="0"/>
                <a:ea typeface="Arial" pitchFamily="34" charset="-122"/>
                <a:cs typeface="Arial" pitchFamily="34" charset="-120"/>
              </a:rPr>
              <a:t>My new party member: maxed-out stats, never sleeps, never complains — painfully literal.</a:t>
            </a:r>
            <a:endParaRPr lang="en-US" sz="2400" dirty="0"/>
          </a:p>
        </p:txBody>
      </p:sp>
      <p:sp>
        <p:nvSpPr>
          <p:cNvPr id="9" name="Shape 6"/>
          <p:cNvSpPr/>
          <p:nvPr/>
        </p:nvSpPr>
        <p:spPr>
          <a:xfrm>
            <a:off x="502920" y="2103120"/>
            <a:ext cx="8138160" cy="658368"/>
          </a:xfrm>
          <a:prstGeom prst="roundRect">
            <a:avLst>
              <a:gd name="adj" fmla="val 16667"/>
            </a:avLst>
          </a:prstGeom>
          <a:solidFill>
            <a:srgbClr val="262648"/>
          </a:solidFill>
          <a:ln w="12700">
            <a:solidFill>
              <a:srgbClr val="262648"/>
            </a:solidFill>
            <a:prstDash val="solid"/>
          </a:ln>
        </p:spPr>
      </p:sp>
      <p:sp>
        <p:nvSpPr>
          <p:cNvPr id="10" name="Text 7"/>
          <p:cNvSpPr txBox="1"/>
          <p:nvPr/>
        </p:nvSpPr>
        <p:spPr>
          <a:xfrm>
            <a:off x="731520" y="2103120"/>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"Guard the door."  →  Guarded the door. Only the door. The enemies used the window.</a:t>
            </a:r>
            <a:endParaRPr lang="en-US" sz="1500" dirty="0"/>
          </a:p>
        </p:txBody>
      </p:sp>
      <p:sp>
        <p:nvSpPr>
          <p:cNvPr id="11" name="Shape 8"/>
          <p:cNvSpPr/>
          <p:nvPr/>
        </p:nvSpPr>
        <p:spPr>
          <a:xfrm>
            <a:off x="502920" y="2852928"/>
            <a:ext cx="8138160" cy="658368"/>
          </a:xfrm>
          <a:prstGeom prst="roundRect">
            <a:avLst>
              <a:gd name="adj" fmla="val 16667"/>
            </a:avLst>
          </a:prstGeom>
          <a:solidFill>
            <a:srgbClr val="262648"/>
          </a:solidFill>
          <a:ln w="12700">
            <a:solidFill>
              <a:srgbClr val="262648"/>
            </a:solidFill>
            <a:prstDash val="solid"/>
          </a:ln>
        </p:spPr>
      </p:sp>
      <p:sp>
        <p:nvSpPr>
          <p:cNvPr id="12" name="Text 9"/>
          <p:cNvSpPr txBox="1"/>
          <p:nvPr/>
        </p:nvSpPr>
        <p:spPr>
          <a:xfrm>
            <a:off x="731520" y="2852928"/>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"Grab everything in the chest."  →  Everything. Including the cursed amulet with the obvious skull on it.</a:t>
            </a:r>
            <a:endParaRPr lang="en-US" sz="1500" dirty="0"/>
          </a:p>
        </p:txBody>
      </p:sp>
      <p:sp>
        <p:nvSpPr>
          <p:cNvPr id="13" name="Shape 10"/>
          <p:cNvSpPr/>
          <p:nvPr/>
        </p:nvSpPr>
        <p:spPr>
          <a:xfrm>
            <a:off x="502920" y="3602736"/>
            <a:ext cx="8138160" cy="658368"/>
          </a:xfrm>
          <a:prstGeom prst="roundRect">
            <a:avLst>
              <a:gd name="adj" fmla="val 16667"/>
            </a:avLst>
          </a:prstGeom>
          <a:solidFill>
            <a:srgbClr val="262648"/>
          </a:solidFill>
          <a:ln w="12700">
            <a:solidFill>
              <a:srgbClr val="262648"/>
            </a:solidFill>
            <a:prstDash val="solid"/>
          </a:ln>
        </p:spPr>
      </p:sp>
      <p:sp>
        <p:nvSpPr>
          <p:cNvPr id="14" name="Text 11"/>
          <p:cNvSpPr txBox="1"/>
          <p:nvPr/>
        </p:nvSpPr>
        <p:spPr>
          <a:xfrm>
            <a:off x="731520" y="3602736"/>
            <a:ext cx="7680960" cy="658368"/>
          </a:xfrm>
          <a:prstGeom prst="rect">
            <a:avLst/>
          </a:prstGeom>
          <a:noFill/>
          <a:ln/>
        </p:spPr>
        <p:txBody>
          <a:bodyPr wrap="square" lIns="0" tIns="0" rIns="0" bIns="0" rtlCol="0" anchor="ctr"/>
          <a:lstStyle/>
          <a:p>
            <a:pPr indent="0" marL="0">
              <a:buNone/>
            </a:pPr>
            <a:r>
              <a:rPr lang="en-US" sz="1500" dirty="0">
                <a:solidFill>
                  <a:srgbClr val="E8E8F5"/>
                </a:solidFill>
                <a:latin typeface="Arial" pitchFamily="34" charset="0"/>
                <a:ea typeface="Arial" pitchFamily="34" charset="-122"/>
                <a:cs typeface="Arial" pitchFamily="34" charset="-120"/>
              </a:rPr>
              <a:t>"Buy potions."  →  How many? It guessed ALL. Spent 900 gold, then sold your sword.</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3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Whose fault was that?</a:t>
            </a:r>
            <a:endParaRPr lang="en-US" sz="2600" dirty="0"/>
          </a:p>
        </p:txBody>
      </p:sp>
      <p:sp>
        <p:nvSpPr>
          <p:cNvPr id="6" name="Text 3"/>
          <p:cNvSpPr txBox="1"/>
          <p:nvPr/>
        </p:nvSpPr>
        <p:spPr>
          <a:xfrm>
            <a:off x="502920" y="1097280"/>
            <a:ext cx="1097280" cy="1737360"/>
          </a:xfrm>
          <a:prstGeom prst="rect">
            <a:avLst/>
          </a:prstGeom>
          <a:noFill/>
          <a:ln/>
        </p:spPr>
        <p:txBody>
          <a:bodyPr wrap="square" lIns="0" tIns="0" rIns="0" bIns="0" rtlCol="0" anchor="t"/>
          <a:lstStyle/>
          <a:p>
            <a:pPr indent="0" marL="0">
              <a:buNone/>
            </a:pPr>
            <a:r>
              <a:rPr lang="en-US" sz="9600" b="1" dirty="0">
                <a:solidFill>
                  <a:srgbClr val="FFB020"/>
                </a:solidFill>
                <a:latin typeface="Arial" pitchFamily="34" charset="0"/>
                <a:ea typeface="Arial" pitchFamily="34" charset="-122"/>
                <a:cs typeface="Arial" pitchFamily="34" charset="-120"/>
              </a:rPr>
              <a:t>?</a:t>
            </a:r>
            <a:endParaRPr lang="en-US" sz="9600" dirty="0"/>
          </a:p>
        </p:txBody>
      </p:sp>
      <p:sp>
        <p:nvSpPr>
          <p:cNvPr id="7" name="Text 4"/>
          <p:cNvSpPr txBox="1"/>
          <p:nvPr/>
        </p:nvSpPr>
        <p:spPr>
          <a:xfrm>
            <a:off x="1737360" y="1188720"/>
            <a:ext cx="6903720" cy="3406140"/>
          </a:xfrm>
          <a:prstGeom prst="rect">
            <a:avLst/>
          </a:prstGeom>
          <a:noFill/>
          <a:ln/>
        </p:spPr>
        <p:txBody>
          <a:bodyPr wrap="square" lIns="0" tIns="0" rIns="0" bIns="0" rtlCol="0" anchor="ctr"/>
          <a:lstStyle/>
          <a:p>
            <a:pPr indent="0" marL="0">
              <a:buNone/>
            </a:pPr>
            <a:r>
              <a:rPr lang="en-US" sz="3000" b="1" dirty="0">
                <a:solidFill>
                  <a:srgbClr val="FFFFFF"/>
                </a:solidFill>
                <a:latin typeface="Arial" pitchFamily="34" charset="0"/>
                <a:ea typeface="Arial" pitchFamily="34" charset="-122"/>
                <a:cs typeface="Arial" pitchFamily="34" charset="-120"/>
              </a:rPr>
              <a:t>The party member's — or the orders?</a:t>
            </a:r>
            <a:endParaRPr lang="en-US" sz="3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4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9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The Party Leader's Loop</a:t>
            </a:r>
            <a:endParaRPr lang="en-US" sz="2600" dirty="0"/>
          </a:p>
        </p:txBody>
      </p:sp>
      <p:sp>
        <p:nvSpPr>
          <p:cNvPr id="8" name="Shape 5"/>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9" name="Shape 6"/>
          <p:cNvSpPr/>
          <p:nvPr/>
        </p:nvSpPr>
        <p:spPr>
          <a:xfrm>
            <a:off x="731520" y="1417320"/>
            <a:ext cx="502920" cy="502920"/>
          </a:xfrm>
          <a:prstGeom prst="ellipse">
            <a:avLst/>
          </a:prstGeom>
          <a:solidFill>
            <a:srgbClr val="FFB020"/>
          </a:solidFill>
          <a:ln w="12700">
            <a:solidFill>
              <a:srgbClr val="FFB020"/>
            </a:solidFill>
            <a:prstDash val="solid"/>
          </a:ln>
        </p:spPr>
      </p:sp>
      <p:sp>
        <p:nvSpPr>
          <p:cNvPr id="10" name="Text 7"/>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1" name="Text 8"/>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Quest Card</a:t>
            </a:r>
            <a:endParaRPr lang="en-US" sz="1400" dirty="0"/>
          </a:p>
        </p:txBody>
      </p:sp>
      <p:sp>
        <p:nvSpPr>
          <p:cNvPr id="12" name="Text 9"/>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Four parts, in writing. Skip one and the party guesses. You won't know if it's right.</a:t>
            </a:r>
            <a:endParaRPr lang="en-US" sz="1400" dirty="0"/>
          </a:p>
        </p:txBody>
      </p:sp>
      <p:sp>
        <p:nvSpPr>
          <p:cNvPr id="13" name="Shape 10"/>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4" name="Shape 11"/>
          <p:cNvSpPr/>
          <p:nvPr/>
        </p:nvSpPr>
        <p:spPr>
          <a:xfrm>
            <a:off x="2823210" y="1417320"/>
            <a:ext cx="502920" cy="502920"/>
          </a:xfrm>
          <a:prstGeom prst="ellipse">
            <a:avLst/>
          </a:prstGeom>
          <a:solidFill>
            <a:srgbClr val="FFB020"/>
          </a:solidFill>
          <a:ln w="12700">
            <a:solidFill>
              <a:srgbClr val="FFB020"/>
            </a:solidFill>
            <a:prstDash val="solid"/>
          </a:ln>
        </p:spPr>
      </p:sp>
      <p:sp>
        <p:nvSpPr>
          <p:cNvPr id="15" name="Text 12"/>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6" name="Text 13"/>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Roles</a:t>
            </a:r>
            <a:endParaRPr lang="en-US" sz="1400" dirty="0"/>
          </a:p>
        </p:txBody>
      </p:sp>
      <p:sp>
        <p:nvSpPr>
          <p:cNvPr id="17" name="Text 14"/>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Nobody solos the raid. Split it: a planner, a scout, a critic — same card, one slice each.</a:t>
            </a:r>
            <a:endParaRPr lang="en-US" sz="1400" dirty="0"/>
          </a:p>
        </p:txBody>
      </p:sp>
      <p:sp>
        <p:nvSpPr>
          <p:cNvPr id="18" name="Shape 15"/>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9" name="Shape 16"/>
          <p:cNvSpPr/>
          <p:nvPr/>
        </p:nvSpPr>
        <p:spPr>
          <a:xfrm>
            <a:off x="4914900" y="1417320"/>
            <a:ext cx="502920" cy="502920"/>
          </a:xfrm>
          <a:prstGeom prst="ellipse">
            <a:avLst/>
          </a:prstGeom>
          <a:solidFill>
            <a:srgbClr val="FFB020"/>
          </a:solidFill>
          <a:ln w="12700">
            <a:solidFill>
              <a:srgbClr val="FFB020"/>
            </a:solidFill>
            <a:prstDash val="solid"/>
          </a:ln>
        </p:spPr>
      </p:sp>
      <p:sp>
        <p:nvSpPr>
          <p:cNvPr id="20" name="Text 17"/>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21" name="Text 18"/>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Check the Loot</a:t>
            </a:r>
            <a:endParaRPr lang="en-US" sz="1400" dirty="0"/>
          </a:p>
        </p:txBody>
      </p:sp>
      <p:sp>
        <p:nvSpPr>
          <p:cNvPr id="22" name="Text 19"/>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leader checks every output: accuracy, taste, done-ness. Nothing ships unchecked.</a:t>
            </a:r>
            <a:endParaRPr lang="en-US" sz="1400" dirty="0"/>
          </a:p>
        </p:txBody>
      </p:sp>
      <p:sp>
        <p:nvSpPr>
          <p:cNvPr id="23" name="Shape 20"/>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4" name="Shape 21"/>
          <p:cNvSpPr/>
          <p:nvPr/>
        </p:nvSpPr>
        <p:spPr>
          <a:xfrm>
            <a:off x="7006590" y="1417320"/>
            <a:ext cx="502920" cy="502920"/>
          </a:xfrm>
          <a:prstGeom prst="ellipse">
            <a:avLst/>
          </a:prstGeom>
          <a:solidFill>
            <a:srgbClr val="FFB020"/>
          </a:solidFill>
          <a:ln w="12700">
            <a:solidFill>
              <a:srgbClr val="FFB020"/>
            </a:solidFill>
            <a:prstDash val="solid"/>
          </a:ln>
        </p:spPr>
      </p:sp>
      <p:sp>
        <p:nvSpPr>
          <p:cNvPr id="25" name="Text 22"/>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4</a:t>
            </a:r>
            <a:endParaRPr lang="en-US" sz="1600" dirty="0"/>
          </a:p>
        </p:txBody>
      </p:sp>
      <p:sp>
        <p:nvSpPr>
          <p:cNvPr id="26" name="Text 23"/>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The Verdict</a:t>
            </a:r>
            <a:endParaRPr lang="en-US" sz="1400" dirty="0"/>
          </a:p>
        </p:txBody>
      </p:sp>
      <p:sp>
        <p:nvSpPr>
          <p:cNvPr id="27" name="Text 24"/>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SHIP IT (send it) or RUN IT BACK (do it again). Every paper gets a keep-and-fix note.</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5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300" b="1" dirty="0">
                <a:solidFill>
                  <a:srgbClr val="FFB020"/>
                </a:solidFill>
                <a:latin typeface="Arial" pitchFamily="34" charset="0"/>
                <a:ea typeface="Arial" pitchFamily="34" charset="-122"/>
                <a:cs typeface="Arial" pitchFamily="34" charset="-120"/>
              </a:rPr>
              <a:t>The Quest Card — Four Parts, In Writing</a:t>
            </a:r>
            <a:endParaRPr lang="en-US" sz="2300" dirty="0"/>
          </a:p>
        </p:txBody>
      </p:sp>
      <p:sp>
        <p:nvSpPr>
          <p:cNvPr id="6" name="Shape 3"/>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G</a:t>
            </a:r>
            <a:endParaRPr lang="en-US" sz="1600" dirty="0"/>
          </a:p>
        </p:txBody>
      </p:sp>
      <p:sp>
        <p:nvSpPr>
          <p:cNvPr id="9" name="Text 6"/>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Goal</a:t>
            </a:r>
            <a:endParaRPr lang="en-US" sz="1400" dirty="0"/>
          </a:p>
        </p:txBody>
      </p:sp>
      <p:sp>
        <p:nvSpPr>
          <p:cNvPr id="10" name="Text 7"/>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What winning means. Not "make a flyer" — "get 6th graders to actually show up."</a:t>
            </a:r>
            <a:endParaRPr lang="en-US" sz="1400" dirty="0"/>
          </a:p>
        </p:txBody>
      </p:sp>
      <p:sp>
        <p:nvSpPr>
          <p:cNvPr id="11" name="Shape 8"/>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2" name="Shape 9"/>
          <p:cNvSpPr/>
          <p:nvPr/>
        </p:nvSpPr>
        <p:spPr>
          <a:xfrm>
            <a:off x="282321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K</a:t>
            </a:r>
            <a:endParaRPr lang="en-US" sz="1600" dirty="0"/>
          </a:p>
        </p:txBody>
      </p:sp>
      <p:sp>
        <p:nvSpPr>
          <p:cNvPr id="14" name="Text 11"/>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What We Know</a:t>
            </a:r>
            <a:endParaRPr lang="en-US" sz="1400" dirty="0"/>
          </a:p>
        </p:txBody>
      </p:sp>
      <p:sp>
        <p:nvSpPr>
          <p:cNvPr id="15" name="Text 12"/>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Who it's for, and what the team already has (time, place, stuff on hand).</a:t>
            </a:r>
            <a:endParaRPr lang="en-US" sz="1400" dirty="0"/>
          </a:p>
        </p:txBody>
      </p:sp>
      <p:sp>
        <p:nvSpPr>
          <p:cNvPr id="16" name="Shape 13"/>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7" name="Shape 14"/>
          <p:cNvSpPr/>
          <p:nvPr/>
        </p:nvSpPr>
        <p:spPr>
          <a:xfrm>
            <a:off x="491490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9" name="Text 16"/>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Rules of the Run</a:t>
            </a:r>
            <a:endParaRPr lang="en-US" sz="1400" dirty="0"/>
          </a:p>
        </p:txBody>
      </p:sp>
      <p:sp>
        <p:nvSpPr>
          <p:cNvPr id="20" name="Text 17"/>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limits: length, tone, deadline. What it must do — and must NOT do.</a:t>
            </a:r>
            <a:endParaRPr lang="en-US" sz="1400" dirty="0"/>
          </a:p>
        </p:txBody>
      </p:sp>
      <p:sp>
        <p:nvSpPr>
          <p:cNvPr id="21" name="Shape 18"/>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2" name="Shape 19"/>
          <p:cNvSpPr/>
          <p:nvPr/>
        </p:nvSpPr>
        <p:spPr>
          <a:xfrm>
            <a:off x="7006590" y="1417320"/>
            <a:ext cx="502920" cy="502920"/>
          </a:xfrm>
          <a:prstGeom prst="ellipse">
            <a:avLst/>
          </a:prstGeom>
          <a:solidFill>
            <a:srgbClr val="FFB020"/>
          </a:solidFill>
          <a:ln w="12700">
            <a:solidFill>
              <a:srgbClr val="FFB020"/>
            </a:solidFill>
            <a:prstDash val="solid"/>
          </a:ln>
        </p:spPr>
      </p:sp>
      <p:sp>
        <p:nvSpPr>
          <p:cNvPr id="23" name="Text 20"/>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D</a:t>
            </a:r>
            <a:endParaRPr lang="en-US" sz="1600" dirty="0"/>
          </a:p>
        </p:txBody>
      </p:sp>
      <p:sp>
        <p:nvSpPr>
          <p:cNvPr id="24" name="Text 21"/>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Done Looks Like</a:t>
            </a:r>
            <a:endParaRPr lang="en-US" sz="1400" dirty="0"/>
          </a:p>
        </p:txBody>
      </p:sp>
      <p:sp>
        <p:nvSpPr>
          <p:cNvPr id="25" name="Text 22"/>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The exact thing handed back. A flyer draft? A numbered plan? A fact list?</a:t>
            </a:r>
            <a:endParaRPr lang="en-US" sz="14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6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1800" b="1" dirty="0">
                <a:solidFill>
                  <a:srgbClr val="FFB020"/>
                </a:solidFill>
                <a:latin typeface="Arial" pitchFamily="34" charset="0"/>
                <a:ea typeface="Arial" pitchFamily="34" charset="-122"/>
                <a:cs typeface="Arial" pitchFamily="34" charset="-120"/>
              </a:rPr>
              <a:t>Watch one get fixed — "Plan the game night." becomes a quest card</a:t>
            </a:r>
            <a:endParaRPr lang="en-US" sz="1800" dirty="0"/>
          </a:p>
        </p:txBody>
      </p:sp>
      <p:sp>
        <p:nvSpPr>
          <p:cNvPr id="6" name="Shape 3"/>
          <p:cNvSpPr/>
          <p:nvPr/>
        </p:nvSpPr>
        <p:spPr>
          <a:xfrm>
            <a:off x="502920" y="1188720"/>
            <a:ext cx="1863090" cy="3406140"/>
          </a:xfrm>
          <a:prstGeom prst="roundRect">
            <a:avLst>
              <a:gd name="adj" fmla="val 6871"/>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G</a:t>
            </a:r>
            <a:endParaRPr lang="en-US" sz="1600" dirty="0"/>
          </a:p>
        </p:txBody>
      </p:sp>
      <p:sp>
        <p:nvSpPr>
          <p:cNvPr id="9" name="Text 6"/>
          <p:cNvSpPr txBox="1"/>
          <p:nvPr/>
        </p:nvSpPr>
        <p:spPr>
          <a:xfrm>
            <a:off x="73152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Goal</a:t>
            </a:r>
            <a:endParaRPr lang="en-US" sz="1400" dirty="0"/>
          </a:p>
        </p:txBody>
      </p:sp>
      <p:sp>
        <p:nvSpPr>
          <p:cNvPr id="10" name="Text 7"/>
          <p:cNvSpPr txBox="1"/>
          <p:nvPr/>
        </p:nvSpPr>
        <p:spPr>
          <a:xfrm>
            <a:off x="73152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get 6th graders to actually show up to Game Night.</a:t>
            </a:r>
            <a:endParaRPr lang="en-US" sz="1400" dirty="0"/>
          </a:p>
        </p:txBody>
      </p:sp>
      <p:sp>
        <p:nvSpPr>
          <p:cNvPr id="11" name="Shape 8"/>
          <p:cNvSpPr/>
          <p:nvPr/>
        </p:nvSpPr>
        <p:spPr>
          <a:xfrm>
            <a:off x="2594610" y="1188720"/>
            <a:ext cx="1863090" cy="3406140"/>
          </a:xfrm>
          <a:prstGeom prst="roundRect">
            <a:avLst>
              <a:gd name="adj" fmla="val 6871"/>
            </a:avLst>
          </a:prstGeom>
          <a:solidFill>
            <a:srgbClr val="262648"/>
          </a:solidFill>
          <a:ln w="12700">
            <a:solidFill>
              <a:srgbClr val="262648"/>
            </a:solidFill>
            <a:prstDash val="solid"/>
          </a:ln>
        </p:spPr>
      </p:sp>
      <p:sp>
        <p:nvSpPr>
          <p:cNvPr id="12" name="Shape 9"/>
          <p:cNvSpPr/>
          <p:nvPr/>
        </p:nvSpPr>
        <p:spPr>
          <a:xfrm>
            <a:off x="282321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282321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K</a:t>
            </a:r>
            <a:endParaRPr lang="en-US" sz="1600" dirty="0"/>
          </a:p>
        </p:txBody>
      </p:sp>
      <p:sp>
        <p:nvSpPr>
          <p:cNvPr id="14" name="Text 11"/>
          <p:cNvSpPr txBox="1"/>
          <p:nvPr/>
        </p:nvSpPr>
        <p:spPr>
          <a:xfrm>
            <a:off x="282321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What We Know</a:t>
            </a:r>
            <a:endParaRPr lang="en-US" sz="1400" dirty="0"/>
          </a:p>
        </p:txBody>
      </p:sp>
      <p:sp>
        <p:nvSpPr>
          <p:cNvPr id="15" name="Text 12"/>
          <p:cNvSpPr txBox="1"/>
          <p:nvPr/>
        </p:nvSpPr>
        <p:spPr>
          <a:xfrm>
            <a:off x="282321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Friday, gym, 6–8 pm; we have board games and two TVs.</a:t>
            </a:r>
            <a:endParaRPr lang="en-US" sz="1400" dirty="0"/>
          </a:p>
        </p:txBody>
      </p:sp>
      <p:sp>
        <p:nvSpPr>
          <p:cNvPr id="16" name="Shape 13"/>
          <p:cNvSpPr/>
          <p:nvPr/>
        </p:nvSpPr>
        <p:spPr>
          <a:xfrm>
            <a:off x="4686300" y="1188720"/>
            <a:ext cx="1863090" cy="3406140"/>
          </a:xfrm>
          <a:prstGeom prst="roundRect">
            <a:avLst>
              <a:gd name="adj" fmla="val 6871"/>
            </a:avLst>
          </a:prstGeom>
          <a:solidFill>
            <a:srgbClr val="262648"/>
          </a:solidFill>
          <a:ln w="12700">
            <a:solidFill>
              <a:srgbClr val="262648"/>
            </a:solidFill>
            <a:prstDash val="solid"/>
          </a:ln>
        </p:spPr>
      </p:sp>
      <p:sp>
        <p:nvSpPr>
          <p:cNvPr id="17" name="Shape 14"/>
          <p:cNvSpPr/>
          <p:nvPr/>
        </p:nvSpPr>
        <p:spPr>
          <a:xfrm>
            <a:off x="491490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491490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R</a:t>
            </a:r>
            <a:endParaRPr lang="en-US" sz="1600" dirty="0"/>
          </a:p>
        </p:txBody>
      </p:sp>
      <p:sp>
        <p:nvSpPr>
          <p:cNvPr id="19" name="Text 16"/>
          <p:cNvSpPr txBox="1"/>
          <p:nvPr/>
        </p:nvSpPr>
        <p:spPr>
          <a:xfrm>
            <a:off x="491490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Rules of the Run</a:t>
            </a:r>
            <a:endParaRPr lang="en-US" sz="1400" dirty="0"/>
          </a:p>
        </p:txBody>
      </p:sp>
      <p:sp>
        <p:nvSpPr>
          <p:cNvPr id="20" name="Text 17"/>
          <p:cNvSpPr txBox="1"/>
          <p:nvPr/>
        </p:nvSpPr>
        <p:spPr>
          <a:xfrm>
            <a:off x="491490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school-appropriate, big readable title, 40 words max.</a:t>
            </a:r>
            <a:endParaRPr lang="en-US" sz="1400" dirty="0"/>
          </a:p>
        </p:txBody>
      </p:sp>
      <p:sp>
        <p:nvSpPr>
          <p:cNvPr id="21" name="Shape 18"/>
          <p:cNvSpPr/>
          <p:nvPr/>
        </p:nvSpPr>
        <p:spPr>
          <a:xfrm>
            <a:off x="6777990" y="1188720"/>
            <a:ext cx="1863090" cy="3406140"/>
          </a:xfrm>
          <a:prstGeom prst="roundRect">
            <a:avLst>
              <a:gd name="adj" fmla="val 6871"/>
            </a:avLst>
          </a:prstGeom>
          <a:solidFill>
            <a:srgbClr val="262648"/>
          </a:solidFill>
          <a:ln w="12700">
            <a:solidFill>
              <a:srgbClr val="262648"/>
            </a:solidFill>
            <a:prstDash val="solid"/>
          </a:ln>
        </p:spPr>
      </p:sp>
      <p:sp>
        <p:nvSpPr>
          <p:cNvPr id="22" name="Shape 19"/>
          <p:cNvSpPr/>
          <p:nvPr/>
        </p:nvSpPr>
        <p:spPr>
          <a:xfrm>
            <a:off x="7006590" y="1417320"/>
            <a:ext cx="502920" cy="502920"/>
          </a:xfrm>
          <a:prstGeom prst="ellipse">
            <a:avLst/>
          </a:prstGeom>
          <a:solidFill>
            <a:srgbClr val="FFB020"/>
          </a:solidFill>
          <a:ln w="12700">
            <a:solidFill>
              <a:srgbClr val="FFB020"/>
            </a:solidFill>
            <a:prstDash val="solid"/>
          </a:ln>
        </p:spPr>
      </p:sp>
      <p:sp>
        <p:nvSpPr>
          <p:cNvPr id="23" name="Text 20"/>
          <p:cNvSpPr txBox="1"/>
          <p:nvPr/>
        </p:nvSpPr>
        <p:spPr>
          <a:xfrm>
            <a:off x="700659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D</a:t>
            </a:r>
            <a:endParaRPr lang="en-US" sz="1600" dirty="0"/>
          </a:p>
        </p:txBody>
      </p:sp>
      <p:sp>
        <p:nvSpPr>
          <p:cNvPr id="24" name="Text 21"/>
          <p:cNvSpPr txBox="1"/>
          <p:nvPr/>
        </p:nvSpPr>
        <p:spPr>
          <a:xfrm>
            <a:off x="7006590" y="2057400"/>
            <a:ext cx="1405890" cy="457200"/>
          </a:xfrm>
          <a:prstGeom prst="rect">
            <a:avLst/>
          </a:prstGeom>
          <a:noFill/>
          <a:ln/>
        </p:spPr>
        <p:txBody>
          <a:bodyPr wrap="square" lIns="0" tIns="0" rIns="0" bIns="0" rtlCol="0" anchor="ctr"/>
          <a:lstStyle/>
          <a:p>
            <a:pPr indent="0" marL="0">
              <a:buNone/>
            </a:pPr>
            <a:r>
              <a:rPr lang="en-US" sz="1400" b="1" dirty="0">
                <a:solidFill>
                  <a:srgbClr val="FFB020"/>
                </a:solidFill>
                <a:latin typeface="Arial" pitchFamily="34" charset="0"/>
                <a:ea typeface="Arial" pitchFamily="34" charset="-122"/>
                <a:cs typeface="Arial" pitchFamily="34" charset="-120"/>
              </a:rPr>
              <a:t>Done Looks Like</a:t>
            </a:r>
            <a:endParaRPr lang="en-US" sz="1400" dirty="0"/>
          </a:p>
        </p:txBody>
      </p:sp>
      <p:sp>
        <p:nvSpPr>
          <p:cNvPr id="25" name="Text 22"/>
          <p:cNvSpPr txBox="1"/>
          <p:nvPr/>
        </p:nvSpPr>
        <p:spPr>
          <a:xfrm>
            <a:off x="7006590" y="2560320"/>
            <a:ext cx="140589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one flyer draft, ready to photocopy.</a:t>
            </a:r>
            <a:endParaRPr lang="en-US" sz="14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7 / 12</a:t>
            </a:r>
            <a:endParaRPr lang="en-US" sz="900" dirty="0"/>
          </a:p>
        </p:txBody>
      </p:sp>
      <p:sp>
        <p:nvSpPr>
          <p:cNvPr id="5" name="Text 2"/>
          <p:cNvSpPr txBox="1"/>
          <p:nvPr/>
        </p:nvSpPr>
        <p:spPr>
          <a:xfrm>
            <a:off x="502920" y="457200"/>
            <a:ext cx="1005840" cy="2011680"/>
          </a:xfrm>
          <a:prstGeom prst="rect">
            <a:avLst/>
          </a:prstGeom>
          <a:noFill/>
          <a:ln/>
        </p:spPr>
        <p:txBody>
          <a:bodyPr wrap="square" lIns="0" tIns="0" rIns="0" bIns="0" rtlCol="0" anchor="t"/>
          <a:lstStyle/>
          <a:p>
            <a:pPr indent="0" marL="0">
              <a:buNone/>
            </a:pPr>
            <a:r>
              <a:rPr lang="en-US" sz="11000" b="1" dirty="0">
                <a:solidFill>
                  <a:srgbClr val="FFB020"/>
                </a:solidFill>
                <a:latin typeface="Arial" pitchFamily="34" charset="0"/>
                <a:ea typeface="Arial" pitchFamily="34" charset="-122"/>
                <a:cs typeface="Arial" pitchFamily="34" charset="-120"/>
              </a:rPr>
              <a:t>“</a:t>
            </a:r>
            <a:endParaRPr lang="en-US" sz="11000" dirty="0"/>
          </a:p>
        </p:txBody>
      </p:sp>
      <p:sp>
        <p:nvSpPr>
          <p:cNvPr id="6" name="Text 3"/>
          <p:cNvSpPr txBox="1"/>
          <p:nvPr/>
        </p:nvSpPr>
        <p:spPr>
          <a:xfrm>
            <a:off x="1554480" y="685800"/>
            <a:ext cx="7086600" cy="2267255"/>
          </a:xfrm>
          <a:prstGeom prst="rect">
            <a:avLst/>
          </a:prstGeom>
          <a:noFill/>
          <a:ln/>
        </p:spPr>
        <p:txBody>
          <a:bodyPr wrap="square" lIns="0" tIns="0" rIns="0" bIns="0" rtlCol="0" anchor="ctr"/>
          <a:lstStyle/>
          <a:p>
            <a:pPr indent="0" marL="0">
              <a:buNone/>
            </a:pPr>
            <a:r>
              <a:rPr lang="en-US" sz="2800" i="1" dirty="0">
                <a:solidFill>
                  <a:srgbClr val="FFFFFF"/>
                </a:solidFill>
                <a:latin typeface="Arial" pitchFamily="34" charset="0"/>
                <a:ea typeface="Arial" pitchFamily="34" charset="-122"/>
                <a:cs typeface="Arial" pitchFamily="34" charset="-120"/>
              </a:rPr>
              <a:t>Party leaders don't do the quest twice.</a:t>
            </a:r>
            <a:endParaRPr lang="en-US" sz="2800" dirty="0"/>
          </a:p>
        </p:txBody>
      </p:sp>
      <p:sp>
        <p:nvSpPr>
          <p:cNvPr id="7" name="Text 4"/>
          <p:cNvSpPr txBox="1"/>
          <p:nvPr/>
        </p:nvSpPr>
        <p:spPr>
          <a:xfrm>
            <a:off x="1554480" y="3090215"/>
            <a:ext cx="7086600" cy="1504645"/>
          </a:xfrm>
          <a:prstGeom prst="rect">
            <a:avLst/>
          </a:prstGeom>
          <a:noFill/>
          <a:ln/>
        </p:spPr>
        <p:txBody>
          <a:bodyPr wrap="square" lIns="0" tIns="0" rIns="0" bIns="0" rtlCol="0" anchor="t"/>
          <a:lstStyle/>
          <a:p>
            <a:pPr indent="0" marL="0">
              <a:buNone/>
            </a:pPr>
            <a:r>
              <a:rPr lang="en-US" sz="1500" dirty="0">
                <a:solidFill>
                  <a:srgbClr val="A9A9C4"/>
                </a:solidFill>
                <a:latin typeface="Arial" pitchFamily="34" charset="0"/>
                <a:ea typeface="Arial" pitchFamily="34" charset="-122"/>
                <a:cs typeface="Arial" pitchFamily="34" charset="-120"/>
              </a:rPr>
              <a:t>When the loot is off, check the card first. If the card was clear, the fix goes to the party member.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8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300" b="1" dirty="0">
                <a:solidFill>
                  <a:srgbClr val="FFB020"/>
                </a:solidFill>
                <a:latin typeface="Arial" pitchFamily="34" charset="0"/>
                <a:ea typeface="Arial" pitchFamily="34" charset="-122"/>
                <a:cs typeface="Arial" pitchFamily="34" charset="-120"/>
              </a:rPr>
              <a:t>Party Roles — Same Card, One Slice Each</a:t>
            </a:r>
            <a:endParaRPr lang="en-US" sz="2300" dirty="0"/>
          </a:p>
        </p:txBody>
      </p:sp>
      <p:sp>
        <p:nvSpPr>
          <p:cNvPr id="6" name="Shape 3"/>
          <p:cNvSpPr/>
          <p:nvPr/>
        </p:nvSpPr>
        <p:spPr>
          <a:xfrm>
            <a:off x="502920" y="1188720"/>
            <a:ext cx="2560320" cy="3406140"/>
          </a:xfrm>
          <a:prstGeom prst="roundRect">
            <a:avLst>
              <a:gd name="adj" fmla="val 5000"/>
            </a:avLst>
          </a:prstGeom>
          <a:solidFill>
            <a:srgbClr val="262648"/>
          </a:solidFill>
          <a:ln w="12700">
            <a:solidFill>
              <a:srgbClr val="262648"/>
            </a:solidFill>
            <a:prstDash val="solid"/>
          </a:ln>
        </p:spPr>
      </p:sp>
      <p:sp>
        <p:nvSpPr>
          <p:cNvPr id="7" name="Shape 4"/>
          <p:cNvSpPr/>
          <p:nvPr/>
        </p:nvSpPr>
        <p:spPr>
          <a:xfrm>
            <a:off x="731520" y="1417320"/>
            <a:ext cx="502920" cy="502920"/>
          </a:xfrm>
          <a:prstGeom prst="ellipse">
            <a:avLst/>
          </a:prstGeom>
          <a:solidFill>
            <a:srgbClr val="FFB020"/>
          </a:solidFill>
          <a:ln w="12700">
            <a:solidFill>
              <a:srgbClr val="FFB020"/>
            </a:solidFill>
            <a:prstDash val="solid"/>
          </a:ln>
        </p:spPr>
      </p:sp>
      <p:sp>
        <p:nvSpPr>
          <p:cNvPr id="8" name="Text 5"/>
          <p:cNvSpPr txBox="1"/>
          <p:nvPr/>
        </p:nvSpPr>
        <p:spPr>
          <a:xfrm>
            <a:off x="73152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P</a:t>
            </a:r>
            <a:endParaRPr lang="en-US" sz="1600" dirty="0"/>
          </a:p>
        </p:txBody>
      </p:sp>
      <p:sp>
        <p:nvSpPr>
          <p:cNvPr id="9" name="Text 6"/>
          <p:cNvSpPr txBox="1"/>
          <p:nvPr/>
        </p:nvSpPr>
        <p:spPr>
          <a:xfrm>
            <a:off x="73152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Planner</a:t>
            </a:r>
            <a:endParaRPr lang="en-US" sz="1700" dirty="0"/>
          </a:p>
        </p:txBody>
      </p:sp>
      <p:sp>
        <p:nvSpPr>
          <p:cNvPr id="10" name="Text 7"/>
          <p:cNvSpPr txBox="1"/>
          <p:nvPr/>
        </p:nvSpPr>
        <p:spPr>
          <a:xfrm>
            <a:off x="73152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a numbered step list. Card silent? Write "NOT ON THE CARD." 4–8 min: a time guess per step; star the riskiest.</a:t>
            </a:r>
            <a:endParaRPr lang="en-US" sz="1400" dirty="0"/>
          </a:p>
        </p:txBody>
      </p:sp>
      <p:sp>
        <p:nvSpPr>
          <p:cNvPr id="11" name="Shape 8"/>
          <p:cNvSpPr/>
          <p:nvPr/>
        </p:nvSpPr>
        <p:spPr>
          <a:xfrm>
            <a:off x="3291840" y="1188720"/>
            <a:ext cx="2560320" cy="3406140"/>
          </a:xfrm>
          <a:prstGeom prst="roundRect">
            <a:avLst>
              <a:gd name="adj" fmla="val 5000"/>
            </a:avLst>
          </a:prstGeom>
          <a:solidFill>
            <a:srgbClr val="262648"/>
          </a:solidFill>
          <a:ln w="12700">
            <a:solidFill>
              <a:srgbClr val="262648"/>
            </a:solidFill>
            <a:prstDash val="solid"/>
          </a:ln>
        </p:spPr>
      </p:sp>
      <p:sp>
        <p:nvSpPr>
          <p:cNvPr id="12" name="Shape 9"/>
          <p:cNvSpPr/>
          <p:nvPr/>
        </p:nvSpPr>
        <p:spPr>
          <a:xfrm>
            <a:off x="3520440" y="1417320"/>
            <a:ext cx="502920" cy="502920"/>
          </a:xfrm>
          <a:prstGeom prst="ellipse">
            <a:avLst/>
          </a:prstGeom>
          <a:solidFill>
            <a:srgbClr val="FFB020"/>
          </a:solidFill>
          <a:ln w="12700">
            <a:solidFill>
              <a:srgbClr val="FFB020"/>
            </a:solidFill>
            <a:prstDash val="solid"/>
          </a:ln>
        </p:spPr>
      </p:sp>
      <p:sp>
        <p:nvSpPr>
          <p:cNvPr id="13" name="Text 10"/>
          <p:cNvSpPr txBox="1"/>
          <p:nvPr/>
        </p:nvSpPr>
        <p:spPr>
          <a:xfrm>
            <a:off x="352044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S</a:t>
            </a:r>
            <a:endParaRPr lang="en-US" sz="1600" dirty="0"/>
          </a:p>
        </p:txBody>
      </p:sp>
      <p:sp>
        <p:nvSpPr>
          <p:cNvPr id="14" name="Text 11"/>
          <p:cNvSpPr txBox="1"/>
          <p:nvPr/>
        </p:nvSpPr>
        <p:spPr>
          <a:xfrm>
            <a:off x="352044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Scout</a:t>
            </a:r>
            <a:endParaRPr lang="en-US" sz="1700" dirty="0"/>
          </a:p>
        </p:txBody>
      </p:sp>
      <p:sp>
        <p:nvSpPr>
          <p:cNvPr id="15" name="Text 12"/>
          <p:cNvSpPr txBox="1"/>
          <p:nvPr/>
        </p:nvSpPr>
        <p:spPr>
          <a:xfrm>
            <a:off x="352044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list every fact the quest needs; mark each ✓ (say how) or ? (say where). 4–8 min: turn every ? into the one question you'd ask.</a:t>
            </a:r>
            <a:endParaRPr lang="en-US" sz="1400" dirty="0"/>
          </a:p>
        </p:txBody>
      </p:sp>
      <p:sp>
        <p:nvSpPr>
          <p:cNvPr id="16" name="Shape 13"/>
          <p:cNvSpPr/>
          <p:nvPr/>
        </p:nvSpPr>
        <p:spPr>
          <a:xfrm>
            <a:off x="6080760" y="1188720"/>
            <a:ext cx="2560320" cy="3406140"/>
          </a:xfrm>
          <a:prstGeom prst="roundRect">
            <a:avLst>
              <a:gd name="adj" fmla="val 5000"/>
            </a:avLst>
          </a:prstGeom>
          <a:solidFill>
            <a:srgbClr val="262648"/>
          </a:solidFill>
          <a:ln w="12700">
            <a:solidFill>
              <a:srgbClr val="262648"/>
            </a:solidFill>
            <a:prstDash val="solid"/>
          </a:ln>
        </p:spPr>
      </p:sp>
      <p:sp>
        <p:nvSpPr>
          <p:cNvPr id="17" name="Shape 14"/>
          <p:cNvSpPr/>
          <p:nvPr/>
        </p:nvSpPr>
        <p:spPr>
          <a:xfrm>
            <a:off x="6309360" y="1417320"/>
            <a:ext cx="502920" cy="502920"/>
          </a:xfrm>
          <a:prstGeom prst="ellipse">
            <a:avLst/>
          </a:prstGeom>
          <a:solidFill>
            <a:srgbClr val="FFB020"/>
          </a:solidFill>
          <a:ln w="12700">
            <a:solidFill>
              <a:srgbClr val="FFB020"/>
            </a:solidFill>
            <a:prstDash val="solid"/>
          </a:ln>
        </p:spPr>
      </p:sp>
      <p:sp>
        <p:nvSpPr>
          <p:cNvPr id="18" name="Text 15"/>
          <p:cNvSpPr txBox="1"/>
          <p:nvPr/>
        </p:nvSpPr>
        <p:spPr>
          <a:xfrm>
            <a:off x="6309360" y="1417320"/>
            <a:ext cx="502920" cy="50292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C</a:t>
            </a:r>
            <a:endParaRPr lang="en-US" sz="1600" dirty="0"/>
          </a:p>
        </p:txBody>
      </p:sp>
      <p:sp>
        <p:nvSpPr>
          <p:cNvPr id="19" name="Text 16"/>
          <p:cNvSpPr txBox="1"/>
          <p:nvPr/>
        </p:nvSpPr>
        <p:spPr>
          <a:xfrm>
            <a:off x="6309360" y="2057400"/>
            <a:ext cx="2103120" cy="457200"/>
          </a:xfrm>
          <a:prstGeom prst="rect">
            <a:avLst/>
          </a:prstGeom>
          <a:noFill/>
          <a:ln/>
        </p:spPr>
        <p:txBody>
          <a:bodyPr wrap="square" lIns="0" tIns="0" rIns="0" bIns="0" rtlCol="0" anchor="ctr"/>
          <a:lstStyle/>
          <a:p>
            <a:pPr indent="0" marL="0">
              <a:buNone/>
            </a:pPr>
            <a:r>
              <a:rPr lang="en-US" sz="1700" b="1" dirty="0">
                <a:solidFill>
                  <a:srgbClr val="FFB020"/>
                </a:solidFill>
                <a:latin typeface="Arial" pitchFamily="34" charset="0"/>
                <a:ea typeface="Arial" pitchFamily="34" charset="-122"/>
                <a:cs typeface="Arial" pitchFamily="34" charset="-120"/>
              </a:rPr>
              <a:t>Critic</a:t>
            </a:r>
            <a:endParaRPr lang="en-US" sz="1700" dirty="0"/>
          </a:p>
        </p:txBody>
      </p:sp>
      <p:sp>
        <p:nvSpPr>
          <p:cNvPr id="20" name="Text 17"/>
          <p:cNvSpPr txBox="1"/>
          <p:nvPr/>
        </p:nvSpPr>
        <p:spPr>
          <a:xfrm>
            <a:off x="6309360" y="2560320"/>
            <a:ext cx="2103120" cy="1805940"/>
          </a:xfrm>
          <a:prstGeom prst="rect">
            <a:avLst/>
          </a:prstGeom>
          <a:noFill/>
          <a:ln/>
        </p:spPr>
        <p:txBody>
          <a:bodyPr wrap="square" lIns="0" tIns="0" rIns="0" bIns="0" rtlCol="0" anchor="t"/>
          <a:lstStyle/>
          <a:p>
            <a:pPr indent="0" marL="0">
              <a:buNone/>
            </a:pPr>
            <a:r>
              <a:rPr lang="en-US" sz="1400" dirty="0">
                <a:solidFill>
                  <a:srgbClr val="E8E8F5"/>
                </a:solidFill>
                <a:latin typeface="Arial" pitchFamily="34" charset="0"/>
                <a:ea typeface="Arial" pitchFamily="34" charset="-122"/>
                <a:cs typeface="Arial" pitchFamily="34" charset="-120"/>
              </a:rPr>
              <a:t>0–4 min: 2 things the people on the card care about, 1 thing they'd hate. 4–8 min: read the Planner's list; write 3 upgrades.</a:t>
            </a:r>
            <a:endParaRPr lang="en-US" sz="14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9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24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Activity — Run the Quest</a:t>
            </a:r>
            <a:endParaRPr lang="en-US" sz="2600" dirty="0"/>
          </a:p>
        </p:txBody>
      </p:sp>
      <p:sp>
        <p:nvSpPr>
          <p:cNvPr id="8" name="Shape 5"/>
          <p:cNvSpPr/>
          <p:nvPr/>
        </p:nvSpPr>
        <p:spPr>
          <a:xfrm>
            <a:off x="502920" y="1234440"/>
            <a:ext cx="457200" cy="457200"/>
          </a:xfrm>
          <a:prstGeom prst="ellipse">
            <a:avLst/>
          </a:prstGeom>
          <a:solidFill>
            <a:srgbClr val="FFB020"/>
          </a:solidFill>
          <a:ln w="12700">
            <a:solidFill>
              <a:srgbClr val="FFB020"/>
            </a:solidFill>
            <a:prstDash val="solid"/>
          </a:ln>
        </p:spPr>
      </p:sp>
      <p:sp>
        <p:nvSpPr>
          <p:cNvPr id="9" name="Text 6"/>
          <p:cNvSpPr txBox="1"/>
          <p:nvPr/>
        </p:nvSpPr>
        <p:spPr>
          <a:xfrm>
            <a:off x="502920" y="123444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1</a:t>
            </a:r>
            <a:endParaRPr lang="en-US" sz="1600" dirty="0"/>
          </a:p>
        </p:txBody>
      </p:sp>
      <p:sp>
        <p:nvSpPr>
          <p:cNvPr id="10" name="Text 7"/>
          <p:cNvSpPr txBox="1"/>
          <p:nvPr/>
        </p:nvSpPr>
        <p:spPr>
          <a:xfrm>
            <a:off x="1143000" y="118872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Write the quest card   ·   8 min</a:t>
            </a:r>
            <a:endParaRPr lang="en-US" sz="1500" dirty="0"/>
          </a:p>
        </p:txBody>
      </p:sp>
      <p:sp>
        <p:nvSpPr>
          <p:cNvPr id="11" name="Text 8"/>
          <p:cNvSpPr txBox="1"/>
          <p:nvPr/>
        </p:nvSpPr>
        <p:spPr>
          <a:xfrm>
            <a:off x="1143000" y="151790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Teams of 3. Pick a quest and decide all four parts together. One card per team: the card-holder, first name in ABC order, writes it.</a:t>
            </a:r>
            <a:endParaRPr lang="en-US" sz="1300" dirty="0"/>
          </a:p>
        </p:txBody>
      </p:sp>
      <p:sp>
        <p:nvSpPr>
          <p:cNvPr id="12" name="Shape 9"/>
          <p:cNvSpPr/>
          <p:nvPr/>
        </p:nvSpPr>
        <p:spPr>
          <a:xfrm>
            <a:off x="502920" y="2286000"/>
            <a:ext cx="457200" cy="457200"/>
          </a:xfrm>
          <a:prstGeom prst="ellipse">
            <a:avLst/>
          </a:prstGeom>
          <a:solidFill>
            <a:srgbClr val="FFB020"/>
          </a:solidFill>
          <a:ln w="12700">
            <a:solidFill>
              <a:srgbClr val="FFB020"/>
            </a:solidFill>
            <a:prstDash val="solid"/>
          </a:ln>
        </p:spPr>
      </p:sp>
      <p:sp>
        <p:nvSpPr>
          <p:cNvPr id="13" name="Text 10"/>
          <p:cNvSpPr txBox="1"/>
          <p:nvPr/>
        </p:nvSpPr>
        <p:spPr>
          <a:xfrm>
            <a:off x="502920" y="228600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2</a:t>
            </a:r>
            <a:endParaRPr lang="en-US" sz="1600" dirty="0"/>
          </a:p>
        </p:txBody>
      </p:sp>
      <p:sp>
        <p:nvSpPr>
          <p:cNvPr id="14" name="Text 11"/>
          <p:cNvSpPr txBox="1"/>
          <p:nvPr/>
        </p:nvSpPr>
        <p:spPr>
          <a:xfrm>
            <a:off x="1143000" y="224028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Squad works   ·   8 min</a:t>
            </a:r>
            <a:endParaRPr lang="en-US" sz="1500" dirty="0"/>
          </a:p>
        </p:txBody>
      </p:sp>
      <p:sp>
        <p:nvSpPr>
          <p:cNvPr id="15" name="Text 12"/>
          <p:cNvSpPr txBox="1"/>
          <p:nvPr/>
        </p:nvSpPr>
        <p:spPr>
          <a:xfrm>
            <a:off x="1143000" y="256946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Now switch: YOU play an AI agent. Card face-up in the middle. Work SILENTLY on a blank sheet. No questions: agents can't read minds.</a:t>
            </a:r>
            <a:endParaRPr lang="en-US" sz="1300" dirty="0"/>
          </a:p>
        </p:txBody>
      </p:sp>
      <p:sp>
        <p:nvSpPr>
          <p:cNvPr id="16" name="Shape 13"/>
          <p:cNvSpPr/>
          <p:nvPr/>
        </p:nvSpPr>
        <p:spPr>
          <a:xfrm>
            <a:off x="502920" y="3337560"/>
            <a:ext cx="457200" cy="457200"/>
          </a:xfrm>
          <a:prstGeom prst="ellipse">
            <a:avLst/>
          </a:prstGeom>
          <a:solidFill>
            <a:srgbClr val="FFB020"/>
          </a:solidFill>
          <a:ln w="12700">
            <a:solidFill>
              <a:srgbClr val="FFB020"/>
            </a:solidFill>
            <a:prstDash val="solid"/>
          </a:ln>
        </p:spPr>
      </p:sp>
      <p:sp>
        <p:nvSpPr>
          <p:cNvPr id="17" name="Text 14"/>
          <p:cNvSpPr txBox="1"/>
          <p:nvPr/>
        </p:nvSpPr>
        <p:spPr>
          <a:xfrm>
            <a:off x="502920" y="3337560"/>
            <a:ext cx="457200" cy="457200"/>
          </a:xfrm>
          <a:prstGeom prst="rect">
            <a:avLst/>
          </a:prstGeom>
          <a:noFill/>
          <a:ln/>
        </p:spPr>
        <p:txBody>
          <a:bodyPr wrap="square" lIns="0" tIns="0" rIns="0" bIns="0" rtlCol="0" anchor="ctr"/>
          <a:lstStyle/>
          <a:p>
            <a:pPr algn="ctr" indent="0" marL="0">
              <a:buNone/>
            </a:pPr>
            <a:r>
              <a:rPr lang="en-US" sz="1600" b="1" dirty="0">
                <a:solidFill>
                  <a:srgbClr val="14141F"/>
                </a:solidFill>
                <a:latin typeface="Arial" pitchFamily="34" charset="0"/>
                <a:ea typeface="Arial" pitchFamily="34" charset="-122"/>
                <a:cs typeface="Arial" pitchFamily="34" charset="-120"/>
              </a:rPr>
              <a:t>3</a:t>
            </a:r>
            <a:endParaRPr lang="en-US" sz="1600" dirty="0"/>
          </a:p>
        </p:txBody>
      </p:sp>
      <p:sp>
        <p:nvSpPr>
          <p:cNvPr id="18" name="Text 15"/>
          <p:cNvSpPr txBox="1"/>
          <p:nvPr/>
        </p:nvSpPr>
        <p:spPr>
          <a:xfrm>
            <a:off x="1143000" y="3291840"/>
            <a:ext cx="7498080" cy="320040"/>
          </a:xfrm>
          <a:prstGeom prst="rect">
            <a:avLst/>
          </a:prstGeom>
          <a:noFill/>
          <a:ln/>
        </p:spPr>
        <p:txBody>
          <a:bodyPr wrap="square" lIns="0" tIns="0" rIns="0" bIns="0" rtlCol="0" anchor="ctr"/>
          <a:lstStyle/>
          <a:p>
            <a:pPr indent="0" marL="0">
              <a:buNone/>
            </a:pPr>
            <a:r>
              <a:rPr lang="en-US" sz="1500" b="1" dirty="0">
                <a:solidFill>
                  <a:srgbClr val="FFB020"/>
                </a:solidFill>
                <a:latin typeface="Arial" pitchFamily="34" charset="0"/>
                <a:ea typeface="Arial" pitchFamily="34" charset="-122"/>
                <a:cs typeface="Arial" pitchFamily="34" charset="-120"/>
              </a:rPr>
              <a:t>Leader review   ·   8 min</a:t>
            </a:r>
            <a:endParaRPr lang="en-US" sz="1500" dirty="0"/>
          </a:p>
        </p:txBody>
      </p:sp>
      <p:sp>
        <p:nvSpPr>
          <p:cNvPr id="19" name="Text 16"/>
          <p:cNvSpPr txBox="1"/>
          <p:nvPr/>
        </p:nvSpPr>
        <p:spPr>
          <a:xfrm>
            <a:off x="1143000" y="3621024"/>
            <a:ext cx="7498080" cy="612648"/>
          </a:xfrm>
          <a:prstGeom prst="rect">
            <a:avLst/>
          </a:prstGeom>
          <a:noFill/>
          <a:ln/>
        </p:spPr>
        <p:txBody>
          <a:bodyPr wrap="square" lIns="0" tIns="0" rIns="0" bIns="0" rtlCol="0" anchor="t"/>
          <a:lstStyle/>
          <a:p>
            <a:pPr indent="0" marL="0">
              <a:buNone/>
            </a:pPr>
            <a:r>
              <a:rPr lang="en-US" sz="1300" dirty="0">
                <a:solidFill>
                  <a:srgbClr val="E8E8F5"/>
                </a:solidFill>
                <a:latin typeface="Arial" pitchFamily="34" charset="0"/>
                <a:ea typeface="Arial" pitchFamily="34" charset="-122"/>
                <a:cs typeface="Arial" pitchFamily="34" charset="-120"/>
              </a:rPr>
              <a:t>Every paper moves one seat to its owner's left. Quote one line and tick one box per row. Write keep-and-fix. Then hand it back and read your FIX line.</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10 / 12</a:t>
            </a:r>
            <a:endParaRPr lang="en-US" sz="900" dirty="0"/>
          </a:p>
        </p:txBody>
      </p:sp>
      <p:sp>
        <p:nvSpPr>
          <p:cNvPr id="4" name="Text 2"/>
          <p:cNvSpPr txBox="1"/>
          <p:nvPr/>
        </p:nvSpPr>
        <p:spPr>
          <a:xfrm>
            <a:off x="502920" y="502920"/>
            <a:ext cx="8138160" cy="548640"/>
          </a:xfrm>
          <a:prstGeom prst="rect">
            <a:avLst/>
          </a:prstGeom>
          <a:noFill/>
          <a:ln/>
        </p:spPr>
        <p:txBody>
          <a:bodyPr wrap="square" lIns="0" tIns="0" rIns="0" bIns="0" rtlCol="0" anchor="ctr"/>
          <a:lstStyle/>
          <a:p>
            <a:pPr indent="0" marL="0">
              <a:buNone/>
            </a:pPr>
            <a:r>
              <a:rPr lang="en-US" sz="2600" b="1" dirty="0">
                <a:solidFill>
                  <a:srgbClr val="FFB020"/>
                </a:solidFill>
                <a:latin typeface="Arial" pitchFamily="34" charset="0"/>
                <a:ea typeface="Arial" pitchFamily="34" charset="-122"/>
                <a:cs typeface="Arial" pitchFamily="34" charset="-120"/>
              </a:rPr>
              <a:t>Check the Loot</a:t>
            </a:r>
            <a:endParaRPr lang="en-US" sz="2600" dirty="0"/>
          </a:p>
        </p:txBody>
      </p:sp>
      <p:sp>
        <p:nvSpPr>
          <p:cNvPr id="6" name="Text 3"/>
          <p:cNvSpPr txBox="1"/>
          <p:nvPr/>
        </p:nvSpPr>
        <p:spPr>
          <a:xfrm>
            <a:off x="594360" y="1188720"/>
            <a:ext cx="7955280" cy="3406140"/>
          </a:xfrm>
          <a:prstGeom prst="rect">
            <a:avLst/>
          </a:prstGeom>
          <a:noFill/>
          <a:ln/>
        </p:spPr>
        <p:txBody>
          <a:bodyPr wrap="square" lIns="0" tIns="0" rIns="0" bIns="0" rtlCol="0" anchor="t"/>
          <a:lstStyle/>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ACCURACY — Does every fact match the card? Is every ✓ backed by a "how we know"?</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TASTE — Right people and tone for the card? Or could it be for anybody?</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DONE-NESS — Did they do their whole role card?</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Each row: quote or point to a line. Tick SHIP IT (finished and correct, send it) or RUN IT BACK (do it again).</a:t>
            </a:r>
            <a:endParaRPr lang="en-US" sz="1800" dirty="0"/>
          </a:p>
          <a:p>
            <a:pPr marL="342900" indent="-342900">
              <a:spcAft>
                <a:spcPts val="800"/>
              </a:spcAft>
              <a:buSzPct val="100000"/>
              <a:buChar char="■"/>
            </a:pPr>
            <a:r>
              <a:rPr lang="en-US" sz="1800" dirty="0">
                <a:solidFill>
                  <a:srgbClr val="E8E8F5"/>
                </a:solidFill>
                <a:latin typeface="Arial" pitchFamily="34" charset="0"/>
                <a:ea typeface="Arial" pitchFamily="34" charset="-122"/>
                <a:cs typeface="Arial" pitchFamily="34" charset="-120"/>
              </a:rPr>
              <a:t>Keep-and-fix note: KEEP (what's working and why) → FIX (the exact change + why it matters)</a:t>
            </a:r>
            <a:endParaRPr lang="en-US" sz="18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11 / 12</a:t>
            </a:r>
            <a:endParaRPr lang="en-US" sz="900" dirty="0"/>
          </a:p>
        </p:txBody>
      </p:sp>
      <p:sp>
        <p:nvSpPr>
          <p:cNvPr id="4" name="Shape 2"/>
          <p:cNvSpPr/>
          <p:nvPr/>
        </p:nvSpPr>
        <p:spPr>
          <a:xfrm>
            <a:off x="7680960" y="146304"/>
            <a:ext cx="960120" cy="310896"/>
          </a:xfrm>
          <a:prstGeom prst="roundRect">
            <a:avLst>
              <a:gd name="adj" fmla="val 50000"/>
            </a:avLst>
          </a:prstGeom>
          <a:solidFill>
            <a:srgbClr val="14141F"/>
          </a:solidFill>
          <a:ln w="15875">
            <a:solidFill>
              <a:srgbClr val="FFB020"/>
            </a:solidFill>
            <a:prstDash val="solid"/>
          </a:ln>
        </p:spPr>
      </p:sp>
      <p:sp>
        <p:nvSpPr>
          <p:cNvPr id="5" name="Text 3"/>
          <p:cNvSpPr txBox="1"/>
          <p:nvPr/>
        </p:nvSpPr>
        <p:spPr>
          <a:xfrm>
            <a:off x="7680960" y="146304"/>
            <a:ext cx="960120" cy="310896"/>
          </a:xfrm>
          <a:prstGeom prst="rect">
            <a:avLst/>
          </a:prstGeom>
          <a:noFill/>
          <a:ln/>
        </p:spPr>
        <p:txBody>
          <a:bodyPr wrap="square" lIns="0" tIns="0" rIns="0" bIns="0" rtlCol="0" anchor="ctr"/>
          <a:lstStyle/>
          <a:p>
            <a:pPr algn="ctr" indent="0" marL="0">
              <a:buNone/>
            </a:pPr>
            <a:r>
              <a:rPr lang="en-US" sz="1000" b="1" dirty="0">
                <a:solidFill>
                  <a:srgbClr val="FFB020"/>
                </a:solidFill>
                <a:latin typeface="Arial" pitchFamily="34" charset="0"/>
                <a:ea typeface="Arial" pitchFamily="34" charset="-122"/>
                <a:cs typeface="Arial" pitchFamily="34" charset="-120"/>
              </a:rPr>
              <a:t>6 MIN</a:t>
            </a:r>
            <a:endParaRPr lang="en-US" sz="1000" dirty="0"/>
          </a:p>
        </p:txBody>
      </p:sp>
      <p:sp>
        <p:nvSpPr>
          <p:cNvPr id="6" name="Text 4"/>
          <p:cNvSpPr txBox="1"/>
          <p:nvPr/>
        </p:nvSpPr>
        <p:spPr>
          <a:xfrm>
            <a:off x="502920" y="502920"/>
            <a:ext cx="7040880" cy="548640"/>
          </a:xfrm>
          <a:prstGeom prst="rect">
            <a:avLst/>
          </a:prstGeom>
          <a:noFill/>
          <a:ln/>
        </p:spPr>
        <p:txBody>
          <a:bodyPr wrap="square" lIns="0" tIns="0" rIns="0" bIns="0" rtlCol="0" anchor="ctr"/>
          <a:lstStyle/>
          <a:p>
            <a:pPr indent="0" marL="0">
              <a:buNone/>
            </a:pPr>
            <a:r>
              <a:rPr lang="en-US" sz="2200" b="1" dirty="0">
                <a:solidFill>
                  <a:srgbClr val="FFB020"/>
                </a:solidFill>
                <a:latin typeface="Arial" pitchFamily="34" charset="0"/>
                <a:ea typeface="Arial" pitchFamily="34" charset="-122"/>
                <a:cs typeface="Arial" pitchFamily="34" charset="-120"/>
              </a:rPr>
              <a:t>Exit Ticket — Quest Card for a Real Task</a:t>
            </a:r>
            <a:endParaRPr lang="en-US" sz="2200" dirty="0"/>
          </a:p>
        </p:txBody>
      </p:sp>
      <p:sp>
        <p:nvSpPr>
          <p:cNvPr id="8" name="Text 5"/>
          <p:cNvSpPr txBox="1"/>
          <p:nvPr/>
        </p:nvSpPr>
        <p:spPr>
          <a:xfrm>
            <a:off x="594360" y="1188720"/>
            <a:ext cx="7955280" cy="3406140"/>
          </a:xfrm>
          <a:prstGeom prst="rect">
            <a:avLst/>
          </a:prstGeom>
          <a:noFill/>
          <a:ln/>
        </p:spPr>
        <p:txBody>
          <a:bodyPr wrap="square" lIns="0" tIns="0" rIns="0" bIns="0" rtlCol="0" anchor="t"/>
          <a:lstStyle/>
          <a:p>
            <a:pPr indent="0" marL="0">
              <a:spcAft>
                <a:spcPts val="800"/>
              </a:spcAft>
              <a:buNone/>
            </a:pPr>
            <a:r>
              <a:rPr lang="en-US" sz="1800" dirty="0">
                <a:solidFill>
                  <a:srgbClr val="E8E8F5"/>
                </a:solidFill>
                <a:latin typeface="Arial" pitchFamily="34" charset="0"/>
                <a:ea typeface="Arial" pitchFamily="34" charset="-122"/>
                <a:cs typeface="Arial" pitchFamily="34" charset="-120"/>
              </a:rPr>
              <a:t>1.  Write a quest card for one real task in YOUR life this week (a study plan, a chore list, a team flyer): GOAL · WHAT WE KNOW · RULES OF THE RUN · DONE LOOKS LIKE.</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2.  Which role should start on your task first? Check one, then write why: Planner · Scout · Critic</a:t>
            </a:r>
            <a:endParaRPr lang="en-US" sz="1800" dirty="0"/>
          </a:p>
          <a:p>
            <a:pPr indent="0" marL="0">
              <a:spcAft>
                <a:spcPts val="800"/>
              </a:spcAft>
              <a:buNone/>
            </a:pPr>
            <a:r>
              <a:rPr lang="en-US" sz="1800" dirty="0">
                <a:solidFill>
                  <a:srgbClr val="E8E8F5"/>
                </a:solidFill>
                <a:latin typeface="Arial" pitchFamily="34" charset="0"/>
                <a:ea typeface="Arial" pitchFamily="34" charset="-122"/>
                <a:cs typeface="Arial" pitchFamily="34" charset="-120"/>
              </a:rPr>
              <a:t>3.  If an AI did your task, which check would its work most likely fail? Check one, then write what to look for: Accuracy · Taste · Done-ness</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14141F"/>
        </a:solidFill>
      </p:bgPr>
    </p:bg>
    <p:spTree>
      <p:nvGrpSpPr>
        <p:cNvPr id="1" name=""/>
        <p:cNvGrpSpPr/>
        <p:nvPr/>
      </p:nvGrpSpPr>
      <p:grpSpPr>
        <a:xfrm>
          <a:off x="0" y="0"/>
          <a:ext cx="0" cy="0"/>
          <a:chOff x="0" y="0"/>
          <a:chExt cx="0" cy="0"/>
        </a:xfrm>
      </p:grpSpPr>
      <p:sp>
        <p:nvSpPr>
          <p:cNvPr id="2" name="Text 0"/>
          <p:cNvSpPr txBox="1"/>
          <p:nvPr/>
        </p:nvSpPr>
        <p:spPr>
          <a:xfrm>
            <a:off x="502920" y="201168"/>
            <a:ext cx="4572000" cy="228600"/>
          </a:xfrm>
          <a:prstGeom prst="rect">
            <a:avLst/>
          </a:prstGeom>
          <a:noFill/>
          <a:ln/>
        </p:spPr>
        <p:txBody>
          <a:bodyPr wrap="square" lIns="0" tIns="0" rIns="0" bIns="0" rtlCol="0" anchor="t"/>
          <a:lstStyle/>
          <a:p>
            <a:pPr indent="0" marL="0">
              <a:buNone/>
            </a:pPr>
            <a:r>
              <a:rPr lang="en-US" sz="900" b="1" spc="200" kern="0" dirty="0">
                <a:solidFill>
                  <a:srgbClr val="A9A9C4"/>
                </a:solidFill>
                <a:latin typeface="Arial" pitchFamily="34" charset="0"/>
                <a:ea typeface="Arial" pitchFamily="34" charset="-122"/>
                <a:cs typeface="Arial" pitchFamily="34" charset="-120"/>
              </a:rPr>
              <a:t>FUTURE SKILLS · AI LITERACY</a:t>
            </a:r>
            <a:endParaRPr lang="en-US" sz="900" dirty="0"/>
          </a:p>
        </p:txBody>
      </p:sp>
      <p:sp>
        <p:nvSpPr>
          <p:cNvPr id="3" name="Text 1"/>
          <p:cNvSpPr txBox="1"/>
          <p:nvPr/>
        </p:nvSpPr>
        <p:spPr>
          <a:xfrm>
            <a:off x="7726680" y="4759452"/>
            <a:ext cx="914400" cy="228600"/>
          </a:xfrm>
          <a:prstGeom prst="rect">
            <a:avLst/>
          </a:prstGeom>
          <a:noFill/>
          <a:ln/>
        </p:spPr>
        <p:txBody>
          <a:bodyPr wrap="square" lIns="0" tIns="0" rIns="0" bIns="0" rtlCol="0" anchor="t"/>
          <a:lstStyle/>
          <a:p>
            <a:pPr algn="r" indent="0" marL="0">
              <a:buNone/>
            </a:pPr>
            <a:r>
              <a:rPr lang="en-US" sz="900" dirty="0">
                <a:solidFill>
                  <a:srgbClr val="A9A9C4"/>
                </a:solidFill>
                <a:latin typeface="Arial" pitchFamily="34" charset="0"/>
                <a:ea typeface="Arial" pitchFamily="34" charset="-122"/>
                <a:cs typeface="Arial" pitchFamily="34" charset="-120"/>
              </a:rPr>
              <a:t>12 / 12</a:t>
            </a:r>
            <a:endParaRPr lang="en-US" sz="900" dirty="0"/>
          </a:p>
        </p:txBody>
      </p:sp>
      <p:sp>
        <p:nvSpPr>
          <p:cNvPr id="5" name="Shape 2"/>
          <p:cNvSpPr/>
          <p:nvPr/>
        </p:nvSpPr>
        <p:spPr>
          <a:xfrm>
            <a:off x="7132320" y="-1097280"/>
            <a:ext cx="3291840" cy="3291840"/>
          </a:xfrm>
          <a:prstGeom prst="ellipse">
            <a:avLst/>
          </a:prstGeom>
          <a:solidFill>
            <a:srgbClr val="262648"/>
          </a:solidFill>
          <a:ln w="12700">
            <a:solidFill>
              <a:srgbClr val="262648"/>
            </a:solidFill>
            <a:prstDash val="solid"/>
          </a:ln>
        </p:spPr>
      </p:sp>
      <p:sp>
        <p:nvSpPr>
          <p:cNvPr id="6" name="Text 3"/>
          <p:cNvSpPr txBox="1"/>
          <p:nvPr/>
        </p:nvSpPr>
        <p:spPr>
          <a:xfrm>
            <a:off x="502920" y="1097280"/>
            <a:ext cx="6675120" cy="2011680"/>
          </a:xfrm>
          <a:prstGeom prst="rect">
            <a:avLst/>
          </a:prstGeom>
          <a:noFill/>
          <a:ln/>
        </p:spPr>
        <p:txBody>
          <a:bodyPr wrap="square" lIns="0" tIns="0" rIns="0" bIns="0" rtlCol="0" anchor="ctr"/>
          <a:lstStyle/>
          <a:p>
            <a:pPr indent="0" marL="0">
              <a:buNone/>
            </a:pPr>
            <a:r>
              <a:rPr lang="en-US" sz="3400" b="1" dirty="0">
                <a:solidFill>
                  <a:srgbClr val="FFB020"/>
                </a:solidFill>
                <a:latin typeface="Arial" pitchFamily="34" charset="0"/>
                <a:ea typeface="Arial" pitchFamily="34" charset="-122"/>
                <a:cs typeface="Arial" pitchFamily="34" charset="-120"/>
              </a:rPr>
              <a:t>Your party is tireless. The name on the quest is YOURS.</a:t>
            </a:r>
            <a:endParaRPr lang="en-US" sz="3400" dirty="0"/>
          </a:p>
        </p:txBody>
      </p:sp>
      <p:sp>
        <p:nvSpPr>
          <p:cNvPr id="7" name="Text 4"/>
          <p:cNvSpPr txBox="1"/>
          <p:nvPr/>
        </p:nvSpPr>
        <p:spPr>
          <a:xfrm>
            <a:off x="502920" y="3200400"/>
            <a:ext cx="7680960" cy="1097280"/>
          </a:xfrm>
          <a:prstGeom prst="rect">
            <a:avLst/>
          </a:prstGeom>
          <a:noFill/>
          <a:ln/>
        </p:spPr>
        <p:txBody>
          <a:bodyPr wrap="square" lIns="0" tIns="0" rIns="0" bIns="0" rtlCol="0" anchor="t"/>
          <a:lstStyle/>
          <a:p>
            <a:pPr indent="0" marL="0">
              <a:buNone/>
            </a:pPr>
            <a:r>
              <a:rPr lang="en-US" sz="1600" dirty="0">
                <a:solidFill>
                  <a:srgbClr val="E8E8F5"/>
                </a:solidFill>
                <a:latin typeface="Arial" pitchFamily="34" charset="0"/>
                <a:ea typeface="Arial" pitchFamily="34" charset="-122"/>
                <a:cs typeface="Arial" pitchFamily="34" charset="-120"/>
              </a:rPr>
              <a:t>A good AI job runs human → AI → human: you write the card, the AI does the middle, you check the loot. If wrong facts ship, the leader said yes to them.</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Future Skills Series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Lead Your AI Squad — Slides</dc:title>
  <dc:subject>PptxGenJS Presentation</dc:subject>
  <dc:creator>Future Skills Series</dc:creator>
  <cp:lastModifiedBy>Future Skills Series</cp:lastModifiedBy>
  <cp:revision>1</cp:revision>
  <dcterms:created xsi:type="dcterms:W3CDTF">2026-09-23T01:21:22Z</dcterms:created>
  <dcterms:modified xsi:type="dcterms:W3CDTF">2026-09-23T01:21:22Z</dcterms:modified>
</cp:coreProperties>
</file>
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this slide while students settle. Worksheet: Cursed Wish Repair Shop, one per student (2 pages). Deck follows the lesson plan block for block; minute chips top-right match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3–4 wishes from the class and ruin every one, cheerfully. Three improv moves cover any wish: (1) take a word literally — 'rich' becomes a name; (2) fill the missing detail badly — money becomes play money; (3) grant it in the least useful form — a story becomes 'Once there was a hero. The end.' Stay in character; the genie is never mean, just literal. WHAT IF a wish is inappropriate: 'The genie doesn't grant that one. Next wish.' Nobody volunteers? Wish first yourself: 'I wish for a snack' → 'Granted: one grain of rice.' Then advance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 two or three answers (the answer — the wish — stays off the slide until they say it). Then the bridge: "AI works like that genie. It doesn't know what you MEANT. It only knows what you SAID. A good AI job goes human, AI, human: you start it with the wish, the genie does the middle, and you check what comes back. Today you get good at both human parts." TRANSITION: "So how do you write a wish a genie can't twist? Lawyers figured this out a long time ago."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Script: "Lawyers make contracts genie-proof with clauses. Strong prompts have three parts." Write P.R.O. on the board as you go. P: "Who is this for and what do you actually want?" R: "The rules — this is the part most people skip, and it's the part that stops the twist." O: "What does done look like? A list, a table, a paragraph?" Then advance: "Let's fix one together."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Build the right-hand prompt on the board one part at a time, naming each: Purpose (7th grade history essay, printing press), Requirements (3 theses, 2 pieces of evidence each, don't write it), Output (bullet list). With devices: run the right-hand prompt live. WHAT IF someone says it's too long: count it — three sentences. "Three sentences now, or forty pages of NASA history later. Your call."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it plainly and move on; the 'Be honest with yourself' box on the worksheet repeats it. TRANSITION: "Your turn. Page 1: three kids typed cursed wishes. Fix all three — every part, P, R and O, every time. Solo. Ten minutes."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REPAIR: circulate; read a stuck student's repair aloud in a genie voice. WHAT IF the same repair three times: "What does Mateo need that Yuki doesn't? A plan is not a story — O has to change." Finished early → Extension (a wish that can't be genie-proofed in 50 words). TRANSITION at 10 min: "Pens down. Swap sheets. You are now the Worst Genie Ever, and page 2 is where you do your damage." BREAK IT: put the next slide up. WHAT IF a partner checks every box: make them say the twist out loud — no twist, the ✓ stands. SWAP BACK: "Sheets back with their owners. Genies, point at the ONE wish you could NOT twist. That's the one we want to hear." SHOWCASE: 2–3 pairs. WHAT IF the live AI answer is bad: "Which part of the wish let it do that?" Add a rule, run it again. Then: "Your OWN sheet, bottom of page 2. Before you write, one more rule about genies."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up during Break it. Students score their PARTNER's three wishes on the partner's sheet. Exemplar repairs to compare against — Amara: "I'm a 7th grader making a one-page science poster about black holes, due Friday. Give me 5 amazing facts, each under 20 words, written so a 5th grader could get it. No math formulas." Mateo: "I'm 12 and get $15 a week. I want $120 headphones in 10 weeks. Make a simple weekly savings plan as a table, and give 2 tips for not spending it on snacks." Yuki: "Write the opening paragraph (max 100 words) of an anime-style story about a shy kid whose sketchbook drawings come to life. Mysterious tone, end on a cliffhanger." Sneakiest-twist key: a twist counts if it obeys every word. Amara — no 'under 20 words' → each fact is a page. Mateo — no time limit → a 40-year plan, 6 cents a week. Yuki — no length → one sentence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minute of the plan's 7-min Exit Ticket block; sheets are back with their owners. Script: "Genies are tricksters. AI can grant your wish with made-up facts, and sound sure. Anything checkable — a name, a date, a number — gets checked somewhere real before you use it." This rule is what Exit Ticket #2 assesses (ISTE 1.3.b). Do NOT reveal which sentence in the printed genie answer is wrong.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Solo, 6 minutes. Collect. KEY — Exit #1: any prompt with P, R and O present and specific; part two is proficient if it shows the short prompt lets the genie choose ("it would explain what 6th grade math is"). Exit #2: the planted fact is "first-ever photo of a black hole in 2009" — false; the Event Horizon Telescope image of M87's black hole was released in April 2019. Proficient = names that sentence AND a real source to check it (science textbook, NASA's website, a librarian). Accept a student who flags another sentence as checkable — spotting a checkable claim is the skill. Not accepted: "I'd check it on AI." WHAT IF "it all sounds right": "Which sentence has a number or a date in it? Start there."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this. This lesson stands alone. Next in the unit: What's in the Playlist? (Lesson 2 — in the unit bundle, or sold separately) — where an AI's answers even come from.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SKILLS · AI LITERACY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2668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11</a:t>
            </a:r>
            <a:endParaRPr lang="en-US" sz="900" dirty="0"/>
          </a:p>
        </p:txBody>
      </p:sp>
      <p:pic>
        <p:nvPicPr>
          <p:cNvPr id="5" name="Image 0" descr="/home/user/tptphi/products/ai-prompting-101/dist/How to Talk to AI - Cov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605790"/>
            <a:ext cx="3108960" cy="4023360"/>
          </a:xfrm>
          <a:prstGeom prst="ellipse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502920" y="1051560"/>
            <a:ext cx="4617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LITERAL GENIE LESSON</a:t>
            </a:r>
            <a:endParaRPr lang="en-US" sz="110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137160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to Talk to AI</a:t>
            </a:r>
            <a:endParaRPr lang="en-US" sz="4000" dirty="0"/>
          </a:p>
        </p:txBody>
      </p:sp>
      <p:sp>
        <p:nvSpPr>
          <p:cNvPr id="8" name="Text 4"/>
          <p:cNvSpPr txBox="1"/>
          <p:nvPr/>
        </p:nvSpPr>
        <p:spPr>
          <a:xfrm>
            <a:off x="502920" y="2834640"/>
            <a:ext cx="4617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a literal genie: it grants exactly what you SAID, not what you meant. Today you learn to write wishes it can't twist.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SKILLS · AI LITERACY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2668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680960" y="146304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4141F"/>
          </a:solidFill>
          <a:ln w="15875">
            <a:solidFill>
              <a:srgbClr val="FFB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0" y="14630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MIN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50292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— The Worst Genie Ever</a:t>
            </a:r>
            <a:endParaRPr lang="en-US" sz="26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118872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am a genie. I grant wishes EXACTLY as worded. Who's first?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502920" y="2103120"/>
            <a:ext cx="8138160" cy="658368"/>
          </a:xfrm>
          <a:prstGeom prst="roundRect">
            <a:avLst>
              <a:gd name="adj" fmla="val 16667"/>
            </a:avLst>
          </a:prstGeom>
          <a:solidFill>
            <a:srgbClr val="262648"/>
          </a:solidFill>
          <a:ln w="12700">
            <a:solidFill>
              <a:srgbClr val="26264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2103120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wish I was rich."  →  "Done. Your name is now Rich."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2852928"/>
            <a:ext cx="8138160" cy="658368"/>
          </a:xfrm>
          <a:prstGeom prst="roundRect">
            <a:avLst>
              <a:gd name="adj" fmla="val 16667"/>
            </a:avLst>
          </a:prstGeom>
          <a:solidFill>
            <a:srgbClr val="262648"/>
          </a:solidFill>
          <a:ln w="12700">
            <a:solidFill>
              <a:srgbClr val="26264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2852928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wish for a million dollars."  →  "Granted — one million dollars, in play money."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2920" y="3602736"/>
            <a:ext cx="8138160" cy="658368"/>
          </a:xfrm>
          <a:prstGeom prst="roundRect">
            <a:avLst>
              <a:gd name="adj" fmla="val 16667"/>
            </a:avLst>
          </a:prstGeom>
          <a:solidFill>
            <a:srgbClr val="262648"/>
          </a:solidFill>
          <a:ln w="12700">
            <a:solidFill>
              <a:srgbClr val="26264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3602736"/>
            <a:ext cx="76809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 wish school was over."  →  "Granted. The school building is now over... there."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SKILLS · AI LITERACY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2668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029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Whose fault was that?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02920" y="1097280"/>
            <a:ext cx="10972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96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1188720"/>
            <a:ext cx="6903720" cy="3406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genie's — or the wish?</a:t>
            </a:r>
            <a:endParaRPr lang="en-US" sz="3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SKILLS · AI LITERACY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2668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680960" y="146304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4141F"/>
          </a:solidFill>
          <a:ln w="15875">
            <a:solidFill>
              <a:srgbClr val="FFB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0" y="14630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MIN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50292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Parts of a Genie-Proof Wish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502920" y="1188720"/>
            <a:ext cx="2560320" cy="3406140"/>
          </a:xfrm>
          <a:prstGeom prst="roundRect">
            <a:avLst>
              <a:gd name="adj" fmla="val 5000"/>
            </a:avLst>
          </a:prstGeom>
          <a:solidFill>
            <a:srgbClr val="262648"/>
          </a:solidFill>
          <a:ln w="12700">
            <a:solidFill>
              <a:srgbClr val="26264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1417320"/>
            <a:ext cx="502920" cy="5029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2057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731520" y="2560320"/>
            <a:ext cx="2103120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want + who it's for. "Explain photosynthesis to a 6th grader" beats "explain photosynthesis."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3291840" y="1188720"/>
            <a:ext cx="2560320" cy="3406140"/>
          </a:xfrm>
          <a:prstGeom prst="roundRect">
            <a:avLst>
              <a:gd name="adj" fmla="val 5000"/>
            </a:avLst>
          </a:prstGeom>
          <a:solidFill>
            <a:srgbClr val="262648"/>
          </a:solidFill>
          <a:ln w="12700">
            <a:solidFill>
              <a:srgbClr val="26264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520440" y="1417320"/>
            <a:ext cx="502920" cy="5029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52044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3520440" y="2057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3520440" y="2560320"/>
            <a:ext cx="2103120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rules: length, tone, format, include / leave out. This is what stops the genie from twisting your wish.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080760" y="1188720"/>
            <a:ext cx="2560320" cy="3406140"/>
          </a:xfrm>
          <a:prstGeom prst="roundRect">
            <a:avLst>
              <a:gd name="adj" fmla="val 5000"/>
            </a:avLst>
          </a:prstGeom>
          <a:solidFill>
            <a:srgbClr val="262648"/>
          </a:solidFill>
          <a:ln w="12700">
            <a:solidFill>
              <a:srgbClr val="26264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6309360" y="1417320"/>
            <a:ext cx="502920" cy="50292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309360" y="1417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6309360" y="205740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700" dirty="0"/>
          </a:p>
        </p:txBody>
      </p:sp>
      <p:sp>
        <p:nvSpPr>
          <p:cNvPr id="22" name="Text 19"/>
          <p:cNvSpPr txBox="1"/>
          <p:nvPr/>
        </p:nvSpPr>
        <p:spPr>
          <a:xfrm>
            <a:off x="6309360" y="2560320"/>
            <a:ext cx="2103120" cy="1805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should the finished answer look like? A list? A paragraph? A table? A plan?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SKILLS · AI LITERACY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2668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029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Watch one get fixed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502920" y="1188720"/>
            <a:ext cx="3931920" cy="3406140"/>
          </a:xfrm>
          <a:prstGeom prst="roundRect">
            <a:avLst>
              <a:gd name="adj" fmla="val 3758"/>
            </a:avLst>
          </a:prstGeom>
          <a:solidFill>
            <a:srgbClr val="262648"/>
          </a:solidFill>
          <a:ln w="12700">
            <a:solidFill>
              <a:srgbClr val="26264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CURSED WISH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1828800"/>
            <a:ext cx="3474720" cy="2583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"help with my history essay"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709160" y="1188720"/>
            <a:ext cx="3931920" cy="3406140"/>
          </a:xfrm>
          <a:prstGeom prst="roundRect">
            <a:avLst>
              <a:gd name="adj" fmla="val 3758"/>
            </a:avLst>
          </a:prstGeom>
          <a:solidFill>
            <a:srgbClr val="2F2A5C"/>
          </a:solidFill>
          <a:ln w="19050">
            <a:solidFill>
              <a:srgbClr val="FFB02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937760" y="13716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GENIE-PROOF P.R.O. PROMPT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4937760" y="1828800"/>
            <a:ext cx="3474720" cy="25831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"I'm writing a 7th grade history essay on the printing press. Give me 3 thesis statements and 2 pieces of evidence for each, as a bullet list. Don't write it for me."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SKILLS · AI LITERACY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2668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11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457200"/>
            <a:ext cx="1005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11000" dirty="0"/>
          </a:p>
        </p:txBody>
      </p:sp>
      <p:sp>
        <p:nvSpPr>
          <p:cNvPr id="6" name="Text 3"/>
          <p:cNvSpPr txBox="1"/>
          <p:nvPr/>
        </p:nvSpPr>
        <p:spPr>
          <a:xfrm>
            <a:off x="1554480" y="685800"/>
            <a:ext cx="7086600" cy="2267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is your editor, not your ghostwriter.</a:t>
            </a:r>
            <a:endParaRPr lang="en-US" sz="2800" dirty="0"/>
          </a:p>
        </p:txBody>
      </p:sp>
      <p:sp>
        <p:nvSpPr>
          <p:cNvPr id="7" name="Text 4"/>
          <p:cNvSpPr txBox="1"/>
          <p:nvPr/>
        </p:nvSpPr>
        <p:spPr>
          <a:xfrm>
            <a:off x="1554480" y="3090215"/>
            <a:ext cx="7086600" cy="1504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ghostwriter writes the whole thing for you and lets you put your name on it. An editor gives a second opinion on YOUR work. See the last sentence — "don't write it for me."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SKILLS · AI LITERACY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2668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680960" y="146304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4141F"/>
          </a:solidFill>
          <a:ln w="15875">
            <a:solidFill>
              <a:srgbClr val="FFB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0" y="14630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MIN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50292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— Cursed Wish Repair Shop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502920" y="1234440"/>
            <a:ext cx="457200" cy="45720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0292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1143000" y="118872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Repair   ·   10 min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1143000" y="1517904"/>
            <a:ext cx="74980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Solo. Fix Amara's, Mateo's and Yuki's cursed wishes on page 1 — all three parts, P, R and O, every time.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" y="2286000"/>
            <a:ext cx="457200" cy="45720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292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1"/>
          <p:cNvSpPr txBox="1"/>
          <p:nvPr/>
        </p:nvSpPr>
        <p:spPr>
          <a:xfrm>
            <a:off x="1143000" y="224028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 it   ·   7 min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143000" y="2569464"/>
            <a:ext cx="74980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sheets. Be the Worst Genie Ever on page 2 of your partner's sheet: say each twist out loud, check the boxes, write your best one. Swap back.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502920" y="3337560"/>
            <a:ext cx="457200" cy="457200"/>
          </a:xfrm>
          <a:prstGeom prst="ellipse">
            <a:avLst/>
          </a:prstGeom>
          <a:solidFill>
            <a:srgbClr val="FFB020"/>
          </a:solidFill>
          <a:ln w="12700">
            <a:solidFill>
              <a:srgbClr val="FFB020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02920" y="3337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4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1143000" y="3291840"/>
            <a:ext cx="7498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Showcase   ·   3 min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143000" y="3621024"/>
            <a:ext cx="74980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three before-and-afters read aloud. With devices: run the best one live and say what came out right and what came out wrong.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SKILLS · AI LITERACY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2668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11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502920"/>
            <a:ext cx="8138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Genie-Proof Checklist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594360" y="1188720"/>
            <a:ext cx="7955280" cy="3406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 — Says what they want AND who it's for?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— Gives at least 2 rules (length, tone, format, include / leave out)?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— Says what the finished answer should look like?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Genie test — you tried to twist it and couldn't? ✓ = genie-proof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SKILLS · AI LITERACY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2668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680960" y="146304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4141F"/>
          </a:solidFill>
          <a:ln w="15875">
            <a:solidFill>
              <a:srgbClr val="FFB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0" y="14630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MIN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457200"/>
            <a:ext cx="1005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11000" dirty="0"/>
          </a:p>
        </p:txBody>
      </p:sp>
      <p:sp>
        <p:nvSpPr>
          <p:cNvPr id="8" name="Text 5"/>
          <p:cNvSpPr txBox="1"/>
          <p:nvPr/>
        </p:nvSpPr>
        <p:spPr>
          <a:xfrm>
            <a:off x="1554480" y="685800"/>
            <a:ext cx="7086600" cy="22672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Genies are tricksters.</a:t>
            </a:r>
            <a:endParaRPr lang="en-US" sz="2800" dirty="0"/>
          </a:p>
        </p:txBody>
      </p:sp>
      <p:sp>
        <p:nvSpPr>
          <p:cNvPr id="9" name="Text 6"/>
          <p:cNvSpPr txBox="1"/>
          <p:nvPr/>
        </p:nvSpPr>
        <p:spPr>
          <a:xfrm>
            <a:off x="1554480" y="3090215"/>
            <a:ext cx="7086600" cy="15046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can grant your wish with made-up facts — and sound completely sure. Anything checkable — a name, a date, a number — gets checked somewhere real before you use it.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SKILLS · AI LITERACY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2668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7680960" y="146304"/>
            <a:ext cx="960120" cy="310896"/>
          </a:xfrm>
          <a:prstGeom prst="roundRect">
            <a:avLst>
              <a:gd name="adj" fmla="val 50000"/>
            </a:avLst>
          </a:prstGeom>
          <a:solidFill>
            <a:srgbClr val="14141F"/>
          </a:solidFill>
          <a:ln w="15875">
            <a:solidFill>
              <a:srgbClr val="FFB02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680960" y="146304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MIN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50292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Exit Ticket — Last Check (your own sheet, page 2)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594360" y="1188720"/>
            <a:ext cx="7955280" cy="3406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 Write one genie-proof prompt you could really use this week for another class — P, R and O.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Then cover all but your first five words: if that was the whole wish, what would the genie hand back?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 Read the genie's black-hole answer. Which sentence would you double-check?</a:t>
            </a:r>
            <a:endParaRPr lang="en-US" sz="1800" dirty="0"/>
          </a:p>
          <a:p>
            <a:pPr marL="342900" indent="-342900">
              <a:spcAft>
                <a:spcPts val="800"/>
              </a:spcAft>
              <a:buSzPct val="100000"/>
              <a:buChar char="■"/>
            </a:pPr>
            <a:r>
              <a:rPr lang="en-US" sz="18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Write that sentence — and where you would check it (a real source).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4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01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SKILLS · AI LITERACY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7726680" y="47594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9A9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11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7132320" y="-1097280"/>
            <a:ext cx="3291840" cy="3291840"/>
          </a:xfrm>
          <a:prstGeom prst="ellipse">
            <a:avLst/>
          </a:prstGeom>
          <a:solidFill>
            <a:srgbClr val="262648"/>
          </a:solidFill>
          <a:ln w="12700">
            <a:solidFill>
              <a:srgbClr val="26264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02920" y="1097280"/>
            <a:ext cx="66751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B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AI to think WITH you, not FOR you.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3200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8E8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honest with yourself: if the genie does your homework, your name is on a wish you never earned — and you'd know it.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Future Skills Series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to Talk to AI — Slides</dc:title>
  <dc:subject>PptxGenJS Presentation</dc:subject>
  <dc:creator>Future Skills Series</dc:creator>
  <cp:lastModifiedBy>Future Skills Series</cp:lastModifiedBy>
  <cp:revision>1</cp:revision>
  <dcterms:created xsi:type="dcterms:W3CDTF">2026-09-12T06:40:58Z</dcterms:created>
  <dcterms:modified xsi:type="dcterms:W3CDTF">2026-09-12T06:40:58Z</dcterms:modified>
</cp:coreProperties>
</file>
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this slide while students settle. Worksheet: The Fact Desk, one per student. Fully unplugged — devices only add.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aloud, smooth and confident, like a news anchor: "Our solar system has eight planets orbiting one star, the Sun. The closest planet to the Sun is Venus, which is also the hottest. Mars is called the Red Planet because rusty iron dust covers its surface. Saturn is famous for its rings — it is the only planet in our solar system that has them. Sunlight takes about eight minutes to reach Earth." Then ask for the vote: "This is going in tomorrow's paper. Print it?" Most classes vote print. Do NOT reveal yet — advance to the question slide. If the room votes HOLD, ask which sentence they doubt — most name Saturn and miss Venus. If a kid names Venus instantly: "Hold that — write it down. We vote first, then we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Mercury is closest to the Sun (Venus really is the hottest — the half-truth makes it slippery), and Saturn isn't alone: Jupiter, Uranus, and Neptune have faint rings too. Bridge: "That paragraph sounded right because it was SMOOTH, not because it was TRUE. AI talks like that all the time — it predicts likely words, it doesn't check them. Today you're the fact desk: nothing runs until you clear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it happens (3 min). Say the quote, then the sub. If your class did the genie lesson: same trickster, new disguise. If someone asks "so is AI always wrong?": "No — it's right a lot. That's what makes it dangerous: you can't tell by the tone. So we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the four steps on the board as you go. Model steps 1–2 on the warm-up paragraph: underline "eight planets," "Venus," "Mars," "Saturn," "eight minutes" — then rank. Which claims would embarrass the paper most if wrong? Those get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instinct is to ask the AI again. Name it as the trap before the activity. With devices: show a new search tab for one CHECK claim from the warm-up.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plainly and move on. This is the line students quote back all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Deja's note is at the top of the worksheet: no story gets printed until the desk checks it. Draft #2 is Theo's quiz page; Draft #3 is Marcus's invention feature. Play the editor, not the answer key — when a desk asks "is this one true?", answer "that's a checkable claim — where's your second source?" Keep deadline energy: "Presses roll in five!" ANSWER KEY (notes only): #1 — first crewed Moon landing was 1969, not 1959 (pushback to expect: the uncrewed probe Luna 2 reached the Moon in 1959 — credit it, but "astronauts landed" is still false); the Moon reflects sunlight, it makes none of its own; its ending (brightest night-sky object) is true for the wrong reason. Verdict FIX. #2 — Everest is in the Himalayas in Asia, not the Andes; Australia's capital is Canberra, not Sydney; the three-continents ending no longer follows. Verdict FIX. #3 — Alexander Graham Bell patented the telephone in 1876, not Edison; the Edison quote is fabricated for this exercise and has no source. Verdict KILL. No draft earns RUN today — tell the class that's realistic. Call the swap at the 6-minute mark of Round 2: sheets cross the desk, each partner adds one claim the owner missed, then sheets go straight back. Early finishers: the Extension — write a smooth passage with one planted error and trade. Support: Drafts #1–2 only, hint "each draft hides two false facts (plus a shaky 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during both rounds. Watch for the two failure modes: the trusting desk clears everything ("it sounded right") — send them back to step 1; the paranoid desk kills everything ("it's all sus") — that's what RANK is for. Score the evidence, not the stamp.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the fabricated quote in Draft #3 to be named hardest — many students treat quotation marks as proof. Why is a fabricated quote more dangerous than a wrong date? A date is easy to check; a quote borrows a real person's credibility.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Bottom of the worksheet. Collect; the Teacher Guide has the scoring key. Full credit on #1 names the mechanism (predicts likely words, doesn't check them). Full credit on #2 names a specific second source — "Google it" gets the push-back: "Google shows you ten sources. Which one, and why that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this. Next in the unit: Teach AI Your Taste (Lesson 4 — in the unit bundle, or sold separately) — using AI as an editor on your own writing without letting it take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1 / 12</a:t>
            </a:r>
            <a:endParaRPr lang="en-US" sz="900" dirty="0"/>
          </a:p>
        </p:txBody>
      </p:sp>
      <p:pic>
        <p:nvPicPr>
          <p:cNvPr id="5" name="Image 0" descr="/home/user/tptphi/products/ai-fact-check-lab/dist/Hallucination Hunters - Cover.png">    </p:cNvPr>
          <p:cNvPicPr>
            <a:picLocks noChangeAspect="1"/>
          </p:cNvPicPr>
          <p:nvPr/>
        </p:nvPicPr>
        <p:blipFill>
          <a:blip r:embed="rId1"/>
          <a:stretch>
            <a:fillRect/>
          </a:stretch>
        </p:blipFill>
        <p:spPr>
          <a:xfrm>
            <a:off x="5532120" y="605790"/>
            <a:ext cx="3108960" cy="4023360"/>
          </a:xfrm>
          <a:prstGeom prst="ellipse">
            <a:avLst/>
          </a:prstGeom>
        </p:spPr>
      </p:pic>
      <p:sp>
        <p:nvSpPr>
          <p:cNvPr id="6" name="Text 2"/>
          <p:cNvSpPr txBox="1"/>
          <p:nvPr/>
        </p:nvSpPr>
        <p:spPr>
          <a:xfrm>
            <a:off x="502920" y="1051560"/>
            <a:ext cx="4617720" cy="274320"/>
          </a:xfrm>
          <a:prstGeom prst="rect">
            <a:avLst/>
          </a:prstGeom>
          <a:noFill/>
          <a:ln/>
        </p:spPr>
        <p:txBody>
          <a:bodyPr wrap="square" lIns="0" tIns="0" rIns="0" bIns="0" rtlCol="0" anchor="t"/>
          <a:lstStyle/>
          <a:p>
            <a:pPr indent="0" marL="0">
              <a:buNone/>
            </a:pPr>
            <a:r>
              <a:rPr lang="en-US" sz="1100" b="1" spc="300" kern="0" dirty="0">
                <a:solidFill>
                  <a:srgbClr val="A9A9C4"/>
                </a:solidFill>
                <a:latin typeface="Arial" pitchFamily="34" charset="0"/>
                <a:ea typeface="Arial" pitchFamily="34" charset="-122"/>
                <a:cs typeface="Arial" pitchFamily="34" charset="-120"/>
              </a:rPr>
              <a:t>THE FACT DESK LESSON</a:t>
            </a:r>
            <a:endParaRPr lang="en-US" sz="1100" dirty="0"/>
          </a:p>
        </p:txBody>
      </p:sp>
      <p:sp>
        <p:nvSpPr>
          <p:cNvPr id="7" name="Text 3"/>
          <p:cNvSpPr txBox="1"/>
          <p:nvPr/>
        </p:nvSpPr>
        <p:spPr>
          <a:xfrm>
            <a:off x="502920" y="1371600"/>
            <a:ext cx="4617720" cy="13716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Hallucination Hunters</a:t>
            </a:r>
            <a:endParaRPr lang="en-US" sz="4000" dirty="0"/>
          </a:p>
        </p:txBody>
      </p:sp>
      <p:sp>
        <p:nvSpPr>
          <p:cNvPr id="8" name="Text 4"/>
          <p:cNvSpPr txBox="1"/>
          <p:nvPr/>
        </p:nvSpPr>
        <p:spPr>
          <a:xfrm>
            <a:off x="502920" y="2834640"/>
            <a:ext cx="4617720" cy="914400"/>
          </a:xfrm>
          <a:prstGeom prst="rect">
            <a:avLst/>
          </a:prstGeom>
          <a:noFill/>
          <a:ln/>
        </p:spPr>
        <p:txBody>
          <a:bodyPr wrap="square" lIns="0" tIns="0" rIns="0" bIns="0" rtlCol="0" anchor="t"/>
          <a:lstStyle/>
          <a:p>
            <a:pPr indent="0" marL="0">
              <a:buNone/>
            </a:pPr>
            <a:r>
              <a:rPr lang="en-US" sz="1400" dirty="0">
                <a:solidFill>
                  <a:srgbClr val="E8E8F5"/>
                </a:solidFill>
                <a:latin typeface="Arial" pitchFamily="34" charset="0"/>
                <a:ea typeface="Arial" pitchFamily="34" charset="-122"/>
                <a:cs typeface="Arial" pitchFamily="34" charset="-120"/>
              </a:rPr>
              <a:t>AI predicts likely words, not checked ones — so it can be completely wrong in a totally confident voice. Today you're the fact desk: nothing runs until you clear it.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2 / 12</a:t>
            </a:r>
            <a:endParaRPr lang="en-US" sz="900" dirty="0"/>
          </a:p>
        </p:txBody>
      </p:sp>
      <p:sp>
        <p:nvSpPr>
          <p:cNvPr id="4" name="Shape 2"/>
          <p:cNvSpPr/>
          <p:nvPr/>
        </p:nvSpPr>
        <p:spPr>
          <a:xfrm>
            <a:off x="7680960" y="146304"/>
            <a:ext cx="960120" cy="310896"/>
          </a:xfrm>
          <a:prstGeom prst="roundRect">
            <a:avLst>
              <a:gd name="adj" fmla="val 50000"/>
            </a:avLst>
          </a:prstGeom>
          <a:solidFill>
            <a:srgbClr val="14141F"/>
          </a:solidFill>
          <a:ln w="15875">
            <a:solidFill>
              <a:srgbClr val="FFB020"/>
            </a:solidFill>
            <a:prstDash val="solid"/>
          </a:ln>
        </p:spPr>
      </p:sp>
      <p:sp>
        <p:nvSpPr>
          <p:cNvPr id="5" name="Text 3"/>
          <p:cNvSpPr txBox="1"/>
          <p:nvPr/>
        </p:nvSpPr>
        <p:spPr>
          <a:xfrm>
            <a:off x="7680960" y="146304"/>
            <a:ext cx="960120" cy="310896"/>
          </a:xfrm>
          <a:prstGeom prst="rect">
            <a:avLst/>
          </a:prstGeom>
          <a:noFill/>
          <a:ln/>
        </p:spPr>
        <p:txBody>
          <a:bodyPr wrap="square" lIns="0" tIns="0" rIns="0" bIns="0" rtlCol="0" anchor="ctr"/>
          <a:lstStyle/>
          <a:p>
            <a:pPr algn="ctr" indent="0" marL="0">
              <a:buNone/>
            </a:pPr>
            <a:r>
              <a:rPr lang="en-US" sz="1000" b="1" dirty="0">
                <a:solidFill>
                  <a:srgbClr val="FFB020"/>
                </a:solidFill>
                <a:latin typeface="Arial" pitchFamily="34" charset="0"/>
                <a:ea typeface="Arial" pitchFamily="34" charset="-122"/>
                <a:cs typeface="Arial" pitchFamily="34" charset="-120"/>
              </a:rPr>
              <a:t>6 MIN</a:t>
            </a:r>
            <a:endParaRPr lang="en-US" sz="1000" dirty="0"/>
          </a:p>
        </p:txBody>
      </p:sp>
      <p:sp>
        <p:nvSpPr>
          <p:cNvPr id="6" name="Text 4"/>
          <p:cNvSpPr txBox="1"/>
          <p:nvPr/>
        </p:nvSpPr>
        <p:spPr>
          <a:xfrm>
            <a:off x="502920" y="502920"/>
            <a:ext cx="7040880" cy="548640"/>
          </a:xfrm>
          <a:prstGeom prst="rect">
            <a:avLst/>
          </a:prstGeom>
          <a:noFill/>
          <a:ln/>
        </p:spPr>
        <p:txBody>
          <a:bodyPr wrap="square" lIns="0" tIns="0" rIns="0" bIns="0" rtlCol="0" anchor="ctr"/>
          <a:lstStyle/>
          <a:p>
            <a:pPr indent="0" marL="0">
              <a:buNone/>
            </a:pPr>
            <a:r>
              <a:rPr lang="en-US" sz="2500" b="1" dirty="0">
                <a:solidFill>
                  <a:srgbClr val="FFB020"/>
                </a:solidFill>
                <a:latin typeface="Arial" pitchFamily="34" charset="0"/>
                <a:ea typeface="Arial" pitchFamily="34" charset="-122"/>
                <a:cs typeface="Arial" pitchFamily="34" charset="-120"/>
              </a:rPr>
              <a:t>Warm-Up — The Story That Almost Ran</a:t>
            </a:r>
            <a:endParaRPr lang="en-US" sz="2500" dirty="0"/>
          </a:p>
        </p:txBody>
      </p:sp>
      <p:sp>
        <p:nvSpPr>
          <p:cNvPr id="8" name="Text 5"/>
          <p:cNvSpPr txBox="1"/>
          <p:nvPr/>
        </p:nvSpPr>
        <p:spPr>
          <a:xfrm>
            <a:off x="502920" y="1188720"/>
            <a:ext cx="8138160" cy="8229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This is going in tomorrow's paper. Print it?</a:t>
            </a:r>
            <a:endParaRPr lang="en-US" sz="2400" dirty="0"/>
          </a:p>
        </p:txBody>
      </p:sp>
      <p:sp>
        <p:nvSpPr>
          <p:cNvPr id="9" name="Shape 6"/>
          <p:cNvSpPr/>
          <p:nvPr/>
        </p:nvSpPr>
        <p:spPr>
          <a:xfrm>
            <a:off x="502920" y="2103120"/>
            <a:ext cx="8138160" cy="658368"/>
          </a:xfrm>
          <a:prstGeom prst="roundRect">
            <a:avLst>
              <a:gd name="adj" fmla="val 16667"/>
            </a:avLst>
          </a:prstGeom>
          <a:solidFill>
            <a:srgbClr val="262648"/>
          </a:solidFill>
          <a:ln w="12700">
            <a:solidFill>
              <a:srgbClr val="262648"/>
            </a:solidFill>
            <a:prstDash val="solid"/>
          </a:ln>
        </p:spPr>
      </p:sp>
      <p:sp>
        <p:nvSpPr>
          <p:cNvPr id="10" name="Text 7"/>
          <p:cNvSpPr txBox="1"/>
          <p:nvPr/>
        </p:nvSpPr>
        <p:spPr>
          <a:xfrm>
            <a:off x="731520" y="2103120"/>
            <a:ext cx="7680960" cy="658368"/>
          </a:xfrm>
          <a:prstGeom prst="rect">
            <a:avLst/>
          </a:prstGeom>
          <a:noFill/>
          <a:ln/>
        </p:spPr>
        <p:txBody>
          <a:bodyPr wrap="square" lIns="0" tIns="0" rIns="0" bIns="0" rtlCol="0" anchor="ctr"/>
          <a:lstStyle/>
          <a:p>
            <a:pPr indent="0" marL="0">
              <a:buNone/>
            </a:pPr>
            <a:r>
              <a:rPr lang="en-US" sz="1500" dirty="0">
                <a:solidFill>
                  <a:srgbClr val="E8E8F5"/>
                </a:solidFill>
                <a:latin typeface="Arial" pitchFamily="34" charset="0"/>
                <a:ea typeface="Arial" pitchFamily="34" charset="-122"/>
                <a:cs typeface="Arial" pitchFamily="34" charset="-120"/>
              </a:rPr>
              <a:t>Listen once, like an editor. No notes yet — just your first feeling.</a:t>
            </a:r>
            <a:endParaRPr lang="en-US" sz="1500" dirty="0"/>
          </a:p>
        </p:txBody>
      </p:sp>
      <p:sp>
        <p:nvSpPr>
          <p:cNvPr id="11" name="Shape 8"/>
          <p:cNvSpPr/>
          <p:nvPr/>
        </p:nvSpPr>
        <p:spPr>
          <a:xfrm>
            <a:off x="502920" y="2852928"/>
            <a:ext cx="8138160" cy="658368"/>
          </a:xfrm>
          <a:prstGeom prst="roundRect">
            <a:avLst>
              <a:gd name="adj" fmla="val 16667"/>
            </a:avLst>
          </a:prstGeom>
          <a:solidFill>
            <a:srgbClr val="262648"/>
          </a:solidFill>
          <a:ln w="12700">
            <a:solidFill>
              <a:srgbClr val="262648"/>
            </a:solidFill>
            <a:prstDash val="solid"/>
          </a:ln>
        </p:spPr>
      </p:sp>
      <p:sp>
        <p:nvSpPr>
          <p:cNvPr id="12" name="Text 9"/>
          <p:cNvSpPr txBox="1"/>
          <p:nvPr/>
        </p:nvSpPr>
        <p:spPr>
          <a:xfrm>
            <a:off x="731520" y="2852928"/>
            <a:ext cx="7680960" cy="658368"/>
          </a:xfrm>
          <a:prstGeom prst="rect">
            <a:avLst/>
          </a:prstGeom>
          <a:noFill/>
          <a:ln/>
        </p:spPr>
        <p:txBody>
          <a:bodyPr wrap="square" lIns="0" tIns="0" rIns="0" bIns="0" rtlCol="0" anchor="ctr"/>
          <a:lstStyle/>
          <a:p>
            <a:pPr indent="0" marL="0">
              <a:buNone/>
            </a:pPr>
            <a:r>
              <a:rPr lang="en-US" sz="1500" dirty="0">
                <a:solidFill>
                  <a:srgbClr val="E8E8F5"/>
                </a:solidFill>
                <a:latin typeface="Arial" pitchFamily="34" charset="0"/>
                <a:ea typeface="Arial" pitchFamily="34" charset="-122"/>
                <a:cs typeface="Arial" pitchFamily="34" charset="-120"/>
              </a:rPr>
              <a:t>Vote: PRINT IT / HOLD IT</a:t>
            </a:r>
            <a:endParaRPr lang="en-US" sz="1500" dirty="0"/>
          </a:p>
        </p:txBody>
      </p:sp>
      <p:sp>
        <p:nvSpPr>
          <p:cNvPr id="13" name="Shape 10"/>
          <p:cNvSpPr/>
          <p:nvPr/>
        </p:nvSpPr>
        <p:spPr>
          <a:xfrm>
            <a:off x="502920" y="3602736"/>
            <a:ext cx="8138160" cy="658368"/>
          </a:xfrm>
          <a:prstGeom prst="roundRect">
            <a:avLst>
              <a:gd name="adj" fmla="val 16667"/>
            </a:avLst>
          </a:prstGeom>
          <a:solidFill>
            <a:srgbClr val="262648"/>
          </a:solidFill>
          <a:ln w="12700">
            <a:solidFill>
              <a:srgbClr val="262648"/>
            </a:solidFill>
            <a:prstDash val="solid"/>
          </a:ln>
        </p:spPr>
      </p:sp>
      <p:sp>
        <p:nvSpPr>
          <p:cNvPr id="14" name="Text 11"/>
          <p:cNvSpPr txBox="1"/>
          <p:nvPr/>
        </p:nvSpPr>
        <p:spPr>
          <a:xfrm>
            <a:off x="731520" y="3602736"/>
            <a:ext cx="7680960" cy="658368"/>
          </a:xfrm>
          <a:prstGeom prst="rect">
            <a:avLst/>
          </a:prstGeom>
          <a:noFill/>
          <a:ln/>
        </p:spPr>
        <p:txBody>
          <a:bodyPr wrap="square" lIns="0" tIns="0" rIns="0" bIns="0" rtlCol="0" anchor="ctr"/>
          <a:lstStyle/>
          <a:p>
            <a:pPr indent="0" marL="0">
              <a:buNone/>
            </a:pPr>
            <a:r>
              <a:rPr lang="en-US" sz="1500" dirty="0">
                <a:solidFill>
                  <a:srgbClr val="E8E8F5"/>
                </a:solidFill>
                <a:latin typeface="Arial" pitchFamily="34" charset="0"/>
                <a:ea typeface="Arial" pitchFamily="34" charset="-122"/>
                <a:cs typeface="Arial" pitchFamily="34" charset="-120"/>
              </a:rPr>
              <a:t>Then we find out what the room missed.</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3 / 12</a:t>
            </a:r>
            <a:endParaRPr lang="en-US" sz="900" dirty="0"/>
          </a:p>
        </p:txBody>
      </p:sp>
      <p:sp>
        <p:nvSpPr>
          <p:cNvPr id="4" name="Text 2"/>
          <p:cNvSpPr txBox="1"/>
          <p:nvPr/>
        </p:nvSpPr>
        <p:spPr>
          <a:xfrm>
            <a:off x="502920" y="502920"/>
            <a:ext cx="8138160" cy="548640"/>
          </a:xfrm>
          <a:prstGeom prst="rect">
            <a:avLst/>
          </a:prstGeom>
          <a:noFill/>
          <a:ln/>
        </p:spPr>
        <p:txBody>
          <a:bodyPr wrap="square" lIns="0" tIns="0" rIns="0" bIns="0" rtlCol="0" anchor="ctr"/>
          <a:lstStyle/>
          <a:p>
            <a:pPr indent="0" marL="0">
              <a:buNone/>
            </a:pPr>
            <a:r>
              <a:rPr lang="en-US" sz="2600" b="1" dirty="0">
                <a:solidFill>
                  <a:srgbClr val="FFB020"/>
                </a:solidFill>
                <a:latin typeface="Arial" pitchFamily="34" charset="0"/>
                <a:ea typeface="Arial" pitchFamily="34" charset="-122"/>
                <a:cs typeface="Arial" pitchFamily="34" charset="-120"/>
              </a:rPr>
              <a:t>Two of those sentences were false.</a:t>
            </a:r>
            <a:endParaRPr lang="en-US" sz="2600" dirty="0"/>
          </a:p>
        </p:txBody>
      </p:sp>
      <p:sp>
        <p:nvSpPr>
          <p:cNvPr id="6" name="Text 3"/>
          <p:cNvSpPr txBox="1"/>
          <p:nvPr/>
        </p:nvSpPr>
        <p:spPr>
          <a:xfrm>
            <a:off x="502920" y="1097280"/>
            <a:ext cx="1097280" cy="1737360"/>
          </a:xfrm>
          <a:prstGeom prst="rect">
            <a:avLst/>
          </a:prstGeom>
          <a:noFill/>
          <a:ln/>
        </p:spPr>
        <p:txBody>
          <a:bodyPr wrap="square" lIns="0" tIns="0" rIns="0" bIns="0" rtlCol="0" anchor="t"/>
          <a:lstStyle/>
          <a:p>
            <a:pPr indent="0" marL="0">
              <a:buNone/>
            </a:pPr>
            <a:r>
              <a:rPr lang="en-US" sz="9600" b="1" dirty="0">
                <a:solidFill>
                  <a:srgbClr val="FFB020"/>
                </a:solidFill>
                <a:latin typeface="Arial" pitchFamily="34" charset="0"/>
                <a:ea typeface="Arial" pitchFamily="34" charset="-122"/>
                <a:cs typeface="Arial" pitchFamily="34" charset="-120"/>
              </a:rPr>
              <a:t>?</a:t>
            </a:r>
            <a:endParaRPr lang="en-US" sz="9600" dirty="0"/>
          </a:p>
        </p:txBody>
      </p:sp>
      <p:sp>
        <p:nvSpPr>
          <p:cNvPr id="7" name="Text 4"/>
          <p:cNvSpPr txBox="1"/>
          <p:nvPr/>
        </p:nvSpPr>
        <p:spPr>
          <a:xfrm>
            <a:off x="1737360" y="1188720"/>
            <a:ext cx="6903720" cy="1873377"/>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Which two — and why did the whole thing sound true?</a:t>
            </a:r>
            <a:endParaRPr lang="en-US" sz="3000" dirty="0"/>
          </a:p>
        </p:txBody>
      </p:sp>
      <p:sp>
        <p:nvSpPr>
          <p:cNvPr id="8" name="Text 5"/>
          <p:cNvSpPr txBox="1"/>
          <p:nvPr/>
        </p:nvSpPr>
        <p:spPr>
          <a:xfrm>
            <a:off x="1737360" y="3199257"/>
            <a:ext cx="6903720" cy="1395603"/>
          </a:xfrm>
          <a:prstGeom prst="rect">
            <a:avLst/>
          </a:prstGeom>
          <a:noFill/>
          <a:ln/>
        </p:spPr>
        <p:txBody>
          <a:bodyPr wrap="square" lIns="0" tIns="0" rIns="0" bIns="0" rtlCol="0" anchor="t"/>
          <a:lstStyle/>
          <a:p>
            <a:pPr indent="0" marL="0">
              <a:buNone/>
            </a:pPr>
            <a:r>
              <a:rPr lang="en-US" sz="1600" dirty="0">
                <a:solidFill>
                  <a:srgbClr val="A9A9C4"/>
                </a:solidFill>
                <a:latin typeface="Arial" pitchFamily="34" charset="0"/>
                <a:ea typeface="Arial" pitchFamily="34" charset="-122"/>
                <a:cs typeface="Arial" pitchFamily="34" charset="-120"/>
              </a:rPr>
              <a:t>Smooth is not the same as true. That paragraph was written to sound like an expert.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4 / 12</a:t>
            </a:r>
            <a:endParaRPr lang="en-US" sz="900" dirty="0"/>
          </a:p>
        </p:txBody>
      </p:sp>
      <p:sp>
        <p:nvSpPr>
          <p:cNvPr id="4" name="Shape 2"/>
          <p:cNvSpPr/>
          <p:nvPr/>
        </p:nvSpPr>
        <p:spPr>
          <a:xfrm>
            <a:off x="7680960" y="146304"/>
            <a:ext cx="960120" cy="310896"/>
          </a:xfrm>
          <a:prstGeom prst="roundRect">
            <a:avLst>
              <a:gd name="adj" fmla="val 50000"/>
            </a:avLst>
          </a:prstGeom>
          <a:solidFill>
            <a:srgbClr val="14141F"/>
          </a:solidFill>
          <a:ln w="15875">
            <a:solidFill>
              <a:srgbClr val="FFB020"/>
            </a:solidFill>
            <a:prstDash val="solid"/>
          </a:ln>
        </p:spPr>
      </p:sp>
      <p:sp>
        <p:nvSpPr>
          <p:cNvPr id="5" name="Text 3"/>
          <p:cNvSpPr txBox="1"/>
          <p:nvPr/>
        </p:nvSpPr>
        <p:spPr>
          <a:xfrm>
            <a:off x="7680960" y="146304"/>
            <a:ext cx="960120" cy="310896"/>
          </a:xfrm>
          <a:prstGeom prst="rect">
            <a:avLst/>
          </a:prstGeom>
          <a:noFill/>
          <a:ln/>
        </p:spPr>
        <p:txBody>
          <a:bodyPr wrap="square" lIns="0" tIns="0" rIns="0" bIns="0" rtlCol="0" anchor="ctr"/>
          <a:lstStyle/>
          <a:p>
            <a:pPr algn="ctr" indent="0" marL="0">
              <a:buNone/>
            </a:pPr>
            <a:r>
              <a:rPr lang="en-US" sz="1000" b="1" dirty="0">
                <a:solidFill>
                  <a:srgbClr val="FFB020"/>
                </a:solidFill>
                <a:latin typeface="Arial" pitchFamily="34" charset="0"/>
                <a:ea typeface="Arial" pitchFamily="34" charset="-122"/>
                <a:cs typeface="Arial" pitchFamily="34" charset="-120"/>
              </a:rPr>
              <a:t>3 MIN</a:t>
            </a:r>
            <a:endParaRPr lang="en-US" sz="1000" dirty="0"/>
          </a:p>
        </p:txBody>
      </p:sp>
      <p:sp>
        <p:nvSpPr>
          <p:cNvPr id="7" name="Text 4"/>
          <p:cNvSpPr txBox="1"/>
          <p:nvPr/>
        </p:nvSpPr>
        <p:spPr>
          <a:xfrm>
            <a:off x="502920" y="457200"/>
            <a:ext cx="1005840" cy="2011680"/>
          </a:xfrm>
          <a:prstGeom prst="rect">
            <a:avLst/>
          </a:prstGeom>
          <a:noFill/>
          <a:ln/>
        </p:spPr>
        <p:txBody>
          <a:bodyPr wrap="square" lIns="0" tIns="0" rIns="0" bIns="0" rtlCol="0" anchor="t"/>
          <a:lstStyle/>
          <a:p>
            <a:pPr indent="0" marL="0">
              <a:buNone/>
            </a:pPr>
            <a:r>
              <a:rPr lang="en-US" sz="11000" b="1" dirty="0">
                <a:solidFill>
                  <a:srgbClr val="FFB020"/>
                </a:solidFill>
                <a:latin typeface="Arial" pitchFamily="34" charset="0"/>
                <a:ea typeface="Arial" pitchFamily="34" charset="-122"/>
                <a:cs typeface="Arial" pitchFamily="34" charset="-120"/>
              </a:rPr>
              <a:t>“</a:t>
            </a:r>
            <a:endParaRPr lang="en-US" sz="11000" dirty="0"/>
          </a:p>
        </p:txBody>
      </p:sp>
      <p:sp>
        <p:nvSpPr>
          <p:cNvPr id="8" name="Text 5"/>
          <p:cNvSpPr txBox="1"/>
          <p:nvPr/>
        </p:nvSpPr>
        <p:spPr>
          <a:xfrm>
            <a:off x="1554480" y="685800"/>
            <a:ext cx="7086600" cy="2267255"/>
          </a:xfrm>
          <a:prstGeom prst="rect">
            <a:avLst/>
          </a:prstGeom>
          <a:noFill/>
          <a:ln/>
        </p:spPr>
        <p:txBody>
          <a:bodyPr wrap="square" lIns="0" tIns="0" rIns="0" bIns="0" rtlCol="0" anchor="ctr"/>
          <a:lstStyle/>
          <a:p>
            <a:pPr indent="0" marL="0">
              <a:buNone/>
            </a:pPr>
            <a:r>
              <a:rPr lang="en-US" sz="2800" i="1" dirty="0">
                <a:solidFill>
                  <a:srgbClr val="FFFFFF"/>
                </a:solidFill>
                <a:latin typeface="Arial" pitchFamily="34" charset="0"/>
                <a:ea typeface="Arial" pitchFamily="34" charset="-122"/>
                <a:cs typeface="Arial" pitchFamily="34" charset="-120"/>
              </a:rPr>
              <a:t>AI is autocomplete with confidence.</a:t>
            </a:r>
            <a:endParaRPr lang="en-US" sz="2800" dirty="0"/>
          </a:p>
        </p:txBody>
      </p:sp>
      <p:sp>
        <p:nvSpPr>
          <p:cNvPr id="9" name="Text 6"/>
          <p:cNvSpPr txBox="1"/>
          <p:nvPr/>
        </p:nvSpPr>
        <p:spPr>
          <a:xfrm>
            <a:off x="1554480" y="3090215"/>
            <a:ext cx="7086600" cy="1504645"/>
          </a:xfrm>
          <a:prstGeom prst="rect">
            <a:avLst/>
          </a:prstGeom>
          <a:noFill/>
          <a:ln/>
        </p:spPr>
        <p:txBody>
          <a:bodyPr wrap="square" lIns="0" tIns="0" rIns="0" bIns="0" rtlCol="0" anchor="t"/>
          <a:lstStyle/>
          <a:p>
            <a:pPr indent="0" marL="0">
              <a:buNone/>
            </a:pPr>
            <a:r>
              <a:rPr lang="en-US" sz="1500" dirty="0">
                <a:solidFill>
                  <a:srgbClr val="A9A9C4"/>
                </a:solidFill>
                <a:latin typeface="Arial" pitchFamily="34" charset="0"/>
                <a:ea typeface="Arial" pitchFamily="34" charset="-122"/>
                <a:cs typeface="Arial" pitchFamily="34" charset="-120"/>
              </a:rPr>
              <a:t>It predicts the next likely word, like your phone guessing your next text. When the likely words aren't true, it says the wrong thing in the same confident voice. That's a hallucination.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5 / 12</a:t>
            </a:r>
            <a:endParaRPr lang="en-US" sz="900" dirty="0"/>
          </a:p>
        </p:txBody>
      </p:sp>
      <p:sp>
        <p:nvSpPr>
          <p:cNvPr id="4" name="Shape 2"/>
          <p:cNvSpPr/>
          <p:nvPr/>
        </p:nvSpPr>
        <p:spPr>
          <a:xfrm>
            <a:off x="7680960" y="146304"/>
            <a:ext cx="960120" cy="310896"/>
          </a:xfrm>
          <a:prstGeom prst="roundRect">
            <a:avLst>
              <a:gd name="adj" fmla="val 50000"/>
            </a:avLst>
          </a:prstGeom>
          <a:solidFill>
            <a:srgbClr val="14141F"/>
          </a:solidFill>
          <a:ln w="15875">
            <a:solidFill>
              <a:srgbClr val="FFB020"/>
            </a:solidFill>
            <a:prstDash val="solid"/>
          </a:ln>
        </p:spPr>
      </p:sp>
      <p:sp>
        <p:nvSpPr>
          <p:cNvPr id="5" name="Text 3"/>
          <p:cNvSpPr txBox="1"/>
          <p:nvPr/>
        </p:nvSpPr>
        <p:spPr>
          <a:xfrm>
            <a:off x="7680960" y="146304"/>
            <a:ext cx="960120" cy="310896"/>
          </a:xfrm>
          <a:prstGeom prst="rect">
            <a:avLst/>
          </a:prstGeom>
          <a:noFill/>
          <a:ln/>
        </p:spPr>
        <p:txBody>
          <a:bodyPr wrap="square" lIns="0" tIns="0" rIns="0" bIns="0" rtlCol="0" anchor="ctr"/>
          <a:lstStyle/>
          <a:p>
            <a:pPr algn="ctr" indent="0" marL="0">
              <a:buNone/>
            </a:pPr>
            <a:r>
              <a:rPr lang="en-US" sz="1000" b="1" dirty="0">
                <a:solidFill>
                  <a:srgbClr val="FFB020"/>
                </a:solidFill>
                <a:latin typeface="Arial" pitchFamily="34" charset="0"/>
                <a:ea typeface="Arial" pitchFamily="34" charset="-122"/>
                <a:cs typeface="Arial" pitchFamily="34" charset="-120"/>
              </a:rPr>
              <a:t>7 MIN</a:t>
            </a:r>
            <a:endParaRPr lang="en-US" sz="1000" dirty="0"/>
          </a:p>
        </p:txBody>
      </p:sp>
      <p:sp>
        <p:nvSpPr>
          <p:cNvPr id="6" name="Text 4"/>
          <p:cNvSpPr txBox="1"/>
          <p:nvPr/>
        </p:nvSpPr>
        <p:spPr>
          <a:xfrm>
            <a:off x="502920" y="502920"/>
            <a:ext cx="7040880" cy="548640"/>
          </a:xfrm>
          <a:prstGeom prst="rect">
            <a:avLst/>
          </a:prstGeom>
          <a:noFill/>
          <a:ln/>
        </p:spPr>
        <p:txBody>
          <a:bodyPr wrap="square" lIns="0" tIns="0" rIns="0" bIns="0" rtlCol="0" anchor="ctr"/>
          <a:lstStyle/>
          <a:p>
            <a:pPr indent="0" marL="0">
              <a:buNone/>
            </a:pPr>
            <a:r>
              <a:rPr lang="en-US" sz="2600" b="1" dirty="0">
                <a:solidFill>
                  <a:srgbClr val="FFB020"/>
                </a:solidFill>
                <a:latin typeface="Arial" pitchFamily="34" charset="0"/>
                <a:ea typeface="Arial" pitchFamily="34" charset="-122"/>
                <a:cs typeface="Arial" pitchFamily="34" charset="-120"/>
              </a:rPr>
              <a:t>The Fact-Desk Method</a:t>
            </a:r>
            <a:endParaRPr lang="en-US" sz="2600" dirty="0"/>
          </a:p>
        </p:txBody>
      </p:sp>
      <p:sp>
        <p:nvSpPr>
          <p:cNvPr id="8" name="Shape 5"/>
          <p:cNvSpPr/>
          <p:nvPr/>
        </p:nvSpPr>
        <p:spPr>
          <a:xfrm>
            <a:off x="502920" y="1188720"/>
            <a:ext cx="1863090" cy="3406140"/>
          </a:xfrm>
          <a:prstGeom prst="roundRect">
            <a:avLst>
              <a:gd name="adj" fmla="val 6871"/>
            </a:avLst>
          </a:prstGeom>
          <a:solidFill>
            <a:srgbClr val="262648"/>
          </a:solidFill>
          <a:ln w="12700">
            <a:solidFill>
              <a:srgbClr val="262648"/>
            </a:solidFill>
            <a:prstDash val="solid"/>
          </a:ln>
        </p:spPr>
      </p:sp>
      <p:sp>
        <p:nvSpPr>
          <p:cNvPr id="9" name="Shape 6"/>
          <p:cNvSpPr/>
          <p:nvPr/>
        </p:nvSpPr>
        <p:spPr>
          <a:xfrm>
            <a:off x="731520" y="1417320"/>
            <a:ext cx="502920" cy="502920"/>
          </a:xfrm>
          <a:prstGeom prst="ellipse">
            <a:avLst/>
          </a:prstGeom>
          <a:solidFill>
            <a:srgbClr val="FFB020"/>
          </a:solidFill>
          <a:ln w="12700">
            <a:solidFill>
              <a:srgbClr val="FFB020"/>
            </a:solidFill>
            <a:prstDash val="solid"/>
          </a:ln>
        </p:spPr>
      </p:sp>
      <p:sp>
        <p:nvSpPr>
          <p:cNvPr id="10" name="Text 7"/>
          <p:cNvSpPr txBox="1"/>
          <p:nvPr/>
        </p:nvSpPr>
        <p:spPr>
          <a:xfrm>
            <a:off x="731520" y="1417320"/>
            <a:ext cx="502920" cy="502920"/>
          </a:xfrm>
          <a:prstGeom prst="rect">
            <a:avLst/>
          </a:prstGeom>
          <a:noFill/>
          <a:ln/>
        </p:spPr>
        <p:txBody>
          <a:bodyPr wrap="square" lIns="0" tIns="0" rIns="0" bIns="0" rtlCol="0" anchor="ctr"/>
          <a:lstStyle/>
          <a:p>
            <a:pPr algn="ctr" indent="0" marL="0">
              <a:buNone/>
            </a:pPr>
            <a:r>
              <a:rPr lang="en-US" sz="1600" b="1" dirty="0">
                <a:solidFill>
                  <a:srgbClr val="14141F"/>
                </a:solidFill>
                <a:latin typeface="Arial" pitchFamily="34" charset="0"/>
                <a:ea typeface="Arial" pitchFamily="34" charset="-122"/>
                <a:cs typeface="Arial" pitchFamily="34" charset="-120"/>
              </a:rPr>
              <a:t>1</a:t>
            </a:r>
            <a:endParaRPr lang="en-US" sz="1600" dirty="0"/>
          </a:p>
        </p:txBody>
      </p:sp>
      <p:sp>
        <p:nvSpPr>
          <p:cNvPr id="11" name="Text 8"/>
          <p:cNvSpPr txBox="1"/>
          <p:nvPr/>
        </p:nvSpPr>
        <p:spPr>
          <a:xfrm>
            <a:off x="731520" y="2057400"/>
            <a:ext cx="1405890" cy="457200"/>
          </a:xfrm>
          <a:prstGeom prst="rect">
            <a:avLst/>
          </a:prstGeom>
          <a:noFill/>
          <a:ln/>
        </p:spPr>
        <p:txBody>
          <a:bodyPr wrap="square" lIns="0" tIns="0" rIns="0" bIns="0" rtlCol="0" anchor="ctr"/>
          <a:lstStyle/>
          <a:p>
            <a:pPr indent="0" marL="0">
              <a:buNone/>
            </a:pPr>
            <a:r>
              <a:rPr lang="en-US" sz="1500" b="1" dirty="0">
                <a:solidFill>
                  <a:srgbClr val="FFB020"/>
                </a:solidFill>
                <a:latin typeface="Arial" pitchFamily="34" charset="0"/>
                <a:ea typeface="Arial" pitchFamily="34" charset="-122"/>
                <a:cs typeface="Arial" pitchFamily="34" charset="-120"/>
              </a:rPr>
              <a:t>UNDERLINE</a:t>
            </a:r>
            <a:endParaRPr lang="en-US" sz="1500" dirty="0"/>
          </a:p>
        </p:txBody>
      </p:sp>
      <p:sp>
        <p:nvSpPr>
          <p:cNvPr id="12" name="Text 9"/>
          <p:cNvSpPr txBox="1"/>
          <p:nvPr/>
        </p:nvSpPr>
        <p:spPr>
          <a:xfrm>
            <a:off x="731520" y="2560320"/>
            <a:ext cx="1405890" cy="1805940"/>
          </a:xfrm>
          <a:prstGeom prst="rect">
            <a:avLst/>
          </a:prstGeom>
          <a:noFill/>
          <a:ln/>
        </p:spPr>
        <p:txBody>
          <a:bodyPr wrap="square" lIns="0" tIns="0" rIns="0" bIns="0" rtlCol="0" anchor="t"/>
          <a:lstStyle/>
          <a:p>
            <a:pPr indent="0" marL="0">
              <a:buNone/>
            </a:pPr>
            <a:r>
              <a:rPr lang="en-US" sz="1400" dirty="0">
                <a:solidFill>
                  <a:srgbClr val="E8E8F5"/>
                </a:solidFill>
                <a:latin typeface="Arial" pitchFamily="34" charset="0"/>
                <a:ea typeface="Arial" pitchFamily="34" charset="-122"/>
                <a:cs typeface="Arial" pitchFamily="34" charset="-120"/>
              </a:rPr>
              <a:t>Every checkable claim: names, dates, numbers, places, quotes.</a:t>
            </a:r>
            <a:endParaRPr lang="en-US" sz="1400" dirty="0"/>
          </a:p>
        </p:txBody>
      </p:sp>
      <p:sp>
        <p:nvSpPr>
          <p:cNvPr id="13" name="Shape 10"/>
          <p:cNvSpPr/>
          <p:nvPr/>
        </p:nvSpPr>
        <p:spPr>
          <a:xfrm>
            <a:off x="2594610" y="1188720"/>
            <a:ext cx="1863090" cy="3406140"/>
          </a:xfrm>
          <a:prstGeom prst="roundRect">
            <a:avLst>
              <a:gd name="adj" fmla="val 6871"/>
            </a:avLst>
          </a:prstGeom>
          <a:solidFill>
            <a:srgbClr val="262648"/>
          </a:solidFill>
          <a:ln w="12700">
            <a:solidFill>
              <a:srgbClr val="262648"/>
            </a:solidFill>
            <a:prstDash val="solid"/>
          </a:ln>
        </p:spPr>
      </p:sp>
      <p:sp>
        <p:nvSpPr>
          <p:cNvPr id="14" name="Shape 11"/>
          <p:cNvSpPr/>
          <p:nvPr/>
        </p:nvSpPr>
        <p:spPr>
          <a:xfrm>
            <a:off x="2823210" y="1417320"/>
            <a:ext cx="502920" cy="502920"/>
          </a:xfrm>
          <a:prstGeom prst="ellipse">
            <a:avLst/>
          </a:prstGeom>
          <a:solidFill>
            <a:srgbClr val="FFB020"/>
          </a:solidFill>
          <a:ln w="12700">
            <a:solidFill>
              <a:srgbClr val="FFB020"/>
            </a:solidFill>
            <a:prstDash val="solid"/>
          </a:ln>
        </p:spPr>
      </p:sp>
      <p:sp>
        <p:nvSpPr>
          <p:cNvPr id="15" name="Text 12"/>
          <p:cNvSpPr txBox="1"/>
          <p:nvPr/>
        </p:nvSpPr>
        <p:spPr>
          <a:xfrm>
            <a:off x="2823210" y="1417320"/>
            <a:ext cx="502920" cy="502920"/>
          </a:xfrm>
          <a:prstGeom prst="rect">
            <a:avLst/>
          </a:prstGeom>
          <a:noFill/>
          <a:ln/>
        </p:spPr>
        <p:txBody>
          <a:bodyPr wrap="square" lIns="0" tIns="0" rIns="0" bIns="0" rtlCol="0" anchor="ctr"/>
          <a:lstStyle/>
          <a:p>
            <a:pPr algn="ctr" indent="0" marL="0">
              <a:buNone/>
            </a:pPr>
            <a:r>
              <a:rPr lang="en-US" sz="1600" b="1" dirty="0">
                <a:solidFill>
                  <a:srgbClr val="14141F"/>
                </a:solidFill>
                <a:latin typeface="Arial" pitchFamily="34" charset="0"/>
                <a:ea typeface="Arial" pitchFamily="34" charset="-122"/>
                <a:cs typeface="Arial" pitchFamily="34" charset="-120"/>
              </a:rPr>
              <a:t>2</a:t>
            </a:r>
            <a:endParaRPr lang="en-US" sz="1600" dirty="0"/>
          </a:p>
        </p:txBody>
      </p:sp>
      <p:sp>
        <p:nvSpPr>
          <p:cNvPr id="16" name="Text 13"/>
          <p:cNvSpPr txBox="1"/>
          <p:nvPr/>
        </p:nvSpPr>
        <p:spPr>
          <a:xfrm>
            <a:off x="2823210" y="2057400"/>
            <a:ext cx="1405890" cy="457200"/>
          </a:xfrm>
          <a:prstGeom prst="rect">
            <a:avLst/>
          </a:prstGeom>
          <a:noFill/>
          <a:ln/>
        </p:spPr>
        <p:txBody>
          <a:bodyPr wrap="square" lIns="0" tIns="0" rIns="0" bIns="0" rtlCol="0" anchor="ctr"/>
          <a:lstStyle/>
          <a:p>
            <a:pPr indent="0" marL="0">
              <a:buNone/>
            </a:pPr>
            <a:r>
              <a:rPr lang="en-US" sz="1700" b="1" dirty="0">
                <a:solidFill>
                  <a:srgbClr val="FFB020"/>
                </a:solidFill>
                <a:latin typeface="Arial" pitchFamily="34" charset="0"/>
                <a:ea typeface="Arial" pitchFamily="34" charset="-122"/>
                <a:cs typeface="Arial" pitchFamily="34" charset="-120"/>
              </a:rPr>
              <a:t>RANK</a:t>
            </a:r>
            <a:endParaRPr lang="en-US" sz="1700" dirty="0"/>
          </a:p>
        </p:txBody>
      </p:sp>
      <p:sp>
        <p:nvSpPr>
          <p:cNvPr id="17" name="Text 14"/>
          <p:cNvSpPr txBox="1"/>
          <p:nvPr/>
        </p:nvSpPr>
        <p:spPr>
          <a:xfrm>
            <a:off x="2823210" y="2560320"/>
            <a:ext cx="1405890" cy="1805940"/>
          </a:xfrm>
          <a:prstGeom prst="rect">
            <a:avLst/>
          </a:prstGeom>
          <a:noFill/>
          <a:ln/>
        </p:spPr>
        <p:txBody>
          <a:bodyPr wrap="square" lIns="0" tIns="0" rIns="0" bIns="0" rtlCol="0" anchor="t"/>
          <a:lstStyle/>
          <a:p>
            <a:pPr indent="0" marL="0">
              <a:buNone/>
            </a:pPr>
            <a:r>
              <a:rPr lang="en-US" sz="1400" dirty="0">
                <a:solidFill>
                  <a:srgbClr val="E8E8F5"/>
                </a:solidFill>
                <a:latin typeface="Arial" pitchFamily="34" charset="0"/>
                <a:ea typeface="Arial" pitchFamily="34" charset="-122"/>
                <a:cs typeface="Arial" pitchFamily="34" charset="-120"/>
              </a:rPr>
              <a:t>You can't check everything. Would it hurt if wrong? Mark C. Everybody knows it? Mark S.</a:t>
            </a:r>
            <a:endParaRPr lang="en-US" sz="1400" dirty="0"/>
          </a:p>
        </p:txBody>
      </p:sp>
      <p:sp>
        <p:nvSpPr>
          <p:cNvPr id="18" name="Shape 15"/>
          <p:cNvSpPr/>
          <p:nvPr/>
        </p:nvSpPr>
        <p:spPr>
          <a:xfrm>
            <a:off x="4686300" y="1188720"/>
            <a:ext cx="1863090" cy="3406140"/>
          </a:xfrm>
          <a:prstGeom prst="roundRect">
            <a:avLst>
              <a:gd name="adj" fmla="val 6871"/>
            </a:avLst>
          </a:prstGeom>
          <a:solidFill>
            <a:srgbClr val="262648"/>
          </a:solidFill>
          <a:ln w="12700">
            <a:solidFill>
              <a:srgbClr val="262648"/>
            </a:solidFill>
            <a:prstDash val="solid"/>
          </a:ln>
        </p:spPr>
      </p:sp>
      <p:sp>
        <p:nvSpPr>
          <p:cNvPr id="19" name="Shape 16"/>
          <p:cNvSpPr/>
          <p:nvPr/>
        </p:nvSpPr>
        <p:spPr>
          <a:xfrm>
            <a:off x="4914900" y="1417320"/>
            <a:ext cx="502920" cy="502920"/>
          </a:xfrm>
          <a:prstGeom prst="ellipse">
            <a:avLst/>
          </a:prstGeom>
          <a:solidFill>
            <a:srgbClr val="FFB020"/>
          </a:solidFill>
          <a:ln w="12700">
            <a:solidFill>
              <a:srgbClr val="FFB020"/>
            </a:solidFill>
            <a:prstDash val="solid"/>
          </a:ln>
        </p:spPr>
      </p:sp>
      <p:sp>
        <p:nvSpPr>
          <p:cNvPr id="20" name="Text 17"/>
          <p:cNvSpPr txBox="1"/>
          <p:nvPr/>
        </p:nvSpPr>
        <p:spPr>
          <a:xfrm>
            <a:off x="4914900" y="1417320"/>
            <a:ext cx="502920" cy="502920"/>
          </a:xfrm>
          <a:prstGeom prst="rect">
            <a:avLst/>
          </a:prstGeom>
          <a:noFill/>
          <a:ln/>
        </p:spPr>
        <p:txBody>
          <a:bodyPr wrap="square" lIns="0" tIns="0" rIns="0" bIns="0" rtlCol="0" anchor="ctr"/>
          <a:lstStyle/>
          <a:p>
            <a:pPr algn="ctr" indent="0" marL="0">
              <a:buNone/>
            </a:pPr>
            <a:r>
              <a:rPr lang="en-US" sz="1600" b="1" dirty="0">
                <a:solidFill>
                  <a:srgbClr val="14141F"/>
                </a:solidFill>
                <a:latin typeface="Arial" pitchFamily="34" charset="0"/>
                <a:ea typeface="Arial" pitchFamily="34" charset="-122"/>
                <a:cs typeface="Arial" pitchFamily="34" charset="-120"/>
              </a:rPr>
              <a:t>3</a:t>
            </a:r>
            <a:endParaRPr lang="en-US" sz="1600" dirty="0"/>
          </a:p>
        </p:txBody>
      </p:sp>
      <p:sp>
        <p:nvSpPr>
          <p:cNvPr id="21" name="Text 18"/>
          <p:cNvSpPr txBox="1"/>
          <p:nvPr/>
        </p:nvSpPr>
        <p:spPr>
          <a:xfrm>
            <a:off x="4914900" y="2057400"/>
            <a:ext cx="1405890" cy="457200"/>
          </a:xfrm>
          <a:prstGeom prst="rect">
            <a:avLst/>
          </a:prstGeom>
          <a:noFill/>
          <a:ln/>
        </p:spPr>
        <p:txBody>
          <a:bodyPr wrap="square" lIns="0" tIns="0" rIns="0" bIns="0" rtlCol="0" anchor="ctr"/>
          <a:lstStyle/>
          <a:p>
            <a:pPr indent="0" marL="0">
              <a:buNone/>
            </a:pPr>
            <a:r>
              <a:rPr lang="en-US" sz="1400" b="1" dirty="0">
                <a:solidFill>
                  <a:srgbClr val="FFB020"/>
                </a:solidFill>
                <a:latin typeface="Arial" pitchFamily="34" charset="0"/>
                <a:ea typeface="Arial" pitchFamily="34" charset="-122"/>
                <a:cs typeface="Arial" pitchFamily="34" charset="-120"/>
              </a:rPr>
              <a:t>LATERAL-READ</a:t>
            </a:r>
            <a:endParaRPr lang="en-US" sz="1400" dirty="0"/>
          </a:p>
        </p:txBody>
      </p:sp>
      <p:sp>
        <p:nvSpPr>
          <p:cNvPr id="22" name="Text 19"/>
          <p:cNvSpPr txBox="1"/>
          <p:nvPr/>
        </p:nvSpPr>
        <p:spPr>
          <a:xfrm>
            <a:off x="4914900" y="2560320"/>
            <a:ext cx="1405890" cy="1805940"/>
          </a:xfrm>
          <a:prstGeom prst="rect">
            <a:avLst/>
          </a:prstGeom>
          <a:noFill/>
          <a:ln/>
        </p:spPr>
        <p:txBody>
          <a:bodyPr wrap="square" lIns="0" tIns="0" rIns="0" bIns="0" rtlCol="0" anchor="t"/>
          <a:lstStyle/>
          <a:p>
            <a:pPr indent="0" marL="0">
              <a:buNone/>
            </a:pPr>
            <a:r>
              <a:rPr lang="en-US" sz="1400" dirty="0">
                <a:solidFill>
                  <a:srgbClr val="E8E8F5"/>
                </a:solidFill>
                <a:latin typeface="Arial" pitchFamily="34" charset="0"/>
                <a:ea typeface="Arial" pitchFamily="34" charset="-122"/>
                <a:cs typeface="Arial" pitchFamily="34" charset="-120"/>
              </a:rPr>
              <a:t>Leave the passage. Name a second, independent source that could confirm it.</a:t>
            </a:r>
            <a:endParaRPr lang="en-US" sz="1400" dirty="0"/>
          </a:p>
        </p:txBody>
      </p:sp>
      <p:sp>
        <p:nvSpPr>
          <p:cNvPr id="23" name="Shape 20"/>
          <p:cNvSpPr/>
          <p:nvPr/>
        </p:nvSpPr>
        <p:spPr>
          <a:xfrm>
            <a:off x="6777990" y="1188720"/>
            <a:ext cx="1863090" cy="3406140"/>
          </a:xfrm>
          <a:prstGeom prst="roundRect">
            <a:avLst>
              <a:gd name="adj" fmla="val 6871"/>
            </a:avLst>
          </a:prstGeom>
          <a:solidFill>
            <a:srgbClr val="262648"/>
          </a:solidFill>
          <a:ln w="12700">
            <a:solidFill>
              <a:srgbClr val="262648"/>
            </a:solidFill>
            <a:prstDash val="solid"/>
          </a:ln>
        </p:spPr>
      </p:sp>
      <p:sp>
        <p:nvSpPr>
          <p:cNvPr id="24" name="Shape 21"/>
          <p:cNvSpPr/>
          <p:nvPr/>
        </p:nvSpPr>
        <p:spPr>
          <a:xfrm>
            <a:off x="7006590" y="1417320"/>
            <a:ext cx="502920" cy="502920"/>
          </a:xfrm>
          <a:prstGeom prst="ellipse">
            <a:avLst/>
          </a:prstGeom>
          <a:solidFill>
            <a:srgbClr val="FFB020"/>
          </a:solidFill>
          <a:ln w="12700">
            <a:solidFill>
              <a:srgbClr val="FFB020"/>
            </a:solidFill>
            <a:prstDash val="solid"/>
          </a:ln>
        </p:spPr>
      </p:sp>
      <p:sp>
        <p:nvSpPr>
          <p:cNvPr id="25" name="Text 22"/>
          <p:cNvSpPr txBox="1"/>
          <p:nvPr/>
        </p:nvSpPr>
        <p:spPr>
          <a:xfrm>
            <a:off x="7006590" y="1417320"/>
            <a:ext cx="502920" cy="502920"/>
          </a:xfrm>
          <a:prstGeom prst="rect">
            <a:avLst/>
          </a:prstGeom>
          <a:noFill/>
          <a:ln/>
        </p:spPr>
        <p:txBody>
          <a:bodyPr wrap="square" lIns="0" tIns="0" rIns="0" bIns="0" rtlCol="0" anchor="ctr"/>
          <a:lstStyle/>
          <a:p>
            <a:pPr algn="ctr" indent="0" marL="0">
              <a:buNone/>
            </a:pPr>
            <a:r>
              <a:rPr lang="en-US" sz="1600" b="1" dirty="0">
                <a:solidFill>
                  <a:srgbClr val="14141F"/>
                </a:solidFill>
                <a:latin typeface="Arial" pitchFamily="34" charset="0"/>
                <a:ea typeface="Arial" pitchFamily="34" charset="-122"/>
                <a:cs typeface="Arial" pitchFamily="34" charset="-120"/>
              </a:rPr>
              <a:t>4</a:t>
            </a:r>
            <a:endParaRPr lang="en-US" sz="1600" dirty="0"/>
          </a:p>
        </p:txBody>
      </p:sp>
      <p:sp>
        <p:nvSpPr>
          <p:cNvPr id="26" name="Text 23"/>
          <p:cNvSpPr txBox="1"/>
          <p:nvPr/>
        </p:nvSpPr>
        <p:spPr>
          <a:xfrm>
            <a:off x="7006590" y="2057400"/>
            <a:ext cx="1405890" cy="457200"/>
          </a:xfrm>
          <a:prstGeom prst="rect">
            <a:avLst/>
          </a:prstGeom>
          <a:noFill/>
          <a:ln/>
        </p:spPr>
        <p:txBody>
          <a:bodyPr wrap="square" lIns="0" tIns="0" rIns="0" bIns="0" rtlCol="0" anchor="ctr"/>
          <a:lstStyle/>
          <a:p>
            <a:pPr indent="0" marL="0">
              <a:buNone/>
            </a:pPr>
            <a:r>
              <a:rPr lang="en-US" sz="1700" b="1" dirty="0">
                <a:solidFill>
                  <a:srgbClr val="FFB020"/>
                </a:solidFill>
                <a:latin typeface="Arial" pitchFamily="34" charset="0"/>
                <a:ea typeface="Arial" pitchFamily="34" charset="-122"/>
                <a:cs typeface="Arial" pitchFamily="34" charset="-120"/>
              </a:rPr>
              <a:t>VERDICT</a:t>
            </a:r>
            <a:endParaRPr lang="en-US" sz="1700" dirty="0"/>
          </a:p>
        </p:txBody>
      </p:sp>
      <p:sp>
        <p:nvSpPr>
          <p:cNvPr id="27" name="Text 24"/>
          <p:cNvSpPr txBox="1"/>
          <p:nvPr/>
        </p:nvSpPr>
        <p:spPr>
          <a:xfrm>
            <a:off x="7006590" y="2560320"/>
            <a:ext cx="1405890" cy="1805940"/>
          </a:xfrm>
          <a:prstGeom prst="rect">
            <a:avLst/>
          </a:prstGeom>
          <a:noFill/>
          <a:ln/>
        </p:spPr>
        <p:txBody>
          <a:bodyPr wrap="square" lIns="0" tIns="0" rIns="0" bIns="0" rtlCol="0" anchor="t"/>
          <a:lstStyle/>
          <a:p>
            <a:pPr indent="0" marL="0">
              <a:buNone/>
            </a:pPr>
            <a:r>
              <a:rPr lang="en-US" sz="1400" dirty="0">
                <a:solidFill>
                  <a:srgbClr val="E8E8F5"/>
                </a:solidFill>
                <a:latin typeface="Arial" pitchFamily="34" charset="0"/>
                <a:ea typeface="Arial" pitchFamily="34" charset="-122"/>
                <a:cs typeface="Arial" pitchFamily="34" charset="-120"/>
              </a:rPr>
              <a:t>RUN (clean) · FIX (correct it, then print) · KILL (the core claim fails — cut the story).</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6 / 12</a:t>
            </a:r>
            <a:endParaRPr lang="en-US" sz="900" dirty="0"/>
          </a:p>
        </p:txBody>
      </p:sp>
      <p:sp>
        <p:nvSpPr>
          <p:cNvPr id="4" name="Text 2"/>
          <p:cNvSpPr txBox="1"/>
          <p:nvPr/>
        </p:nvSpPr>
        <p:spPr>
          <a:xfrm>
            <a:off x="502920" y="502920"/>
            <a:ext cx="8138160" cy="548640"/>
          </a:xfrm>
          <a:prstGeom prst="rect">
            <a:avLst/>
          </a:prstGeom>
          <a:noFill/>
          <a:ln/>
        </p:spPr>
        <p:txBody>
          <a:bodyPr wrap="square" lIns="0" tIns="0" rIns="0" bIns="0" rtlCol="0" anchor="ctr"/>
          <a:lstStyle/>
          <a:p>
            <a:pPr indent="0" marL="0">
              <a:buNone/>
            </a:pPr>
            <a:r>
              <a:rPr lang="en-US" sz="2600" b="1" dirty="0">
                <a:solidFill>
                  <a:srgbClr val="FFB020"/>
                </a:solidFill>
                <a:latin typeface="Arial" pitchFamily="34" charset="0"/>
                <a:ea typeface="Arial" pitchFamily="34" charset="-122"/>
                <a:cs typeface="Arial" pitchFamily="34" charset="-120"/>
              </a:rPr>
              <a:t>What counts as a check?</a:t>
            </a:r>
            <a:endParaRPr lang="en-US" sz="2600" dirty="0"/>
          </a:p>
        </p:txBody>
      </p:sp>
      <p:sp>
        <p:nvSpPr>
          <p:cNvPr id="6" name="Shape 3"/>
          <p:cNvSpPr/>
          <p:nvPr/>
        </p:nvSpPr>
        <p:spPr>
          <a:xfrm>
            <a:off x="502920" y="1188720"/>
            <a:ext cx="3931920" cy="3406140"/>
          </a:xfrm>
          <a:prstGeom prst="roundRect">
            <a:avLst>
              <a:gd name="adj" fmla="val 3758"/>
            </a:avLst>
          </a:prstGeom>
          <a:solidFill>
            <a:srgbClr val="262648"/>
          </a:solidFill>
          <a:ln w="12700">
            <a:solidFill>
              <a:srgbClr val="262648"/>
            </a:solidFill>
            <a:prstDash val="solid"/>
          </a:ln>
        </p:spPr>
      </p:sp>
      <p:sp>
        <p:nvSpPr>
          <p:cNvPr id="7" name="Text 4"/>
          <p:cNvSpPr txBox="1"/>
          <p:nvPr/>
        </p:nvSpPr>
        <p:spPr>
          <a:xfrm>
            <a:off x="731520" y="1371600"/>
            <a:ext cx="3474720" cy="365760"/>
          </a:xfrm>
          <a:prstGeom prst="rect">
            <a:avLst/>
          </a:prstGeom>
          <a:noFill/>
          <a:ln/>
        </p:spPr>
        <p:txBody>
          <a:bodyPr wrap="square" lIns="0" tIns="0" rIns="0" bIns="0" rtlCol="0" anchor="t"/>
          <a:lstStyle/>
          <a:p>
            <a:pPr indent="0" marL="0">
              <a:buNone/>
            </a:pPr>
            <a:r>
              <a:rPr lang="en-US" sz="1300" b="1" spc="100" kern="0" dirty="0">
                <a:solidFill>
                  <a:srgbClr val="A9A9C4"/>
                </a:solidFill>
                <a:latin typeface="Arial" pitchFamily="34" charset="0"/>
                <a:ea typeface="Arial" pitchFamily="34" charset="-122"/>
                <a:cs typeface="Arial" pitchFamily="34" charset="-120"/>
              </a:rPr>
              <a:t>NOT A CHECK</a:t>
            </a:r>
            <a:endParaRPr lang="en-US" sz="1300" dirty="0"/>
          </a:p>
        </p:txBody>
      </p:sp>
      <p:sp>
        <p:nvSpPr>
          <p:cNvPr id="8" name="Text 5"/>
          <p:cNvSpPr txBox="1"/>
          <p:nvPr/>
        </p:nvSpPr>
        <p:spPr>
          <a:xfrm>
            <a:off x="731520" y="1828800"/>
            <a:ext cx="3474720" cy="2583180"/>
          </a:xfrm>
          <a:prstGeom prst="rect">
            <a:avLst/>
          </a:prstGeom>
          <a:noFill/>
          <a:ln/>
        </p:spPr>
        <p:txBody>
          <a:bodyPr wrap="square" lIns="0" tIns="0" rIns="0" bIns="0" rtlCol="0" anchor="t"/>
          <a:lstStyle/>
          <a:p>
            <a:pPr indent="0" marL="0">
              <a:buNone/>
            </a:pPr>
            <a:r>
              <a:rPr lang="en-US" sz="1700" dirty="0">
                <a:solidFill>
                  <a:srgbClr val="FFFFFF"/>
                </a:solidFill>
                <a:latin typeface="Arial" pitchFamily="34" charset="0"/>
                <a:ea typeface="Arial" pitchFamily="34" charset="-122"/>
                <a:cs typeface="Arial" pitchFamily="34" charset="-120"/>
              </a:rPr>
              <a:t>Asking the same AI "Are you sure?" Same source, same guess, same confident voice.</a:t>
            </a:r>
            <a:endParaRPr lang="en-US" sz="1700" dirty="0"/>
          </a:p>
        </p:txBody>
      </p:sp>
      <p:sp>
        <p:nvSpPr>
          <p:cNvPr id="9" name="Shape 6"/>
          <p:cNvSpPr/>
          <p:nvPr/>
        </p:nvSpPr>
        <p:spPr>
          <a:xfrm>
            <a:off x="4709160" y="1188720"/>
            <a:ext cx="3931920" cy="3406140"/>
          </a:xfrm>
          <a:prstGeom prst="roundRect">
            <a:avLst>
              <a:gd name="adj" fmla="val 3758"/>
            </a:avLst>
          </a:prstGeom>
          <a:solidFill>
            <a:srgbClr val="2F2A5C"/>
          </a:solidFill>
          <a:ln w="19050">
            <a:solidFill>
              <a:srgbClr val="FFB020"/>
            </a:solidFill>
            <a:prstDash val="solid"/>
          </a:ln>
        </p:spPr>
      </p:sp>
      <p:sp>
        <p:nvSpPr>
          <p:cNvPr id="10" name="Text 7"/>
          <p:cNvSpPr txBox="1"/>
          <p:nvPr/>
        </p:nvSpPr>
        <p:spPr>
          <a:xfrm>
            <a:off x="4937760" y="1371600"/>
            <a:ext cx="3474720" cy="365760"/>
          </a:xfrm>
          <a:prstGeom prst="rect">
            <a:avLst/>
          </a:prstGeom>
          <a:noFill/>
          <a:ln/>
        </p:spPr>
        <p:txBody>
          <a:bodyPr wrap="square" lIns="0" tIns="0" rIns="0" bIns="0" rtlCol="0" anchor="t"/>
          <a:lstStyle/>
          <a:p>
            <a:pPr indent="0" marL="0">
              <a:buNone/>
            </a:pPr>
            <a:r>
              <a:rPr lang="en-US" sz="1300" b="1" spc="100" kern="0" dirty="0">
                <a:solidFill>
                  <a:srgbClr val="FFB020"/>
                </a:solidFill>
                <a:latin typeface="Arial" pitchFamily="34" charset="0"/>
                <a:ea typeface="Arial" pitchFamily="34" charset="-122"/>
                <a:cs typeface="Arial" pitchFamily="34" charset="-120"/>
              </a:rPr>
              <a:t>LATERAL READING</a:t>
            </a:r>
            <a:endParaRPr lang="en-US" sz="1300" dirty="0"/>
          </a:p>
        </p:txBody>
      </p:sp>
      <p:sp>
        <p:nvSpPr>
          <p:cNvPr id="11" name="Text 8"/>
          <p:cNvSpPr txBox="1"/>
          <p:nvPr/>
        </p:nvSpPr>
        <p:spPr>
          <a:xfrm>
            <a:off x="4937760" y="1828800"/>
            <a:ext cx="3474720" cy="2583180"/>
          </a:xfrm>
          <a:prstGeom prst="rect">
            <a:avLst/>
          </a:prstGeom>
          <a:noFill/>
          <a:ln/>
        </p:spPr>
        <p:txBody>
          <a:bodyPr wrap="square" lIns="0" tIns="0" rIns="0" bIns="0" rtlCol="0" anchor="t"/>
          <a:lstStyle/>
          <a:p>
            <a:pPr indent="0" marL="0">
              <a:buNone/>
            </a:pPr>
            <a:r>
              <a:rPr lang="en-US" sz="1700" dirty="0">
                <a:solidFill>
                  <a:srgbClr val="FFFFFF"/>
                </a:solidFill>
                <a:latin typeface="Arial" pitchFamily="34" charset="0"/>
                <a:ea typeface="Arial" pitchFamily="34" charset="-122"/>
                <a:cs typeface="Arial" pitchFamily="34" charset="-120"/>
              </a:rPr>
              <a:t>Leave the answer. Open a second, independent source — encyclopedia, textbook, a new search tab. Does it agree?</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7 / 12</a:t>
            </a:r>
            <a:endParaRPr lang="en-US" sz="900" dirty="0"/>
          </a:p>
        </p:txBody>
      </p:sp>
      <p:sp>
        <p:nvSpPr>
          <p:cNvPr id="5" name="Text 2"/>
          <p:cNvSpPr txBox="1"/>
          <p:nvPr/>
        </p:nvSpPr>
        <p:spPr>
          <a:xfrm>
            <a:off x="502920" y="457200"/>
            <a:ext cx="1005840" cy="2011680"/>
          </a:xfrm>
          <a:prstGeom prst="rect">
            <a:avLst/>
          </a:prstGeom>
          <a:noFill/>
          <a:ln/>
        </p:spPr>
        <p:txBody>
          <a:bodyPr wrap="square" lIns="0" tIns="0" rIns="0" bIns="0" rtlCol="0" anchor="t"/>
          <a:lstStyle/>
          <a:p>
            <a:pPr indent="0" marL="0">
              <a:buNone/>
            </a:pPr>
            <a:r>
              <a:rPr lang="en-US" sz="11000" b="1" dirty="0">
                <a:solidFill>
                  <a:srgbClr val="FFB020"/>
                </a:solidFill>
                <a:latin typeface="Arial" pitchFamily="34" charset="0"/>
                <a:ea typeface="Arial" pitchFamily="34" charset="-122"/>
                <a:cs typeface="Arial" pitchFamily="34" charset="-120"/>
              </a:rPr>
              <a:t>“</a:t>
            </a:r>
            <a:endParaRPr lang="en-US" sz="11000" dirty="0"/>
          </a:p>
        </p:txBody>
      </p:sp>
      <p:sp>
        <p:nvSpPr>
          <p:cNvPr id="6" name="Text 3"/>
          <p:cNvSpPr txBox="1"/>
          <p:nvPr/>
        </p:nvSpPr>
        <p:spPr>
          <a:xfrm>
            <a:off x="1554480" y="685800"/>
            <a:ext cx="7086600" cy="2267255"/>
          </a:xfrm>
          <a:prstGeom prst="rect">
            <a:avLst/>
          </a:prstGeom>
          <a:noFill/>
          <a:ln/>
        </p:spPr>
        <p:txBody>
          <a:bodyPr wrap="square" lIns="0" tIns="0" rIns="0" bIns="0" rtlCol="0" anchor="ctr"/>
          <a:lstStyle/>
          <a:p>
            <a:pPr indent="0" marL="0">
              <a:buNone/>
            </a:pPr>
            <a:r>
              <a:rPr lang="en-US" sz="2800" i="1" dirty="0">
                <a:solidFill>
                  <a:srgbClr val="FFFFFF"/>
                </a:solidFill>
                <a:latin typeface="Arial" pitchFamily="34" charset="0"/>
                <a:ea typeface="Arial" pitchFamily="34" charset="-122"/>
                <a:cs typeface="Arial" pitchFamily="34" charset="-120"/>
              </a:rPr>
              <a:t>Don't ask the suspect if they're innocent.</a:t>
            </a:r>
            <a:endParaRPr lang="en-US" sz="2800" dirty="0"/>
          </a:p>
        </p:txBody>
      </p:sp>
      <p:sp>
        <p:nvSpPr>
          <p:cNvPr id="7" name="Text 4"/>
          <p:cNvSpPr txBox="1"/>
          <p:nvPr/>
        </p:nvSpPr>
        <p:spPr>
          <a:xfrm>
            <a:off x="1554480" y="3090215"/>
            <a:ext cx="7086600" cy="1504645"/>
          </a:xfrm>
          <a:prstGeom prst="rect">
            <a:avLst/>
          </a:prstGeom>
          <a:noFill/>
          <a:ln/>
        </p:spPr>
        <p:txBody>
          <a:bodyPr wrap="square" lIns="0" tIns="0" rIns="0" bIns="0" rtlCol="0" anchor="t"/>
          <a:lstStyle/>
          <a:p>
            <a:pPr indent="0" marL="0">
              <a:buNone/>
            </a:pPr>
            <a:r>
              <a:rPr lang="en-US" sz="1500" dirty="0">
                <a:solidFill>
                  <a:srgbClr val="A9A9C4"/>
                </a:solidFill>
                <a:latin typeface="Arial" pitchFamily="34" charset="0"/>
                <a:ea typeface="Arial" pitchFamily="34" charset="-122"/>
                <a:cs typeface="Arial" pitchFamily="34" charset="-120"/>
              </a:rPr>
              <a:t>Asking the same AI "are you sure?" is not a check. LEAVE the answer, open a second, independent source. That's lateral reading.</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8 / 12</a:t>
            </a:r>
            <a:endParaRPr lang="en-US" sz="900" dirty="0"/>
          </a:p>
        </p:txBody>
      </p:sp>
      <p:sp>
        <p:nvSpPr>
          <p:cNvPr id="4" name="Shape 2"/>
          <p:cNvSpPr/>
          <p:nvPr/>
        </p:nvSpPr>
        <p:spPr>
          <a:xfrm>
            <a:off x="7680960" y="146304"/>
            <a:ext cx="960120" cy="310896"/>
          </a:xfrm>
          <a:prstGeom prst="roundRect">
            <a:avLst>
              <a:gd name="adj" fmla="val 50000"/>
            </a:avLst>
          </a:prstGeom>
          <a:solidFill>
            <a:srgbClr val="14141F"/>
          </a:solidFill>
          <a:ln w="15875">
            <a:solidFill>
              <a:srgbClr val="FFB020"/>
            </a:solidFill>
            <a:prstDash val="solid"/>
          </a:ln>
        </p:spPr>
      </p:sp>
      <p:sp>
        <p:nvSpPr>
          <p:cNvPr id="5" name="Text 3"/>
          <p:cNvSpPr txBox="1"/>
          <p:nvPr/>
        </p:nvSpPr>
        <p:spPr>
          <a:xfrm>
            <a:off x="7680960" y="146304"/>
            <a:ext cx="960120" cy="310896"/>
          </a:xfrm>
          <a:prstGeom prst="rect">
            <a:avLst/>
          </a:prstGeom>
          <a:noFill/>
          <a:ln/>
        </p:spPr>
        <p:txBody>
          <a:bodyPr wrap="square" lIns="0" tIns="0" rIns="0" bIns="0" rtlCol="0" anchor="ctr"/>
          <a:lstStyle/>
          <a:p>
            <a:pPr algn="ctr" indent="0" marL="0">
              <a:buNone/>
            </a:pPr>
            <a:r>
              <a:rPr lang="en-US" sz="1000" b="1" dirty="0">
                <a:solidFill>
                  <a:srgbClr val="FFB020"/>
                </a:solidFill>
                <a:latin typeface="Arial" pitchFamily="34" charset="0"/>
                <a:ea typeface="Arial" pitchFamily="34" charset="-122"/>
                <a:cs typeface="Arial" pitchFamily="34" charset="-120"/>
              </a:rPr>
              <a:t>21 MIN</a:t>
            </a:r>
            <a:endParaRPr lang="en-US" sz="1000" dirty="0"/>
          </a:p>
        </p:txBody>
      </p:sp>
      <p:sp>
        <p:nvSpPr>
          <p:cNvPr id="6" name="Text 4"/>
          <p:cNvSpPr txBox="1"/>
          <p:nvPr/>
        </p:nvSpPr>
        <p:spPr>
          <a:xfrm>
            <a:off x="502920" y="502920"/>
            <a:ext cx="7040880" cy="548640"/>
          </a:xfrm>
          <a:prstGeom prst="rect">
            <a:avLst/>
          </a:prstGeom>
          <a:noFill/>
          <a:ln/>
        </p:spPr>
        <p:txBody>
          <a:bodyPr wrap="square" lIns="0" tIns="0" rIns="0" bIns="0" rtlCol="0" anchor="ctr"/>
          <a:lstStyle/>
          <a:p>
            <a:pPr indent="0" marL="0">
              <a:buNone/>
            </a:pPr>
            <a:r>
              <a:rPr lang="en-US" sz="2400" b="1" dirty="0">
                <a:solidFill>
                  <a:srgbClr val="FFB020"/>
                </a:solidFill>
                <a:latin typeface="Arial" pitchFamily="34" charset="0"/>
                <a:ea typeface="Arial" pitchFamily="34" charset="-122"/>
                <a:cs typeface="Arial" pitchFamily="34" charset="-120"/>
              </a:rPr>
              <a:t>Activity — The Fact Desk at The Comet</a:t>
            </a:r>
            <a:endParaRPr lang="en-US" sz="2400" dirty="0"/>
          </a:p>
        </p:txBody>
      </p:sp>
      <p:sp>
        <p:nvSpPr>
          <p:cNvPr id="8" name="Shape 5"/>
          <p:cNvSpPr/>
          <p:nvPr/>
        </p:nvSpPr>
        <p:spPr>
          <a:xfrm>
            <a:off x="502920" y="1234440"/>
            <a:ext cx="457200" cy="457200"/>
          </a:xfrm>
          <a:prstGeom prst="ellipse">
            <a:avLst/>
          </a:prstGeom>
          <a:solidFill>
            <a:srgbClr val="FFB020"/>
          </a:solidFill>
          <a:ln w="12700">
            <a:solidFill>
              <a:srgbClr val="FFB020"/>
            </a:solidFill>
            <a:prstDash val="solid"/>
          </a:ln>
        </p:spPr>
      </p:sp>
      <p:sp>
        <p:nvSpPr>
          <p:cNvPr id="9" name="Text 6"/>
          <p:cNvSpPr txBox="1"/>
          <p:nvPr/>
        </p:nvSpPr>
        <p:spPr>
          <a:xfrm>
            <a:off x="502920" y="1234440"/>
            <a:ext cx="457200" cy="457200"/>
          </a:xfrm>
          <a:prstGeom prst="rect">
            <a:avLst/>
          </a:prstGeom>
          <a:noFill/>
          <a:ln/>
        </p:spPr>
        <p:txBody>
          <a:bodyPr wrap="square" lIns="0" tIns="0" rIns="0" bIns="0" rtlCol="0" anchor="ctr"/>
          <a:lstStyle/>
          <a:p>
            <a:pPr algn="ctr" indent="0" marL="0">
              <a:buNone/>
            </a:pPr>
            <a:r>
              <a:rPr lang="en-US" sz="1600" b="1" dirty="0">
                <a:solidFill>
                  <a:srgbClr val="14141F"/>
                </a:solidFill>
                <a:latin typeface="Arial" pitchFamily="34" charset="0"/>
                <a:ea typeface="Arial" pitchFamily="34" charset="-122"/>
                <a:cs typeface="Arial" pitchFamily="34" charset="-120"/>
              </a:rPr>
              <a:t>1</a:t>
            </a:r>
            <a:endParaRPr lang="en-US" sz="1600" dirty="0"/>
          </a:p>
        </p:txBody>
      </p:sp>
      <p:sp>
        <p:nvSpPr>
          <p:cNvPr id="10" name="Text 7"/>
          <p:cNvSpPr txBox="1"/>
          <p:nvPr/>
        </p:nvSpPr>
        <p:spPr>
          <a:xfrm>
            <a:off x="1143000" y="1188720"/>
            <a:ext cx="7498080" cy="320040"/>
          </a:xfrm>
          <a:prstGeom prst="rect">
            <a:avLst/>
          </a:prstGeom>
          <a:noFill/>
          <a:ln/>
        </p:spPr>
        <p:txBody>
          <a:bodyPr wrap="square" lIns="0" tIns="0" rIns="0" bIns="0" rtlCol="0" anchor="ctr"/>
          <a:lstStyle/>
          <a:p>
            <a:pPr indent="0" marL="0">
              <a:buNone/>
            </a:pPr>
            <a:r>
              <a:rPr lang="en-US" sz="1500" b="1" dirty="0">
                <a:solidFill>
                  <a:srgbClr val="FFB020"/>
                </a:solidFill>
                <a:latin typeface="Arial" pitchFamily="34" charset="0"/>
                <a:ea typeface="Arial" pitchFamily="34" charset="-122"/>
                <a:cs typeface="Arial" pitchFamily="34" charset="-120"/>
              </a:rPr>
              <a:t>Round 1   ·   7 min</a:t>
            </a:r>
            <a:endParaRPr lang="en-US" sz="1500" dirty="0"/>
          </a:p>
        </p:txBody>
      </p:sp>
      <p:sp>
        <p:nvSpPr>
          <p:cNvPr id="11" name="Text 8"/>
          <p:cNvSpPr txBox="1"/>
          <p:nvPr/>
        </p:nvSpPr>
        <p:spPr>
          <a:xfrm>
            <a:off x="1143000" y="1517904"/>
            <a:ext cx="7498080" cy="612648"/>
          </a:xfrm>
          <a:prstGeom prst="rect">
            <a:avLst/>
          </a:prstGeom>
          <a:noFill/>
          <a:ln/>
        </p:spPr>
        <p:txBody>
          <a:bodyPr wrap="square" lIns="0" tIns="0" rIns="0" bIns="0" rtlCol="0" anchor="t"/>
          <a:lstStyle/>
          <a:p>
            <a:pPr indent="0" marL="0">
              <a:buNone/>
            </a:pPr>
            <a:r>
              <a:rPr lang="en-US" sz="1300" dirty="0">
                <a:solidFill>
                  <a:srgbClr val="E8E8F5"/>
                </a:solidFill>
                <a:latin typeface="Arial" pitchFamily="34" charset="0"/>
                <a:ea typeface="Arial" pitchFamily="34" charset="-122"/>
                <a:cs typeface="Arial" pitchFamily="34" charset="-120"/>
              </a:rPr>
              <a:t>Draft #1 (Priya's Moon column) together, each on your OWN sheet: underline, mark C or S, log your two riskiest claims, stamp it, write the note.</a:t>
            </a:r>
            <a:endParaRPr lang="en-US" sz="1300" dirty="0"/>
          </a:p>
        </p:txBody>
      </p:sp>
      <p:sp>
        <p:nvSpPr>
          <p:cNvPr id="12" name="Shape 9"/>
          <p:cNvSpPr/>
          <p:nvPr/>
        </p:nvSpPr>
        <p:spPr>
          <a:xfrm>
            <a:off x="502920" y="2286000"/>
            <a:ext cx="457200" cy="457200"/>
          </a:xfrm>
          <a:prstGeom prst="ellipse">
            <a:avLst/>
          </a:prstGeom>
          <a:solidFill>
            <a:srgbClr val="FFB020"/>
          </a:solidFill>
          <a:ln w="12700">
            <a:solidFill>
              <a:srgbClr val="FFB020"/>
            </a:solidFill>
            <a:prstDash val="solid"/>
          </a:ln>
        </p:spPr>
      </p:sp>
      <p:sp>
        <p:nvSpPr>
          <p:cNvPr id="13" name="Text 10"/>
          <p:cNvSpPr txBox="1"/>
          <p:nvPr/>
        </p:nvSpPr>
        <p:spPr>
          <a:xfrm>
            <a:off x="502920" y="2286000"/>
            <a:ext cx="457200" cy="457200"/>
          </a:xfrm>
          <a:prstGeom prst="rect">
            <a:avLst/>
          </a:prstGeom>
          <a:noFill/>
          <a:ln/>
        </p:spPr>
        <p:txBody>
          <a:bodyPr wrap="square" lIns="0" tIns="0" rIns="0" bIns="0" rtlCol="0" anchor="ctr"/>
          <a:lstStyle/>
          <a:p>
            <a:pPr algn="ctr" indent="0" marL="0">
              <a:buNone/>
            </a:pPr>
            <a:r>
              <a:rPr lang="en-US" sz="1600" b="1" dirty="0">
                <a:solidFill>
                  <a:srgbClr val="14141F"/>
                </a:solidFill>
                <a:latin typeface="Arial" pitchFamily="34" charset="0"/>
                <a:ea typeface="Arial" pitchFamily="34" charset="-122"/>
                <a:cs typeface="Arial" pitchFamily="34" charset="-120"/>
              </a:rPr>
              <a:t>2</a:t>
            </a:r>
            <a:endParaRPr lang="en-US" sz="1600" dirty="0"/>
          </a:p>
        </p:txBody>
      </p:sp>
      <p:sp>
        <p:nvSpPr>
          <p:cNvPr id="14" name="Text 11"/>
          <p:cNvSpPr txBox="1"/>
          <p:nvPr/>
        </p:nvSpPr>
        <p:spPr>
          <a:xfrm>
            <a:off x="1143000" y="2240280"/>
            <a:ext cx="7498080" cy="320040"/>
          </a:xfrm>
          <a:prstGeom prst="rect">
            <a:avLst/>
          </a:prstGeom>
          <a:noFill/>
          <a:ln/>
        </p:spPr>
        <p:txBody>
          <a:bodyPr wrap="square" lIns="0" tIns="0" rIns="0" bIns="0" rtlCol="0" anchor="ctr"/>
          <a:lstStyle/>
          <a:p>
            <a:pPr indent="0" marL="0">
              <a:buNone/>
            </a:pPr>
            <a:r>
              <a:rPr lang="en-US" sz="1500" b="1" dirty="0">
                <a:solidFill>
                  <a:srgbClr val="FFB020"/>
                </a:solidFill>
                <a:latin typeface="Arial" pitchFamily="34" charset="0"/>
                <a:ea typeface="Arial" pitchFamily="34" charset="-122"/>
                <a:cs typeface="Arial" pitchFamily="34" charset="-120"/>
              </a:rPr>
              <a:t>Round 2   ·   10 min</a:t>
            </a:r>
            <a:endParaRPr lang="en-US" sz="1500" dirty="0"/>
          </a:p>
        </p:txBody>
      </p:sp>
      <p:sp>
        <p:nvSpPr>
          <p:cNvPr id="15" name="Text 12"/>
          <p:cNvSpPr txBox="1"/>
          <p:nvPr/>
        </p:nvSpPr>
        <p:spPr>
          <a:xfrm>
            <a:off x="1143000" y="2569464"/>
            <a:ext cx="7498080" cy="612648"/>
          </a:xfrm>
          <a:prstGeom prst="rect">
            <a:avLst/>
          </a:prstGeom>
          <a:noFill/>
          <a:ln/>
        </p:spPr>
        <p:txBody>
          <a:bodyPr wrap="square" lIns="0" tIns="0" rIns="0" bIns="0" rtlCol="0" anchor="t"/>
          <a:lstStyle/>
          <a:p>
            <a:pPr indent="0" marL="0">
              <a:buNone/>
            </a:pPr>
            <a:r>
              <a:rPr lang="en-US" sz="1300" dirty="0">
                <a:solidFill>
                  <a:srgbClr val="E8E8F5"/>
                </a:solidFill>
                <a:latin typeface="Arial" pitchFamily="34" charset="0"/>
                <a:ea typeface="Arial" pitchFamily="34" charset="-122"/>
                <a:cs typeface="Arial" pitchFamily="34" charset="-120"/>
              </a:rPr>
              <a:t>Partner A leads Draft #2, Partner B leads Draft #3 — each on your own sheet (6 min). Swap: add one claim they missed (2). Owners stamp and note (2).</a:t>
            </a:r>
            <a:endParaRPr lang="en-US" sz="1300" dirty="0"/>
          </a:p>
        </p:txBody>
      </p:sp>
      <p:sp>
        <p:nvSpPr>
          <p:cNvPr id="16" name="Shape 13"/>
          <p:cNvSpPr/>
          <p:nvPr/>
        </p:nvSpPr>
        <p:spPr>
          <a:xfrm>
            <a:off x="502920" y="3337560"/>
            <a:ext cx="457200" cy="457200"/>
          </a:xfrm>
          <a:prstGeom prst="ellipse">
            <a:avLst/>
          </a:prstGeom>
          <a:solidFill>
            <a:srgbClr val="FFB020"/>
          </a:solidFill>
          <a:ln w="12700">
            <a:solidFill>
              <a:srgbClr val="FFB020"/>
            </a:solidFill>
            <a:prstDash val="solid"/>
          </a:ln>
        </p:spPr>
      </p:sp>
      <p:sp>
        <p:nvSpPr>
          <p:cNvPr id="17" name="Text 14"/>
          <p:cNvSpPr txBox="1"/>
          <p:nvPr/>
        </p:nvSpPr>
        <p:spPr>
          <a:xfrm>
            <a:off x="502920" y="3337560"/>
            <a:ext cx="457200" cy="457200"/>
          </a:xfrm>
          <a:prstGeom prst="rect">
            <a:avLst/>
          </a:prstGeom>
          <a:noFill/>
          <a:ln/>
        </p:spPr>
        <p:txBody>
          <a:bodyPr wrap="square" lIns="0" tIns="0" rIns="0" bIns="0" rtlCol="0" anchor="ctr"/>
          <a:lstStyle/>
          <a:p>
            <a:pPr algn="ctr" indent="0" marL="0">
              <a:buNone/>
            </a:pPr>
            <a:r>
              <a:rPr lang="en-US" sz="1600" b="1" dirty="0">
                <a:solidFill>
                  <a:srgbClr val="14141F"/>
                </a:solidFill>
                <a:latin typeface="Arial" pitchFamily="34" charset="0"/>
                <a:ea typeface="Arial" pitchFamily="34" charset="-122"/>
                <a:cs typeface="Arial" pitchFamily="34" charset="-120"/>
              </a:rPr>
              <a:t>3</a:t>
            </a:r>
            <a:endParaRPr lang="en-US" sz="1600" dirty="0"/>
          </a:p>
        </p:txBody>
      </p:sp>
      <p:sp>
        <p:nvSpPr>
          <p:cNvPr id="18" name="Text 15"/>
          <p:cNvSpPr txBox="1"/>
          <p:nvPr/>
        </p:nvSpPr>
        <p:spPr>
          <a:xfrm>
            <a:off x="1143000" y="3291840"/>
            <a:ext cx="7498080" cy="320040"/>
          </a:xfrm>
          <a:prstGeom prst="rect">
            <a:avLst/>
          </a:prstGeom>
          <a:noFill/>
          <a:ln/>
        </p:spPr>
        <p:txBody>
          <a:bodyPr wrap="square" lIns="0" tIns="0" rIns="0" bIns="0" rtlCol="0" anchor="ctr"/>
          <a:lstStyle/>
          <a:p>
            <a:pPr indent="0" marL="0">
              <a:buNone/>
            </a:pPr>
            <a:r>
              <a:rPr lang="en-US" sz="1500" b="1" dirty="0">
                <a:solidFill>
                  <a:srgbClr val="FFB020"/>
                </a:solidFill>
                <a:latin typeface="Arial" pitchFamily="34" charset="0"/>
                <a:ea typeface="Arial" pitchFamily="34" charset="-122"/>
                <a:cs typeface="Arial" pitchFamily="34" charset="-120"/>
              </a:rPr>
              <a:t>Verdicts out loud   ·   4 min</a:t>
            </a:r>
            <a:endParaRPr lang="en-US" sz="1500" dirty="0"/>
          </a:p>
        </p:txBody>
      </p:sp>
      <p:sp>
        <p:nvSpPr>
          <p:cNvPr id="19" name="Text 16"/>
          <p:cNvSpPr txBox="1"/>
          <p:nvPr/>
        </p:nvSpPr>
        <p:spPr>
          <a:xfrm>
            <a:off x="1143000" y="3621024"/>
            <a:ext cx="7498080" cy="612648"/>
          </a:xfrm>
          <a:prstGeom prst="rect">
            <a:avLst/>
          </a:prstGeom>
          <a:noFill/>
          <a:ln/>
        </p:spPr>
        <p:txBody>
          <a:bodyPr wrap="square" lIns="0" tIns="0" rIns="0" bIns="0" rtlCol="0" anchor="t"/>
          <a:lstStyle/>
          <a:p>
            <a:pPr indent="0" marL="0">
              <a:buNone/>
            </a:pPr>
            <a:r>
              <a:rPr lang="en-US" sz="1300" dirty="0">
                <a:solidFill>
                  <a:srgbClr val="E8E8F5"/>
                </a:solidFill>
                <a:latin typeface="Arial" pitchFamily="34" charset="0"/>
                <a:ea typeface="Arial" pitchFamily="34" charset="-122"/>
                <a:cs typeface="Arial" pitchFamily="34" charset="-120"/>
              </a:rPr>
              <a:t>Per draft, one desk per stamp gives its verdict and best evidence. Then hands up — your teacher tallies the room on the board.</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9 / 12</a:t>
            </a:r>
            <a:endParaRPr lang="en-US" sz="900" dirty="0"/>
          </a:p>
        </p:txBody>
      </p:sp>
      <p:sp>
        <p:nvSpPr>
          <p:cNvPr id="4" name="Text 2"/>
          <p:cNvSpPr txBox="1"/>
          <p:nvPr/>
        </p:nvSpPr>
        <p:spPr>
          <a:xfrm>
            <a:off x="502920" y="502920"/>
            <a:ext cx="8138160" cy="548640"/>
          </a:xfrm>
          <a:prstGeom prst="rect">
            <a:avLst/>
          </a:prstGeom>
          <a:noFill/>
          <a:ln/>
        </p:spPr>
        <p:txBody>
          <a:bodyPr wrap="square" lIns="0" tIns="0" rIns="0" bIns="0" rtlCol="0" anchor="ctr"/>
          <a:lstStyle/>
          <a:p>
            <a:pPr indent="0" marL="0">
              <a:buNone/>
            </a:pPr>
            <a:r>
              <a:rPr lang="en-US" sz="2600" b="1" dirty="0">
                <a:solidFill>
                  <a:srgbClr val="FFB020"/>
                </a:solidFill>
                <a:latin typeface="Arial" pitchFamily="34" charset="0"/>
                <a:ea typeface="Arial" pitchFamily="34" charset="-122"/>
                <a:cs typeface="Arial" pitchFamily="34" charset="-120"/>
              </a:rPr>
              <a:t>Stamp It — Desk Rules</a:t>
            </a:r>
            <a:endParaRPr lang="en-US" sz="2600" dirty="0"/>
          </a:p>
        </p:txBody>
      </p:sp>
      <p:sp>
        <p:nvSpPr>
          <p:cNvPr id="6" name="Text 3"/>
          <p:cNvSpPr txBox="1"/>
          <p:nvPr/>
        </p:nvSpPr>
        <p:spPr>
          <a:xfrm>
            <a:off x="594360" y="1188720"/>
            <a:ext cx="7955280" cy="340614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RUN — clean. Every CHECK claim confirmed by a second, independent source.</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FIX — correct it, then print. Does the writer's big conclusion still stand once the facts are fixed?</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KILL — the core claim fails. Cut the story.</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A quote is a claim. No traceable source, no print.</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Back every stamp with evidence: the claim, the fix, the second source.</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10 / 12</a:t>
            </a:r>
            <a:endParaRPr lang="en-US" sz="900" dirty="0"/>
          </a:p>
        </p:txBody>
      </p:sp>
      <p:sp>
        <p:nvSpPr>
          <p:cNvPr id="4" name="Shape 2"/>
          <p:cNvSpPr/>
          <p:nvPr/>
        </p:nvSpPr>
        <p:spPr>
          <a:xfrm>
            <a:off x="7680960" y="146304"/>
            <a:ext cx="960120" cy="310896"/>
          </a:xfrm>
          <a:prstGeom prst="roundRect">
            <a:avLst>
              <a:gd name="adj" fmla="val 50000"/>
            </a:avLst>
          </a:prstGeom>
          <a:solidFill>
            <a:srgbClr val="14141F"/>
          </a:solidFill>
          <a:ln w="15875">
            <a:solidFill>
              <a:srgbClr val="FFB020"/>
            </a:solidFill>
            <a:prstDash val="solid"/>
          </a:ln>
        </p:spPr>
      </p:sp>
      <p:sp>
        <p:nvSpPr>
          <p:cNvPr id="5" name="Text 3"/>
          <p:cNvSpPr txBox="1"/>
          <p:nvPr/>
        </p:nvSpPr>
        <p:spPr>
          <a:xfrm>
            <a:off x="7680960" y="146304"/>
            <a:ext cx="960120" cy="310896"/>
          </a:xfrm>
          <a:prstGeom prst="rect">
            <a:avLst/>
          </a:prstGeom>
          <a:noFill/>
          <a:ln/>
        </p:spPr>
        <p:txBody>
          <a:bodyPr wrap="square" lIns="0" tIns="0" rIns="0" bIns="0" rtlCol="0" anchor="ctr"/>
          <a:lstStyle/>
          <a:p>
            <a:pPr algn="ctr" indent="0" marL="0">
              <a:buNone/>
            </a:pPr>
            <a:r>
              <a:rPr lang="en-US" sz="1000" b="1" dirty="0">
                <a:solidFill>
                  <a:srgbClr val="FFB020"/>
                </a:solidFill>
                <a:latin typeface="Arial" pitchFamily="34" charset="0"/>
                <a:ea typeface="Arial" pitchFamily="34" charset="-122"/>
                <a:cs typeface="Arial" pitchFamily="34" charset="-120"/>
              </a:rPr>
              <a:t>4 MIN</a:t>
            </a:r>
            <a:endParaRPr lang="en-US" sz="1000" dirty="0"/>
          </a:p>
        </p:txBody>
      </p:sp>
      <p:sp>
        <p:nvSpPr>
          <p:cNvPr id="6" name="Text 4"/>
          <p:cNvSpPr txBox="1"/>
          <p:nvPr/>
        </p:nvSpPr>
        <p:spPr>
          <a:xfrm>
            <a:off x="502920" y="502920"/>
            <a:ext cx="7040880" cy="548640"/>
          </a:xfrm>
          <a:prstGeom prst="rect">
            <a:avLst/>
          </a:prstGeom>
          <a:noFill/>
          <a:ln/>
        </p:spPr>
        <p:txBody>
          <a:bodyPr wrap="square" lIns="0" tIns="0" rIns="0" bIns="0" rtlCol="0" anchor="ctr"/>
          <a:lstStyle/>
          <a:p>
            <a:pPr indent="0" marL="0">
              <a:buNone/>
            </a:pPr>
            <a:r>
              <a:rPr lang="en-US" sz="2600" b="1" dirty="0">
                <a:solidFill>
                  <a:srgbClr val="FFB020"/>
                </a:solidFill>
                <a:latin typeface="Arial" pitchFamily="34" charset="0"/>
                <a:ea typeface="Arial" pitchFamily="34" charset="-122"/>
                <a:cs typeface="Arial" pitchFamily="34" charset="-120"/>
              </a:rPr>
              <a:t>Debrief</a:t>
            </a:r>
            <a:endParaRPr lang="en-US" sz="2600" dirty="0"/>
          </a:p>
        </p:txBody>
      </p:sp>
      <p:sp>
        <p:nvSpPr>
          <p:cNvPr id="8" name="Text 5"/>
          <p:cNvSpPr txBox="1"/>
          <p:nvPr/>
        </p:nvSpPr>
        <p:spPr>
          <a:xfrm>
            <a:off x="594360" y="1188720"/>
            <a:ext cx="7955280" cy="340614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Which planted error was hardest to catch — and what made it slippery?</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Where else does confident-but-wrong show up? Feeds, group chats, AI homework helpers...</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What's your personal "before I repeat it" rule from now on?</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11 / 12</a:t>
            </a:r>
            <a:endParaRPr lang="en-US" sz="900" dirty="0"/>
          </a:p>
        </p:txBody>
      </p:sp>
      <p:sp>
        <p:nvSpPr>
          <p:cNvPr id="4" name="Shape 2"/>
          <p:cNvSpPr/>
          <p:nvPr/>
        </p:nvSpPr>
        <p:spPr>
          <a:xfrm>
            <a:off x="7680960" y="146304"/>
            <a:ext cx="960120" cy="310896"/>
          </a:xfrm>
          <a:prstGeom prst="roundRect">
            <a:avLst>
              <a:gd name="adj" fmla="val 50000"/>
            </a:avLst>
          </a:prstGeom>
          <a:solidFill>
            <a:srgbClr val="14141F"/>
          </a:solidFill>
          <a:ln w="15875">
            <a:solidFill>
              <a:srgbClr val="FFB020"/>
            </a:solidFill>
            <a:prstDash val="solid"/>
          </a:ln>
        </p:spPr>
      </p:sp>
      <p:sp>
        <p:nvSpPr>
          <p:cNvPr id="5" name="Text 3"/>
          <p:cNvSpPr txBox="1"/>
          <p:nvPr/>
        </p:nvSpPr>
        <p:spPr>
          <a:xfrm>
            <a:off x="7680960" y="146304"/>
            <a:ext cx="960120" cy="310896"/>
          </a:xfrm>
          <a:prstGeom prst="rect">
            <a:avLst/>
          </a:prstGeom>
          <a:noFill/>
          <a:ln/>
        </p:spPr>
        <p:txBody>
          <a:bodyPr wrap="square" lIns="0" tIns="0" rIns="0" bIns="0" rtlCol="0" anchor="ctr"/>
          <a:lstStyle/>
          <a:p>
            <a:pPr algn="ctr" indent="0" marL="0">
              <a:buNone/>
            </a:pPr>
            <a:r>
              <a:rPr lang="en-US" sz="1000" b="1" dirty="0">
                <a:solidFill>
                  <a:srgbClr val="FFB020"/>
                </a:solidFill>
                <a:latin typeface="Arial" pitchFamily="34" charset="0"/>
                <a:ea typeface="Arial" pitchFamily="34" charset="-122"/>
                <a:cs typeface="Arial" pitchFamily="34" charset="-120"/>
              </a:rPr>
              <a:t>4 MIN</a:t>
            </a:r>
            <a:endParaRPr lang="en-US" sz="1000" dirty="0"/>
          </a:p>
        </p:txBody>
      </p:sp>
      <p:sp>
        <p:nvSpPr>
          <p:cNvPr id="6" name="Text 4"/>
          <p:cNvSpPr txBox="1"/>
          <p:nvPr/>
        </p:nvSpPr>
        <p:spPr>
          <a:xfrm>
            <a:off x="502920" y="502920"/>
            <a:ext cx="7040880" cy="548640"/>
          </a:xfrm>
          <a:prstGeom prst="rect">
            <a:avLst/>
          </a:prstGeom>
          <a:noFill/>
          <a:ln/>
        </p:spPr>
        <p:txBody>
          <a:bodyPr wrap="square" lIns="0" tIns="0" rIns="0" bIns="0" rtlCol="0" anchor="ctr"/>
          <a:lstStyle/>
          <a:p>
            <a:pPr indent="0" marL="0">
              <a:buNone/>
            </a:pPr>
            <a:r>
              <a:rPr lang="en-US" sz="2600" b="1" dirty="0">
                <a:solidFill>
                  <a:srgbClr val="FFB020"/>
                </a:solidFill>
                <a:latin typeface="Arial" pitchFamily="34" charset="0"/>
                <a:ea typeface="Arial" pitchFamily="34" charset="-122"/>
                <a:cs typeface="Arial" pitchFamily="34" charset="-120"/>
              </a:rPr>
              <a:t>Exit Ticket — Last Check</a:t>
            </a:r>
            <a:endParaRPr lang="en-US" sz="2600" dirty="0"/>
          </a:p>
        </p:txBody>
      </p:sp>
      <p:sp>
        <p:nvSpPr>
          <p:cNvPr id="8" name="Text 5"/>
          <p:cNvSpPr txBox="1"/>
          <p:nvPr/>
        </p:nvSpPr>
        <p:spPr>
          <a:xfrm>
            <a:off x="594360" y="1188720"/>
            <a:ext cx="7955280" cy="340614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1.  In your own words: how can AI sound 100% sure and still be wrong?</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2.  Name one checkable claim (a name, date, number, place, or quote) you saw online this week — or one you expect to see. Where would you check it? Name a second source that is NOT the place you first saw it (a textbook, an encyclopedia, a different website).</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12 / 12</a:t>
            </a:r>
            <a:endParaRPr lang="en-US" sz="900" dirty="0"/>
          </a:p>
        </p:txBody>
      </p:sp>
      <p:sp>
        <p:nvSpPr>
          <p:cNvPr id="5" name="Shape 2"/>
          <p:cNvSpPr/>
          <p:nvPr/>
        </p:nvSpPr>
        <p:spPr>
          <a:xfrm>
            <a:off x="7132320" y="-1097280"/>
            <a:ext cx="3291840" cy="3291840"/>
          </a:xfrm>
          <a:prstGeom prst="ellipse">
            <a:avLst/>
          </a:prstGeom>
          <a:solidFill>
            <a:srgbClr val="262648"/>
          </a:solidFill>
          <a:ln w="12700">
            <a:solidFill>
              <a:srgbClr val="262648"/>
            </a:solidFill>
            <a:prstDash val="solid"/>
          </a:ln>
        </p:spPr>
      </p:sp>
      <p:sp>
        <p:nvSpPr>
          <p:cNvPr id="6" name="Text 3"/>
          <p:cNvSpPr txBox="1"/>
          <p:nvPr/>
        </p:nvSpPr>
        <p:spPr>
          <a:xfrm>
            <a:off x="502920" y="1097280"/>
            <a:ext cx="6675120" cy="2011680"/>
          </a:xfrm>
          <a:prstGeom prst="rect">
            <a:avLst/>
          </a:prstGeom>
          <a:noFill/>
          <a:ln/>
        </p:spPr>
        <p:txBody>
          <a:bodyPr wrap="square" lIns="0" tIns="0" rIns="0" bIns="0" rtlCol="0" anchor="ctr"/>
          <a:lstStyle/>
          <a:p>
            <a:pPr indent="0" marL="0">
              <a:buNone/>
            </a:pPr>
            <a:r>
              <a:rPr lang="en-US" sz="3400" b="1" dirty="0">
                <a:solidFill>
                  <a:srgbClr val="FFB020"/>
                </a:solidFill>
                <a:latin typeface="Arial" pitchFamily="34" charset="0"/>
                <a:ea typeface="Arial" pitchFamily="34" charset="-122"/>
                <a:cs typeface="Arial" pitchFamily="34" charset="-120"/>
              </a:rPr>
              <a:t>Smooth is not the same as true.</a:t>
            </a:r>
            <a:endParaRPr lang="en-US" sz="3400" dirty="0"/>
          </a:p>
        </p:txBody>
      </p:sp>
      <p:sp>
        <p:nvSpPr>
          <p:cNvPr id="7" name="Text 4"/>
          <p:cNvSpPr txBox="1"/>
          <p:nvPr/>
        </p:nvSpPr>
        <p:spPr>
          <a:xfrm>
            <a:off x="502920" y="3200400"/>
            <a:ext cx="7680960" cy="1097280"/>
          </a:xfrm>
          <a:prstGeom prst="rect">
            <a:avLst/>
          </a:prstGeom>
          <a:noFill/>
          <a:ln/>
        </p:spPr>
        <p:txBody>
          <a:bodyPr wrap="square" lIns="0" tIns="0" rIns="0" bIns="0" rtlCol="0" anchor="t"/>
          <a:lstStyle/>
          <a:p>
            <a:pPr indent="0" marL="0">
              <a:buNone/>
            </a:pPr>
            <a:r>
              <a:rPr lang="en-US" sz="1600" dirty="0">
                <a:solidFill>
                  <a:srgbClr val="E8E8F5"/>
                </a:solidFill>
                <a:latin typeface="Arial" pitchFamily="34" charset="0"/>
                <a:ea typeface="Arial" pitchFamily="34" charset="-122"/>
                <a:cs typeface="Arial" pitchFamily="34" charset="-120"/>
              </a:rPr>
              <a:t>Desk rule to keep: before you repeat it, post it, or hand it in — check it. The desk is a habit, not a job.</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Future Skills Series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Hallucination Hunters — Slides</dc:title>
  <dc:subject>PptxGenJS Presentation</dc:subject>
  <dc:creator>Future Skills Series</dc:creator>
  <cp:lastModifiedBy>Future Skills Series</cp:lastModifiedBy>
  <cp:revision>1</cp:revision>
  <dcterms:created xsi:type="dcterms:W3CDTF">2026-09-11T16:32:44Z</dcterms:created>
  <dcterms:modified xsi:type="dcterms:W3CDTF">2026-09-11T16:32:44Z</dcterms:modified>
</cp:coreProperties>
</file>
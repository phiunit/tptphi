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this slide while students settle. Worksheet: The Studio Task Board, 2 pages, one per student — hand it out at the Main Activity, not before. Fully unplugged — no devices at any point; this deck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4–5 answers and write them on the board. Pick two or three and ask the follow-up on the slide. Sort them as a class: repeats → give it to a robot; people stuff → keep it human. A cafeteria cashier's job repeats — but the cashier also knows which kid forgot lunch money. Let students argue; the arguing is the point. If nobody offers a job with people stuff in it, offer one: "School bus driver — repeats the route, but also notices who's crying in row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pairs talk for 30 seconds, take two answers, then give the bridge verbatim: "Here's the honest version, no robot apocalypse: nobody can promise which jobs change, or how many. So far, it's the boring, repeating parts that get automated — AI takes over tasks, not whole jobs, and nobody can promise the final count. But every time a business automates something, somebody wins, somebody loses something, and something could go wrong. Today YOU make those decisions — for a recording studio." Transition: "So how do you decide what a robot should take? Three columns. Eyes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three columns on the board as you define them — students will sort into the same three on the worksheet. Gloss "the call" out loud: a call is a decision. Then advance to model the tradeoff lens on one studio task. With students, call it "the trade." What if a student says "automate everything, it's all boring"? Take it seriously: "Automate E — the nervous singer gets coached by a chatbot. Who lost something?" The trade does the arguing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three questions out loud, one at a time, and take a guess from the room before you read each answer on the right. Jaylen runs the front desk at Big Dream Studio; students meet him on the worksheet. The point: the same person can win AND lose from one decision. Key for the trade you are modeling — Who wins: Jaylen (hours back). Who loses something: Jaylen (the texts were how he learned every artist's name). What could go wrong: a cheerful reminder after a canceled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"The column is the easy part. The trade is the real thinking. In this room, 'because robots' is not a reason. 'Who wins, who loses something, what could go wrong' — that's a reason." The worksheet repeats the line on p.2. Hand-out line: "Worksheets coming around — one each, pairs of two. Page 1: meet Nia, Ravi and Jaylen, then read tasks A to L. Don't sort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Nia owns the studio and coaches the artists, Ravi runs the mixing boards, Jaylen runs the front desk. Leave the next two slides (the task list) up during the Sort. Sort what-if: a pair is stuck → "Does it repeat, or is it people stuff?"; a pair puts ten letters in AUTOMATE → "Which two would you hate to lose a person on?" Transition into trade cards: "Pens down. Page 2. Pick the TWO choices you argued about most — those are your trade cards." Trade-card what-if: "nobody loses" → "Even Jaylen lost something. Who used to do this task? What did they get from it?" Support: sort 8 tasks instead of 12 — skip B, F, J, L (every column still gets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twelve tasks as the worksheet. Likely-column key (grade the trade, not the column — most tasks are defensibly AUGMENT): A Automate — a chirpy text after a cancellation stings. B Automate — nobody misses it; the risk is silent failure, so spot-check. C Augment — AI drafts fast, but the studio's voice is Jaylen's. D Augment — AI gets most of the way; Ravi's ears decide. E Keep human — confidence is the whole point; a chatbot coach costs the singer. F Automate — a job nobody wants; a loyal regular gets a cold nudge. Circulate; when a pair is stuck, ask "Does it repeat, or is it people stuff?"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Likely-column key: G Keep human / Augment — taste is Nia's edge; AI can report what's trending, it doesn't decide. H Keep human / Augment — craft plus judgment; AI can suggest, hands do the work. I Keep human — trust and reading the room; a bot can cost the studio the booking. J Automate — pure transcription; it can mishear a line, so the artist checks. K Automate — same answers daily; the risk is the sixth question. L Keep human / Augment — the mood is live connection; AI can draft the checklist. Flip between this slide and the last one during the Sort. If the class splits three ways on one task, nobody's right — say so, and save it for Defend It: "Convince me. Who wins? Who loses something? What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 "Stop there. Now you have to say it out loud — to people who might disagree." Teach the delivery first (1 min): "Three moves: eyes up off the page, voice to the back wall, slow down on the word because." Pairs of pairs (5 min): two pairs face each other, one student across from each. Speaker 1 reads their claim out loud (30 seconds), then slides their sheet across. Listener 1 checks the three boxes and writes keep or fix (30 seconds), then slides it back. Switch: Speaker 2 reads, Listener 2 marks. Everyone ends with their own sheet. Each student's claim is scored by a peer; you sample 3–4 pairs with the Defense Rubric (Teacher Guide p.3). What if a Speaker reads to the desk? Don't score — coach: "Eyes on us, one more time." Second try counts. Odd number of pairs → one trio of pairs rotates; sample that group. Trio: 20 seconds each, listeners mark the boxes only. Whole class (2 min): three pairs bring their most-argued choice to the room. Gallery-walk variant: post the boards and tour for 2 minutes instead. Transition out: "You already have your own sheet — bottom of page 2. A job you actually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of worksheet p.2, solo. What if a student says "I don't know anyone with a job"? "Your teacher has one. Sort mine." Exemplar (Teacher Guide p.2): the job — an uncle's food truck. Automate: posting the truck's daily location, and who loses something — the uncle, a little: the regulars who used to text "where you at?" now just check the post. Augment: planning how much food to buy — AI predicts, he decides. Keep human: joking with the regulars at the window, because that's why they come back. Proficient = a real task in every column + a real loss on the AUTOMATE line + a why on KEEP HUMAN. Collect.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Next in the unit: Lead Your AI Squad (Lesson 6 — in the unit bundle, or sold separately) — students run a team of AI helpers on a real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 / 12</a:t>
            </a:r>
            <a:endParaRPr lang="en-US" sz="900" dirty="0"/>
          </a:p>
        </p:txBody>
      </p:sp>
      <p:pic>
        <p:nvPicPr>
          <p:cNvPr id="5" name="Image 0" descr="/home/user/tptphi/products/ai-boring-work/dist/Robots Do the Boring Work - Cover.png">    </p:cNvPr>
          <p:cNvPicPr>
            <a:picLocks noChangeAspect="1"/>
          </p:cNvPicPr>
          <p:nvPr/>
        </p:nvPicPr>
        <p:blipFill>
          <a:blip r:embed="rId1"/>
          <a:stretch>
            <a:fillRect/>
          </a:stretch>
        </p:blipFill>
        <p:spPr>
          <a:xfrm>
            <a:off x="5532120" y="605790"/>
            <a:ext cx="3108960" cy="4023360"/>
          </a:xfrm>
          <a:prstGeom prst="ellipse">
            <a:avLst/>
          </a:prstGeom>
        </p:spPr>
      </p:pic>
      <p:sp>
        <p:nvSpPr>
          <p:cNvPr id="6" name="Text 2"/>
          <p:cNvSpPr txBox="1"/>
          <p:nvPr/>
        </p:nvSpPr>
        <p:spPr>
          <a:xfrm>
            <a:off x="502920" y="1051560"/>
            <a:ext cx="4617720" cy="274320"/>
          </a:xfrm>
          <a:prstGeom prst="rect">
            <a:avLst/>
          </a:prstGeom>
          <a:noFill/>
          <a:ln/>
        </p:spPr>
        <p:txBody>
          <a:bodyPr wrap="square" lIns="0" tIns="0" rIns="0" bIns="0" rtlCol="0" anchor="t"/>
          <a:lstStyle/>
          <a:p>
            <a:pPr indent="0" marL="0">
              <a:buNone/>
            </a:pPr>
            <a:r>
              <a:rPr lang="en-US" sz="1100" b="1" spc="300" kern="0" dirty="0">
                <a:solidFill>
                  <a:srgbClr val="A9A9C4"/>
                </a:solidFill>
                <a:latin typeface="Arial" pitchFamily="34" charset="0"/>
                <a:ea typeface="Arial" pitchFamily="34" charset="-122"/>
                <a:cs typeface="Arial" pitchFamily="34" charset="-120"/>
              </a:rPr>
              <a:t>THE TASK BOARD LESSON</a:t>
            </a:r>
            <a:endParaRPr lang="en-US" sz="1100" dirty="0"/>
          </a:p>
        </p:txBody>
      </p:sp>
      <p:sp>
        <p:nvSpPr>
          <p:cNvPr id="7" name="Text 3"/>
          <p:cNvSpPr txBox="1"/>
          <p:nvPr/>
        </p:nvSpPr>
        <p:spPr>
          <a:xfrm>
            <a:off x="502920" y="1371600"/>
            <a:ext cx="4617720" cy="13716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Robots Do the Boring Work</a:t>
            </a:r>
            <a:endParaRPr lang="en-US" sz="4000" dirty="0"/>
          </a:p>
        </p:txBody>
      </p:sp>
      <p:sp>
        <p:nvSpPr>
          <p:cNvPr id="8" name="Text 4"/>
          <p:cNvSpPr txBox="1"/>
          <p:nvPr/>
        </p:nvSpPr>
        <p:spPr>
          <a:xfrm>
            <a:off x="502920" y="2834640"/>
            <a:ext cx="4617720" cy="914400"/>
          </a:xfrm>
          <a:prstGeom prst="rect">
            <a:avLst/>
          </a:prstGeom>
          <a:noFill/>
          <a:ln/>
        </p:spPr>
        <p:txBody>
          <a:bodyPr wrap="square" lIns="0" tIns="0" rIns="0" bIns="0" rtlCol="0" anchor="t"/>
          <a:lstStyle/>
          <a:p>
            <a:pPr indent="0" marL="0">
              <a:buNone/>
            </a:pPr>
            <a:r>
              <a:rPr lang="en-US" sz="1200" dirty="0">
                <a:solidFill>
                  <a:srgbClr val="E8E8F5"/>
                </a:solidFill>
                <a:latin typeface="Arial" pitchFamily="34" charset="0"/>
                <a:ea typeface="Arial" pitchFamily="34" charset="-122"/>
                <a:cs typeface="Arial" pitchFamily="34" charset="-120"/>
              </a:rPr>
              <a:t>Your class is the crew at Big Dream Studio, a recording studio with too much to do. You decide what the AI does, what it helps with, and what it never touches — and you own the trade behind every choice.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2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7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Warm-Up — The Most Boring Job Ever</a:t>
            </a:r>
            <a:endParaRPr lang="en-US" sz="2600" dirty="0"/>
          </a:p>
        </p:txBody>
      </p:sp>
      <p:sp>
        <p:nvSpPr>
          <p:cNvPr id="8" name="Text 5"/>
          <p:cNvSpPr txBox="1"/>
          <p:nvPr/>
        </p:nvSpPr>
        <p:spPr>
          <a:xfrm>
            <a:off x="502920" y="1188720"/>
            <a:ext cx="8138160" cy="8229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What's the most boring job you can think of?</a:t>
            </a:r>
            <a:endParaRPr lang="en-US" sz="2400" dirty="0"/>
          </a:p>
        </p:txBody>
      </p:sp>
      <p:sp>
        <p:nvSpPr>
          <p:cNvPr id="9" name="Shape 6"/>
          <p:cNvSpPr/>
          <p:nvPr/>
        </p:nvSpPr>
        <p:spPr>
          <a:xfrm>
            <a:off x="502920" y="2103120"/>
            <a:ext cx="8138160" cy="658368"/>
          </a:xfrm>
          <a:prstGeom prst="roundRect">
            <a:avLst>
              <a:gd name="adj" fmla="val 16667"/>
            </a:avLst>
          </a:prstGeom>
          <a:solidFill>
            <a:srgbClr val="262648"/>
          </a:solidFill>
          <a:ln w="12700">
            <a:solidFill>
              <a:srgbClr val="262648"/>
            </a:solidFill>
            <a:prstDash val="solid"/>
          </a:ln>
        </p:spPr>
      </p:sp>
      <p:sp>
        <p:nvSpPr>
          <p:cNvPr id="10" name="Text 7"/>
          <p:cNvSpPr txBox="1"/>
          <p:nvPr/>
        </p:nvSpPr>
        <p:spPr>
          <a:xfrm>
            <a:off x="731520" y="2103120"/>
            <a:ext cx="7680960" cy="658368"/>
          </a:xfrm>
          <a:prstGeom prst="rect">
            <a:avLst/>
          </a:prstGeom>
          <a:noFill/>
          <a:ln/>
        </p:spPr>
        <p:txBody>
          <a:bodyPr wrap="square" lIns="0" tIns="0" rIns="0" bIns="0" rtlCol="0" anchor="ctr"/>
          <a:lstStyle/>
          <a:p>
            <a:pPr indent="0" marL="0">
              <a:buNone/>
            </a:pPr>
            <a:r>
              <a:rPr lang="en-US" sz="1500" dirty="0">
                <a:solidFill>
                  <a:srgbClr val="E8E8F5"/>
                </a:solidFill>
                <a:latin typeface="Arial" pitchFamily="34" charset="0"/>
                <a:ea typeface="Arial" pitchFamily="34" charset="-122"/>
                <a:cs typeface="Arial" pitchFamily="34" charset="-120"/>
              </a:rPr>
              <a:t>Is it boring because it REPEATS — same thing, over and over, no decisions?</a:t>
            </a:r>
            <a:endParaRPr lang="en-US" sz="1500" dirty="0"/>
          </a:p>
        </p:txBody>
      </p:sp>
      <p:sp>
        <p:nvSpPr>
          <p:cNvPr id="11" name="Shape 8"/>
          <p:cNvSpPr/>
          <p:nvPr/>
        </p:nvSpPr>
        <p:spPr>
          <a:xfrm>
            <a:off x="502920" y="2852928"/>
            <a:ext cx="8138160" cy="658368"/>
          </a:xfrm>
          <a:prstGeom prst="roundRect">
            <a:avLst>
              <a:gd name="adj" fmla="val 16667"/>
            </a:avLst>
          </a:prstGeom>
          <a:solidFill>
            <a:srgbClr val="262648"/>
          </a:solidFill>
          <a:ln w="12700">
            <a:solidFill>
              <a:srgbClr val="262648"/>
            </a:solidFill>
            <a:prstDash val="solid"/>
          </a:ln>
        </p:spPr>
      </p:sp>
      <p:sp>
        <p:nvSpPr>
          <p:cNvPr id="12" name="Text 9"/>
          <p:cNvSpPr txBox="1"/>
          <p:nvPr/>
        </p:nvSpPr>
        <p:spPr>
          <a:xfrm>
            <a:off x="731520" y="2852928"/>
            <a:ext cx="7680960" cy="658368"/>
          </a:xfrm>
          <a:prstGeom prst="rect">
            <a:avLst/>
          </a:prstGeom>
          <a:noFill/>
          <a:ln/>
        </p:spPr>
        <p:txBody>
          <a:bodyPr wrap="square" lIns="0" tIns="0" rIns="0" bIns="0" rtlCol="0" anchor="ctr"/>
          <a:lstStyle/>
          <a:p>
            <a:pPr indent="0" marL="0">
              <a:buNone/>
            </a:pPr>
            <a:r>
              <a:rPr lang="en-US" sz="1500" dirty="0">
                <a:solidFill>
                  <a:srgbClr val="E8E8F5"/>
                </a:solidFill>
                <a:latin typeface="Arial" pitchFamily="34" charset="0"/>
                <a:ea typeface="Arial" pitchFamily="34" charset="-122"/>
                <a:cs typeface="Arial" pitchFamily="34" charset="-120"/>
              </a:rPr>
              <a:t>Or is it "boring" but secretly full of people stuff — helping, noticing, calming someone down?</a:t>
            </a:r>
            <a:endParaRPr lang="en-US" sz="1500" dirty="0"/>
          </a:p>
        </p:txBody>
      </p:sp>
      <p:sp>
        <p:nvSpPr>
          <p:cNvPr id="13" name="Shape 10"/>
          <p:cNvSpPr/>
          <p:nvPr/>
        </p:nvSpPr>
        <p:spPr>
          <a:xfrm>
            <a:off x="502920" y="3602736"/>
            <a:ext cx="8138160" cy="658368"/>
          </a:xfrm>
          <a:prstGeom prst="roundRect">
            <a:avLst>
              <a:gd name="adj" fmla="val 16667"/>
            </a:avLst>
          </a:prstGeom>
          <a:solidFill>
            <a:srgbClr val="262648"/>
          </a:solidFill>
          <a:ln w="12700">
            <a:solidFill>
              <a:srgbClr val="262648"/>
            </a:solidFill>
            <a:prstDash val="solid"/>
          </a:ln>
        </p:spPr>
      </p:sp>
      <p:sp>
        <p:nvSpPr>
          <p:cNvPr id="14" name="Text 11"/>
          <p:cNvSpPr txBox="1"/>
          <p:nvPr/>
        </p:nvSpPr>
        <p:spPr>
          <a:xfrm>
            <a:off x="731520" y="3602736"/>
            <a:ext cx="7680960" cy="658368"/>
          </a:xfrm>
          <a:prstGeom prst="rect">
            <a:avLst/>
          </a:prstGeom>
          <a:noFill/>
          <a:ln/>
        </p:spPr>
        <p:txBody>
          <a:bodyPr wrap="square" lIns="0" tIns="0" rIns="0" bIns="0" rtlCol="0" anchor="ctr"/>
          <a:lstStyle/>
          <a:p>
            <a:pPr indent="0" marL="0">
              <a:buNone/>
            </a:pPr>
            <a:r>
              <a:rPr lang="en-US" sz="1500" dirty="0">
                <a:solidFill>
                  <a:srgbClr val="E8E8F5"/>
                </a:solidFill>
                <a:latin typeface="Arial" pitchFamily="34" charset="0"/>
                <a:ea typeface="Arial" pitchFamily="34" charset="-122"/>
                <a:cs typeface="Arial" pitchFamily="34" charset="-120"/>
              </a:rPr>
              <a:t>Repeats  →  give it to a robot.     People stuff  →  keep it human.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3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Will AI take all the jobs?</a:t>
            </a:r>
            <a:endParaRPr lang="en-US" sz="2600" dirty="0"/>
          </a:p>
        </p:txBody>
      </p:sp>
      <p:sp>
        <p:nvSpPr>
          <p:cNvPr id="6" name="Text 3"/>
          <p:cNvSpPr txBox="1"/>
          <p:nvPr/>
        </p:nvSpPr>
        <p:spPr>
          <a:xfrm>
            <a:off x="502920" y="1097280"/>
            <a:ext cx="1097280" cy="1737360"/>
          </a:xfrm>
          <a:prstGeom prst="rect">
            <a:avLst/>
          </a:prstGeom>
          <a:noFill/>
          <a:ln/>
        </p:spPr>
        <p:txBody>
          <a:bodyPr wrap="square" lIns="0" tIns="0" rIns="0" bIns="0" rtlCol="0" anchor="t"/>
          <a:lstStyle/>
          <a:p>
            <a:pPr indent="0" marL="0">
              <a:buNone/>
            </a:pPr>
            <a:r>
              <a:rPr lang="en-US" sz="9600" b="1" dirty="0">
                <a:solidFill>
                  <a:srgbClr val="FFB020"/>
                </a:solidFill>
                <a:latin typeface="Arial" pitchFamily="34" charset="0"/>
                <a:ea typeface="Arial" pitchFamily="34" charset="-122"/>
                <a:cs typeface="Arial" pitchFamily="34" charset="-120"/>
              </a:rPr>
              <a:t>?</a:t>
            </a:r>
            <a:endParaRPr lang="en-US" sz="9600" dirty="0"/>
          </a:p>
        </p:txBody>
      </p:sp>
      <p:sp>
        <p:nvSpPr>
          <p:cNvPr id="7" name="Text 4"/>
          <p:cNvSpPr txBox="1"/>
          <p:nvPr/>
        </p:nvSpPr>
        <p:spPr>
          <a:xfrm>
            <a:off x="1737360" y="1188720"/>
            <a:ext cx="6903720" cy="1873377"/>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Nobody can promise which jobs change. So what CAN we see already?</a:t>
            </a:r>
            <a:endParaRPr lang="en-US" sz="3000" dirty="0"/>
          </a:p>
        </p:txBody>
      </p:sp>
      <p:sp>
        <p:nvSpPr>
          <p:cNvPr id="8" name="Text 5"/>
          <p:cNvSpPr txBox="1"/>
          <p:nvPr/>
        </p:nvSpPr>
        <p:spPr>
          <a:xfrm>
            <a:off x="1737360" y="3199257"/>
            <a:ext cx="6903720" cy="1395603"/>
          </a:xfrm>
          <a:prstGeom prst="rect">
            <a:avLst/>
          </a:prstGeom>
          <a:noFill/>
          <a:ln/>
        </p:spPr>
        <p:txBody>
          <a:bodyPr wrap="square" lIns="0" tIns="0" rIns="0" bIns="0" rtlCol="0" anchor="t"/>
          <a:lstStyle/>
          <a:p>
            <a:pPr indent="0" marL="0">
              <a:buNone/>
            </a:pPr>
            <a:r>
              <a:rPr lang="en-US" sz="1600" dirty="0">
                <a:solidFill>
                  <a:srgbClr val="A9A9C4"/>
                </a:solidFill>
                <a:latin typeface="Arial" pitchFamily="34" charset="0"/>
                <a:ea typeface="Arial" pitchFamily="34" charset="-122"/>
                <a:cs typeface="Arial" pitchFamily="34" charset="-120"/>
              </a:rPr>
              <a:t>Thirty seconds with a partner: look at the boring jobs on the board. Which parts repeat — and which parts are people stuff?</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4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10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Three Columns, One Question</a:t>
            </a:r>
            <a:endParaRPr lang="en-US" sz="2600" dirty="0"/>
          </a:p>
        </p:txBody>
      </p:sp>
      <p:sp>
        <p:nvSpPr>
          <p:cNvPr id="8" name="Shape 5"/>
          <p:cNvSpPr/>
          <p:nvPr/>
        </p:nvSpPr>
        <p:spPr>
          <a:xfrm>
            <a:off x="502920" y="1188720"/>
            <a:ext cx="2560320" cy="3406140"/>
          </a:xfrm>
          <a:prstGeom prst="roundRect">
            <a:avLst>
              <a:gd name="adj" fmla="val 5000"/>
            </a:avLst>
          </a:prstGeom>
          <a:solidFill>
            <a:srgbClr val="262648"/>
          </a:solidFill>
          <a:ln w="12700">
            <a:solidFill>
              <a:srgbClr val="262648"/>
            </a:solidFill>
            <a:prstDash val="solid"/>
          </a:ln>
        </p:spPr>
      </p:sp>
      <p:sp>
        <p:nvSpPr>
          <p:cNvPr id="9" name="Shape 6"/>
          <p:cNvSpPr/>
          <p:nvPr/>
        </p:nvSpPr>
        <p:spPr>
          <a:xfrm>
            <a:off x="731520" y="1417320"/>
            <a:ext cx="502920" cy="502920"/>
          </a:xfrm>
          <a:prstGeom prst="ellipse">
            <a:avLst/>
          </a:prstGeom>
          <a:solidFill>
            <a:srgbClr val="FFB020"/>
          </a:solidFill>
          <a:ln w="12700">
            <a:solidFill>
              <a:srgbClr val="FFB020"/>
            </a:solidFill>
            <a:prstDash val="solid"/>
          </a:ln>
        </p:spPr>
      </p:sp>
      <p:sp>
        <p:nvSpPr>
          <p:cNvPr id="10" name="Text 7"/>
          <p:cNvSpPr txBox="1"/>
          <p:nvPr/>
        </p:nvSpPr>
        <p:spPr>
          <a:xfrm>
            <a:off x="731520" y="1417320"/>
            <a:ext cx="502920" cy="50292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1</a:t>
            </a:r>
            <a:endParaRPr lang="en-US" sz="1600" dirty="0"/>
          </a:p>
        </p:txBody>
      </p:sp>
      <p:sp>
        <p:nvSpPr>
          <p:cNvPr id="11" name="Text 8"/>
          <p:cNvSpPr txBox="1"/>
          <p:nvPr/>
        </p:nvSpPr>
        <p:spPr>
          <a:xfrm>
            <a:off x="731520" y="2057400"/>
            <a:ext cx="2103120" cy="457200"/>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AUTOMATE</a:t>
            </a:r>
            <a:endParaRPr lang="en-US" sz="1700" dirty="0"/>
          </a:p>
        </p:txBody>
      </p:sp>
      <p:sp>
        <p:nvSpPr>
          <p:cNvPr id="12" name="Text 9"/>
          <p:cNvSpPr txBox="1"/>
          <p:nvPr/>
        </p:nvSpPr>
        <p:spPr>
          <a:xfrm>
            <a:off x="731520" y="2560320"/>
            <a:ext cx="210312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Boring and repeating — no decisions to make. Hand it to AI.</a:t>
            </a:r>
            <a:endParaRPr lang="en-US" sz="1400" dirty="0"/>
          </a:p>
        </p:txBody>
      </p:sp>
      <p:sp>
        <p:nvSpPr>
          <p:cNvPr id="13" name="Shape 10"/>
          <p:cNvSpPr/>
          <p:nvPr/>
        </p:nvSpPr>
        <p:spPr>
          <a:xfrm>
            <a:off x="3291840" y="1188720"/>
            <a:ext cx="2560320" cy="3406140"/>
          </a:xfrm>
          <a:prstGeom prst="roundRect">
            <a:avLst>
              <a:gd name="adj" fmla="val 5000"/>
            </a:avLst>
          </a:prstGeom>
          <a:solidFill>
            <a:srgbClr val="262648"/>
          </a:solidFill>
          <a:ln w="12700">
            <a:solidFill>
              <a:srgbClr val="262648"/>
            </a:solidFill>
            <a:prstDash val="solid"/>
          </a:ln>
        </p:spPr>
      </p:sp>
      <p:sp>
        <p:nvSpPr>
          <p:cNvPr id="14" name="Shape 11"/>
          <p:cNvSpPr/>
          <p:nvPr/>
        </p:nvSpPr>
        <p:spPr>
          <a:xfrm>
            <a:off x="3520440" y="1417320"/>
            <a:ext cx="502920" cy="502920"/>
          </a:xfrm>
          <a:prstGeom prst="ellipse">
            <a:avLst/>
          </a:prstGeom>
          <a:solidFill>
            <a:srgbClr val="FFB020"/>
          </a:solidFill>
          <a:ln w="12700">
            <a:solidFill>
              <a:srgbClr val="FFB020"/>
            </a:solidFill>
            <a:prstDash val="solid"/>
          </a:ln>
        </p:spPr>
      </p:sp>
      <p:sp>
        <p:nvSpPr>
          <p:cNvPr id="15" name="Text 12"/>
          <p:cNvSpPr txBox="1"/>
          <p:nvPr/>
        </p:nvSpPr>
        <p:spPr>
          <a:xfrm>
            <a:off x="3520440" y="1417320"/>
            <a:ext cx="502920" cy="50292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2</a:t>
            </a:r>
            <a:endParaRPr lang="en-US" sz="1600" dirty="0"/>
          </a:p>
        </p:txBody>
      </p:sp>
      <p:sp>
        <p:nvSpPr>
          <p:cNvPr id="16" name="Text 13"/>
          <p:cNvSpPr txBox="1"/>
          <p:nvPr/>
        </p:nvSpPr>
        <p:spPr>
          <a:xfrm>
            <a:off x="3520440" y="2057400"/>
            <a:ext cx="2103120" cy="457200"/>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AUGMENT</a:t>
            </a:r>
            <a:endParaRPr lang="en-US" sz="1700" dirty="0"/>
          </a:p>
        </p:txBody>
      </p:sp>
      <p:sp>
        <p:nvSpPr>
          <p:cNvPr id="17" name="Text 14"/>
          <p:cNvSpPr txBox="1"/>
          <p:nvPr/>
        </p:nvSpPr>
        <p:spPr>
          <a:xfrm>
            <a:off x="3520440" y="2560320"/>
            <a:ext cx="210312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A human makes the call — the decision — and AI helps out.</a:t>
            </a:r>
            <a:endParaRPr lang="en-US" sz="1400" dirty="0"/>
          </a:p>
        </p:txBody>
      </p:sp>
      <p:sp>
        <p:nvSpPr>
          <p:cNvPr id="18" name="Shape 15"/>
          <p:cNvSpPr/>
          <p:nvPr/>
        </p:nvSpPr>
        <p:spPr>
          <a:xfrm>
            <a:off x="6080760" y="1188720"/>
            <a:ext cx="2560320" cy="3406140"/>
          </a:xfrm>
          <a:prstGeom prst="roundRect">
            <a:avLst>
              <a:gd name="adj" fmla="val 5000"/>
            </a:avLst>
          </a:prstGeom>
          <a:solidFill>
            <a:srgbClr val="262648"/>
          </a:solidFill>
          <a:ln w="12700">
            <a:solidFill>
              <a:srgbClr val="262648"/>
            </a:solidFill>
            <a:prstDash val="solid"/>
          </a:ln>
        </p:spPr>
      </p:sp>
      <p:sp>
        <p:nvSpPr>
          <p:cNvPr id="19" name="Shape 16"/>
          <p:cNvSpPr/>
          <p:nvPr/>
        </p:nvSpPr>
        <p:spPr>
          <a:xfrm>
            <a:off x="6309360" y="1417320"/>
            <a:ext cx="502920" cy="502920"/>
          </a:xfrm>
          <a:prstGeom prst="ellipse">
            <a:avLst/>
          </a:prstGeom>
          <a:solidFill>
            <a:srgbClr val="FFB020"/>
          </a:solidFill>
          <a:ln w="12700">
            <a:solidFill>
              <a:srgbClr val="FFB020"/>
            </a:solidFill>
            <a:prstDash val="solid"/>
          </a:ln>
        </p:spPr>
      </p:sp>
      <p:sp>
        <p:nvSpPr>
          <p:cNvPr id="20" name="Text 17"/>
          <p:cNvSpPr txBox="1"/>
          <p:nvPr/>
        </p:nvSpPr>
        <p:spPr>
          <a:xfrm>
            <a:off x="6309360" y="1417320"/>
            <a:ext cx="502920" cy="50292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3</a:t>
            </a:r>
            <a:endParaRPr lang="en-US" sz="1600" dirty="0"/>
          </a:p>
        </p:txBody>
      </p:sp>
      <p:sp>
        <p:nvSpPr>
          <p:cNvPr id="21" name="Text 18"/>
          <p:cNvSpPr txBox="1"/>
          <p:nvPr/>
        </p:nvSpPr>
        <p:spPr>
          <a:xfrm>
            <a:off x="6309360" y="2057400"/>
            <a:ext cx="2103120" cy="457200"/>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KEEP HUMAN</a:t>
            </a:r>
            <a:endParaRPr lang="en-US" sz="1700" dirty="0"/>
          </a:p>
        </p:txBody>
      </p:sp>
      <p:sp>
        <p:nvSpPr>
          <p:cNvPr id="22" name="Text 19"/>
          <p:cNvSpPr txBox="1"/>
          <p:nvPr/>
        </p:nvSpPr>
        <p:spPr>
          <a:xfrm>
            <a:off x="6309360" y="2560320"/>
            <a:ext cx="2103120" cy="1805940"/>
          </a:xfrm>
          <a:prstGeom prst="rect">
            <a:avLst/>
          </a:prstGeom>
          <a:noFill/>
          <a:ln/>
        </p:spPr>
        <p:txBody>
          <a:bodyPr wrap="square" lIns="0" tIns="0" rIns="0" bIns="0" rtlCol="0" anchor="t"/>
          <a:lstStyle/>
          <a:p>
            <a:pPr indent="0" marL="0">
              <a:buNone/>
            </a:pPr>
            <a:r>
              <a:rPr lang="en-US" sz="1400" dirty="0">
                <a:solidFill>
                  <a:srgbClr val="E8E8F5"/>
                </a:solidFill>
                <a:latin typeface="Arial" pitchFamily="34" charset="0"/>
                <a:ea typeface="Arial" pitchFamily="34" charset="-122"/>
                <a:cs typeface="Arial" pitchFamily="34" charset="-120"/>
              </a:rPr>
              <a:t>Coaching, taste, being there for someone. The person is the whole point.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5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500" b="1" dirty="0">
                <a:solidFill>
                  <a:srgbClr val="FFB020"/>
                </a:solidFill>
                <a:latin typeface="Arial" pitchFamily="34" charset="0"/>
                <a:ea typeface="Arial" pitchFamily="34" charset="-122"/>
                <a:cs typeface="Arial" pitchFamily="34" charset="-120"/>
              </a:rPr>
              <a:t>Watch one get sorted — then the trade</a:t>
            </a:r>
            <a:endParaRPr lang="en-US" sz="2500" dirty="0"/>
          </a:p>
        </p:txBody>
      </p:sp>
      <p:sp>
        <p:nvSpPr>
          <p:cNvPr id="6" name="Shape 3"/>
          <p:cNvSpPr/>
          <p:nvPr/>
        </p:nvSpPr>
        <p:spPr>
          <a:xfrm>
            <a:off x="502920" y="1188720"/>
            <a:ext cx="3931920" cy="3406140"/>
          </a:xfrm>
          <a:prstGeom prst="roundRect">
            <a:avLst>
              <a:gd name="adj" fmla="val 3758"/>
            </a:avLst>
          </a:prstGeom>
          <a:solidFill>
            <a:srgbClr val="262648"/>
          </a:solidFill>
          <a:ln w="12700">
            <a:solidFill>
              <a:srgbClr val="262648"/>
            </a:solidFill>
            <a:prstDash val="solid"/>
          </a:ln>
        </p:spPr>
      </p:sp>
      <p:sp>
        <p:nvSpPr>
          <p:cNvPr id="7" name="Text 4"/>
          <p:cNvSpPr txBox="1"/>
          <p:nvPr/>
        </p:nvSpPr>
        <p:spPr>
          <a:xfrm>
            <a:off x="731520" y="1371600"/>
            <a:ext cx="3474720" cy="365760"/>
          </a:xfrm>
          <a:prstGeom prst="rect">
            <a:avLst/>
          </a:prstGeom>
          <a:noFill/>
          <a:ln/>
        </p:spPr>
        <p:txBody>
          <a:bodyPr wrap="square" lIns="0" tIns="0" rIns="0" bIns="0" rtlCol="0" anchor="t"/>
          <a:lstStyle/>
          <a:p>
            <a:pPr indent="0" marL="0">
              <a:buNone/>
            </a:pPr>
            <a:r>
              <a:rPr lang="en-US" sz="1300" b="1" spc="100" kern="0" dirty="0">
                <a:solidFill>
                  <a:srgbClr val="A9A9C4"/>
                </a:solidFill>
                <a:latin typeface="Arial" pitchFamily="34" charset="0"/>
                <a:ea typeface="Arial" pitchFamily="34" charset="-122"/>
                <a:cs typeface="Arial" pitchFamily="34" charset="-120"/>
              </a:rPr>
              <a:t>THE COLUMN (EASY PART)</a:t>
            </a:r>
            <a:endParaRPr lang="en-US" sz="1300" dirty="0"/>
          </a:p>
        </p:txBody>
      </p:sp>
      <p:sp>
        <p:nvSpPr>
          <p:cNvPr id="8" name="Text 5"/>
          <p:cNvSpPr txBox="1"/>
          <p:nvPr/>
        </p:nvSpPr>
        <p:spPr>
          <a:xfrm>
            <a:off x="731520" y="1828800"/>
            <a:ext cx="3474720" cy="258318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Task: "Send the 'don't forget your session' texts."</a:t>
            </a:r>
            <a:endParaRPr lang="en-US" sz="1700" dirty="0"/>
          </a:p>
          <a:p>
            <a:pPr indent="0" marL="0">
              <a:buNone/>
            </a:pP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Column: AUTOMATE.</a:t>
            </a:r>
            <a:endParaRPr lang="en-US" sz="1700" dirty="0"/>
          </a:p>
          <a:p>
            <a:pPr indent="0" marL="0">
              <a:buNone/>
            </a:pP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Done? No. Don't stop there.</a:t>
            </a:r>
            <a:endParaRPr lang="en-US" sz="1700" dirty="0"/>
          </a:p>
        </p:txBody>
      </p:sp>
      <p:sp>
        <p:nvSpPr>
          <p:cNvPr id="9" name="Shape 6"/>
          <p:cNvSpPr/>
          <p:nvPr/>
        </p:nvSpPr>
        <p:spPr>
          <a:xfrm>
            <a:off x="4709160" y="1188720"/>
            <a:ext cx="3931920" cy="3406140"/>
          </a:xfrm>
          <a:prstGeom prst="roundRect">
            <a:avLst>
              <a:gd name="adj" fmla="val 3758"/>
            </a:avLst>
          </a:prstGeom>
          <a:solidFill>
            <a:srgbClr val="2F2A5C"/>
          </a:solidFill>
          <a:ln w="19050">
            <a:solidFill>
              <a:srgbClr val="FFB020"/>
            </a:solidFill>
            <a:prstDash val="solid"/>
          </a:ln>
        </p:spPr>
      </p:sp>
      <p:sp>
        <p:nvSpPr>
          <p:cNvPr id="10" name="Text 7"/>
          <p:cNvSpPr txBox="1"/>
          <p:nvPr/>
        </p:nvSpPr>
        <p:spPr>
          <a:xfrm>
            <a:off x="4937760" y="1371600"/>
            <a:ext cx="3474720" cy="365760"/>
          </a:xfrm>
          <a:prstGeom prst="rect">
            <a:avLst/>
          </a:prstGeom>
          <a:noFill/>
          <a:ln/>
        </p:spPr>
        <p:txBody>
          <a:bodyPr wrap="square" lIns="0" tIns="0" rIns="0" bIns="0" rtlCol="0" anchor="t"/>
          <a:lstStyle/>
          <a:p>
            <a:pPr indent="0" marL="0">
              <a:buNone/>
            </a:pPr>
            <a:r>
              <a:rPr lang="en-US" sz="1300" b="1" spc="100" kern="0" dirty="0">
                <a:solidFill>
                  <a:srgbClr val="FFB020"/>
                </a:solidFill>
                <a:latin typeface="Arial" pitchFamily="34" charset="0"/>
                <a:ea typeface="Arial" pitchFamily="34" charset="-122"/>
                <a:cs typeface="Arial" pitchFamily="34" charset="-120"/>
              </a:rPr>
              <a:t>THE TRADE (REAL THINKING)</a:t>
            </a:r>
            <a:endParaRPr lang="en-US" sz="1300" dirty="0"/>
          </a:p>
        </p:txBody>
      </p:sp>
      <p:sp>
        <p:nvSpPr>
          <p:cNvPr id="11" name="Text 8"/>
          <p:cNvSpPr txBox="1"/>
          <p:nvPr/>
        </p:nvSpPr>
        <p:spPr>
          <a:xfrm>
            <a:off x="4937760" y="1828800"/>
            <a:ext cx="3474720" cy="2583180"/>
          </a:xfrm>
          <a:prstGeom prst="rect">
            <a:avLst/>
          </a:prstGeom>
          <a:noFill/>
          <a:ln/>
        </p:spPr>
        <p:txBody>
          <a:bodyPr wrap="square" lIns="0" tIns="0" rIns="0" bIns="0" rtlCol="0" anchor="t"/>
          <a:lstStyle/>
          <a:p>
            <a:pPr indent="0" marL="0">
              <a:buNone/>
            </a:pPr>
            <a:r>
              <a:rPr lang="en-US" sz="1700" dirty="0">
                <a:solidFill>
                  <a:srgbClr val="FFFFFF"/>
                </a:solidFill>
                <a:latin typeface="Arial" pitchFamily="34" charset="0"/>
                <a:ea typeface="Arial" pitchFamily="34" charset="-122"/>
                <a:cs typeface="Arial" pitchFamily="34" charset="-120"/>
              </a:rPr>
              <a:t>Wins: Jaylen — gets hours of his week back.</a:t>
            </a:r>
            <a:endParaRPr lang="en-US" sz="1700" dirty="0"/>
          </a:p>
          <a:p>
            <a:pPr indent="0" marL="0">
              <a:buNone/>
            </a:pP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Loses something: Jaylen — those texts taught him every name.</a:t>
            </a:r>
            <a:endParaRPr lang="en-US" sz="1700" dirty="0"/>
          </a:p>
          <a:p>
            <a:pPr indent="0" marL="0">
              <a:buNone/>
            </a:pP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Could go wrong: a cheery text after a canceled session.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6 / 12</a:t>
            </a:r>
            <a:endParaRPr lang="en-US" sz="900" dirty="0"/>
          </a:p>
        </p:txBody>
      </p:sp>
      <p:sp>
        <p:nvSpPr>
          <p:cNvPr id="5" name="Text 2"/>
          <p:cNvSpPr txBox="1"/>
          <p:nvPr/>
        </p:nvSpPr>
        <p:spPr>
          <a:xfrm>
            <a:off x="502920" y="457200"/>
            <a:ext cx="1005840" cy="2011680"/>
          </a:xfrm>
          <a:prstGeom prst="rect">
            <a:avLst/>
          </a:prstGeom>
          <a:noFill/>
          <a:ln/>
        </p:spPr>
        <p:txBody>
          <a:bodyPr wrap="square" lIns="0" tIns="0" rIns="0" bIns="0" rtlCol="0" anchor="t"/>
          <a:lstStyle/>
          <a:p>
            <a:pPr indent="0" marL="0">
              <a:buNone/>
            </a:pPr>
            <a:r>
              <a:rPr lang="en-US" sz="11000" b="1" dirty="0">
                <a:solidFill>
                  <a:srgbClr val="FFB020"/>
                </a:solidFill>
                <a:latin typeface="Arial" pitchFamily="34" charset="0"/>
                <a:ea typeface="Arial" pitchFamily="34" charset="-122"/>
                <a:cs typeface="Arial" pitchFamily="34" charset="-120"/>
              </a:rPr>
              <a:t>“</a:t>
            </a:r>
            <a:endParaRPr lang="en-US" sz="11000" dirty="0"/>
          </a:p>
        </p:txBody>
      </p:sp>
      <p:sp>
        <p:nvSpPr>
          <p:cNvPr id="6" name="Text 3"/>
          <p:cNvSpPr txBox="1"/>
          <p:nvPr/>
        </p:nvSpPr>
        <p:spPr>
          <a:xfrm>
            <a:off x="1554480" y="685800"/>
            <a:ext cx="7086600" cy="2267255"/>
          </a:xfrm>
          <a:prstGeom prst="rect">
            <a:avLst/>
          </a:prstGeom>
          <a:noFill/>
          <a:ln/>
        </p:spPr>
        <p:txBody>
          <a:bodyPr wrap="square" lIns="0" tIns="0" rIns="0" bIns="0" rtlCol="0" anchor="ctr"/>
          <a:lstStyle/>
          <a:p>
            <a:pPr indent="0" marL="0">
              <a:buNone/>
            </a:pPr>
            <a:r>
              <a:rPr lang="en-US" sz="2800" i="1" dirty="0">
                <a:solidFill>
                  <a:srgbClr val="FFFFFF"/>
                </a:solidFill>
                <a:latin typeface="Arial" pitchFamily="34" charset="0"/>
                <a:ea typeface="Arial" pitchFamily="34" charset="-122"/>
                <a:cs typeface="Arial" pitchFamily="34" charset="-120"/>
              </a:rPr>
              <a:t>"Because robots" is not a reason.</a:t>
            </a:r>
            <a:endParaRPr lang="en-US" sz="2800" dirty="0"/>
          </a:p>
        </p:txBody>
      </p:sp>
      <p:sp>
        <p:nvSpPr>
          <p:cNvPr id="7" name="Text 4"/>
          <p:cNvSpPr txBox="1"/>
          <p:nvPr/>
        </p:nvSpPr>
        <p:spPr>
          <a:xfrm>
            <a:off x="1554480" y="3090215"/>
            <a:ext cx="7086600" cy="1504645"/>
          </a:xfrm>
          <a:prstGeom prst="rect">
            <a:avLst/>
          </a:prstGeom>
          <a:noFill/>
          <a:ln/>
        </p:spPr>
        <p:txBody>
          <a:bodyPr wrap="square" lIns="0" tIns="0" rIns="0" bIns="0" rtlCol="0" anchor="t"/>
          <a:lstStyle/>
          <a:p>
            <a:pPr indent="0" marL="0">
              <a:buNone/>
            </a:pPr>
            <a:r>
              <a:rPr lang="en-US" sz="1500" dirty="0">
                <a:solidFill>
                  <a:srgbClr val="A9A9C4"/>
                </a:solidFill>
                <a:latin typeface="Arial" pitchFamily="34" charset="0"/>
                <a:ea typeface="Arial" pitchFamily="34" charset="-122"/>
                <a:cs typeface="Arial" pitchFamily="34" charset="-120"/>
              </a:rPr>
              <a:t>"Who wins, who loses something, what could go wrong" — that's a reason. The column is the easy part. The trade is the real thinking.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7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15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400" b="1" dirty="0">
                <a:solidFill>
                  <a:srgbClr val="FFB020"/>
                </a:solidFill>
                <a:latin typeface="Arial" pitchFamily="34" charset="0"/>
                <a:ea typeface="Arial" pitchFamily="34" charset="-122"/>
                <a:cs typeface="Arial" pitchFamily="34" charset="-120"/>
              </a:rPr>
              <a:t>Main Activity — The Studio Task Board</a:t>
            </a:r>
            <a:endParaRPr lang="en-US" sz="2400" dirty="0"/>
          </a:p>
        </p:txBody>
      </p:sp>
      <p:sp>
        <p:nvSpPr>
          <p:cNvPr id="8" name="Shape 5"/>
          <p:cNvSpPr/>
          <p:nvPr/>
        </p:nvSpPr>
        <p:spPr>
          <a:xfrm>
            <a:off x="502920" y="1234440"/>
            <a:ext cx="457200" cy="457200"/>
          </a:xfrm>
          <a:prstGeom prst="ellipse">
            <a:avLst/>
          </a:prstGeom>
          <a:solidFill>
            <a:srgbClr val="FFB020"/>
          </a:solidFill>
          <a:ln w="12700">
            <a:solidFill>
              <a:srgbClr val="FFB020"/>
            </a:solidFill>
            <a:prstDash val="solid"/>
          </a:ln>
        </p:spPr>
      </p:sp>
      <p:sp>
        <p:nvSpPr>
          <p:cNvPr id="9" name="Text 6"/>
          <p:cNvSpPr txBox="1"/>
          <p:nvPr/>
        </p:nvSpPr>
        <p:spPr>
          <a:xfrm>
            <a:off x="502920" y="1234440"/>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1</a:t>
            </a:r>
            <a:endParaRPr lang="en-US" sz="1600" dirty="0"/>
          </a:p>
        </p:txBody>
      </p:sp>
      <p:sp>
        <p:nvSpPr>
          <p:cNvPr id="10" name="Text 7"/>
          <p:cNvSpPr txBox="1"/>
          <p:nvPr/>
        </p:nvSpPr>
        <p:spPr>
          <a:xfrm>
            <a:off x="1143000" y="1188720"/>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Sort   ·   8 min</a:t>
            </a:r>
            <a:endParaRPr lang="en-US" sz="1500" dirty="0"/>
          </a:p>
        </p:txBody>
      </p:sp>
      <p:sp>
        <p:nvSpPr>
          <p:cNvPr id="11" name="Text 8"/>
          <p:cNvSpPr txBox="1"/>
          <p:nvPr/>
        </p:nvSpPr>
        <p:spPr>
          <a:xfrm>
            <a:off x="1143000" y="1517904"/>
            <a:ext cx="7498080" cy="612648"/>
          </a:xfrm>
          <a:prstGeom prst="rect">
            <a:avLst/>
          </a:prstGeom>
          <a:noFill/>
          <a:ln/>
        </p:spPr>
        <p:txBody>
          <a:bodyPr wrap="square" lIns="0" tIns="0" rIns="0" bIns="0" rtlCol="0" anchor="t"/>
          <a:lstStyle/>
          <a:p>
            <a:pPr indent="0" marL="0">
              <a:buNone/>
            </a:pPr>
            <a:r>
              <a:rPr lang="en-US" sz="1300" dirty="0">
                <a:solidFill>
                  <a:srgbClr val="E8E8F5"/>
                </a:solidFill>
                <a:latin typeface="Arial" pitchFamily="34" charset="0"/>
                <a:ea typeface="Arial" pitchFamily="34" charset="-122"/>
                <a:cs typeface="Arial" pitchFamily="34" charset="-120"/>
              </a:rPr>
              <a:t>Pairs. Write each letter A–L in its column — as many as belong. Rule: every column gets at least two. Disagree? Talk it out.</a:t>
            </a:r>
            <a:endParaRPr lang="en-US" sz="1300" dirty="0"/>
          </a:p>
        </p:txBody>
      </p:sp>
      <p:sp>
        <p:nvSpPr>
          <p:cNvPr id="12" name="Shape 9"/>
          <p:cNvSpPr/>
          <p:nvPr/>
        </p:nvSpPr>
        <p:spPr>
          <a:xfrm>
            <a:off x="502920" y="2286000"/>
            <a:ext cx="457200" cy="457200"/>
          </a:xfrm>
          <a:prstGeom prst="ellipse">
            <a:avLst/>
          </a:prstGeom>
          <a:solidFill>
            <a:srgbClr val="FFB020"/>
          </a:solidFill>
          <a:ln w="12700">
            <a:solidFill>
              <a:srgbClr val="FFB020"/>
            </a:solidFill>
            <a:prstDash val="solid"/>
          </a:ln>
        </p:spPr>
      </p:sp>
      <p:sp>
        <p:nvSpPr>
          <p:cNvPr id="13" name="Text 10"/>
          <p:cNvSpPr txBox="1"/>
          <p:nvPr/>
        </p:nvSpPr>
        <p:spPr>
          <a:xfrm>
            <a:off x="502920" y="2286000"/>
            <a:ext cx="457200" cy="457200"/>
          </a:xfrm>
          <a:prstGeom prst="rect">
            <a:avLst/>
          </a:prstGeom>
          <a:noFill/>
          <a:ln/>
        </p:spPr>
        <p:txBody>
          <a:bodyPr wrap="square" lIns="0" tIns="0" rIns="0" bIns="0" rtlCol="0" anchor="ctr"/>
          <a:lstStyle/>
          <a:p>
            <a:pPr algn="ctr" indent="0" marL="0">
              <a:buNone/>
            </a:pPr>
            <a:r>
              <a:rPr lang="en-US" sz="1600" b="1" dirty="0">
                <a:solidFill>
                  <a:srgbClr val="14141F"/>
                </a:solidFill>
                <a:latin typeface="Arial" pitchFamily="34" charset="0"/>
                <a:ea typeface="Arial" pitchFamily="34" charset="-122"/>
                <a:cs typeface="Arial" pitchFamily="34" charset="-120"/>
              </a:rPr>
              <a:t>2</a:t>
            </a:r>
            <a:endParaRPr lang="en-US" sz="1600" dirty="0"/>
          </a:p>
        </p:txBody>
      </p:sp>
      <p:sp>
        <p:nvSpPr>
          <p:cNvPr id="14" name="Text 11"/>
          <p:cNvSpPr txBox="1"/>
          <p:nvPr/>
        </p:nvSpPr>
        <p:spPr>
          <a:xfrm>
            <a:off x="1143000" y="2240280"/>
            <a:ext cx="74980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Trade cards   ·   7 min</a:t>
            </a:r>
            <a:endParaRPr lang="en-US" sz="1500" dirty="0"/>
          </a:p>
        </p:txBody>
      </p:sp>
      <p:sp>
        <p:nvSpPr>
          <p:cNvPr id="15" name="Text 12"/>
          <p:cNvSpPr txBox="1"/>
          <p:nvPr/>
        </p:nvSpPr>
        <p:spPr>
          <a:xfrm>
            <a:off x="1143000" y="2569464"/>
            <a:ext cx="7498080" cy="612648"/>
          </a:xfrm>
          <a:prstGeom prst="rect">
            <a:avLst/>
          </a:prstGeom>
          <a:noFill/>
          <a:ln/>
        </p:spPr>
        <p:txBody>
          <a:bodyPr wrap="square" lIns="0" tIns="0" rIns="0" bIns="0" rtlCol="0" anchor="t"/>
          <a:lstStyle/>
          <a:p>
            <a:pPr indent="0" marL="0">
              <a:buNone/>
            </a:pPr>
            <a:r>
              <a:rPr lang="en-US" sz="1300" dirty="0">
                <a:solidFill>
                  <a:srgbClr val="E8E8F5"/>
                </a:solidFill>
                <a:latin typeface="Arial" pitchFamily="34" charset="0"/>
                <a:ea typeface="Arial" pitchFamily="34" charset="-122"/>
                <a:cs typeface="Arial" pitchFamily="34" charset="-120"/>
              </a:rPr>
              <a:t>Pick TWO of your choices. On page 2, write the trade for each: who wins, who loses something, what could go wrong.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8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000" b="1" dirty="0">
                <a:solidFill>
                  <a:srgbClr val="FFB020"/>
                </a:solidFill>
                <a:latin typeface="Arial" pitchFamily="34" charset="0"/>
                <a:ea typeface="Arial" pitchFamily="34" charset="-122"/>
                <a:cs typeface="Arial" pitchFamily="34" charset="-120"/>
              </a:rPr>
              <a:t>This Week at Big Dream Studio — Tasks A to F</a:t>
            </a:r>
            <a:endParaRPr lang="en-US" sz="20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A —  Send the "don't forget your session" texts to this week's artists  (Jaylen)</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B —  Rename and back up 300 audio files from last night  (Ravi)</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C —  Write the first draft of this week's social media captions  (Jaylen)</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D —  Mix a rough first version of a new artist's song  (Ravi)</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E —  Coach a nervous first-time singer through her first recording  (Nia)</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F —  Politely remind three people who still haven't paid the studio  (Jaylen)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9 / 12</a:t>
            </a:r>
            <a:endParaRPr lang="en-US" sz="900" dirty="0"/>
          </a:p>
        </p:txBody>
      </p:sp>
      <p:sp>
        <p:nvSpPr>
          <p:cNvPr id="4" name="Text 2"/>
          <p:cNvSpPr txBox="1"/>
          <p:nvPr/>
        </p:nvSpPr>
        <p:spPr>
          <a:xfrm>
            <a:off x="502920" y="502920"/>
            <a:ext cx="8138160" cy="548640"/>
          </a:xfrm>
          <a:prstGeom prst="rect">
            <a:avLst/>
          </a:prstGeom>
          <a:noFill/>
          <a:ln/>
        </p:spPr>
        <p:txBody>
          <a:bodyPr wrap="square" lIns="0" tIns="0" rIns="0" bIns="0" rtlCol="0" anchor="ctr"/>
          <a:lstStyle/>
          <a:p>
            <a:pPr indent="0" marL="0">
              <a:buNone/>
            </a:pPr>
            <a:r>
              <a:rPr lang="en-US" sz="2000" b="1" dirty="0">
                <a:solidFill>
                  <a:srgbClr val="FFB020"/>
                </a:solidFill>
                <a:latin typeface="Arial" pitchFamily="34" charset="0"/>
                <a:ea typeface="Arial" pitchFamily="34" charset="-122"/>
                <a:cs typeface="Arial" pitchFamily="34" charset="-120"/>
              </a:rPr>
              <a:t>This Week at Big Dream Studio — Tasks G to L</a:t>
            </a:r>
            <a:endParaRPr lang="en-US" sz="2000" dirty="0"/>
          </a:p>
        </p:txBody>
      </p:sp>
      <p:sp>
        <p:nvSpPr>
          <p:cNvPr id="6" name="Text 3"/>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G —  Pick which of an artist's five new songs to release first  (Nia)</a:t>
            </a:r>
            <a:endParaRPr lang="en-US" sz="1700" dirty="0"/>
          </a:p>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H —  Set up the microphones for a live band and fix the echo  (Ravi)</a:t>
            </a:r>
            <a:endParaRPr lang="en-US" sz="1700" dirty="0"/>
          </a:p>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I —  Agree on a price with a group that wants the studio for three days  (Nia)</a:t>
            </a:r>
            <a:endParaRPr lang="en-US" sz="1700" dirty="0"/>
          </a:p>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J —  Type up the lyrics from yesterday's made-up-on-the-spot rap session  (Ravi)</a:t>
            </a:r>
            <a:endParaRPr lang="en-US" sz="1700" dirty="0"/>
          </a:p>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K —  Answer the same five questions everyone emails (price, hours, parking)  (Jaylen)</a:t>
            </a:r>
            <a:endParaRPr lang="en-US" sz="1700" dirty="0"/>
          </a:p>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L —  Plan the song order and mood for the big show night  (Nia)</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10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8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Defend It — Say It Out Loud</a:t>
            </a:r>
            <a:endParaRPr lang="en-US" sz="2600" dirty="0"/>
          </a:p>
        </p:txBody>
      </p:sp>
      <p:sp>
        <p:nvSpPr>
          <p:cNvPr id="8" name="Text 5"/>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Fill in your claim first. Then two pairs face each other — face the person across from you.</a:t>
            </a:r>
            <a:endParaRPr lang="en-US" sz="1700" dirty="0"/>
          </a:p>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Your claim:  Task ___ belongs in ___ because ___ — and the trade is ___</a:t>
            </a:r>
            <a:endParaRPr lang="en-US" sz="1700" dirty="0"/>
          </a:p>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Three moves:  1. Eyes up off the page.   2. Voice to the back wall.   3. Slow down on the word 'because.'</a:t>
            </a:r>
            <a:endParaRPr lang="en-US" sz="1700" dirty="0"/>
          </a:p>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Speaker 1 reads their claim out loud (30 seconds), then slides their sheet across.</a:t>
            </a:r>
            <a:endParaRPr lang="en-US" sz="1700" dirty="0"/>
          </a:p>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Listener 1 checks the three boxes and writes keep or fix (30 seconds), then slides it back.</a:t>
            </a:r>
            <a:endParaRPr lang="en-US" sz="1700" dirty="0"/>
          </a:p>
          <a:p>
            <a:pPr marL="342900" indent="-342900">
              <a:spcAft>
                <a:spcPts val="800"/>
              </a:spcAft>
              <a:buSzPct val="100000"/>
              <a:buChar char="■"/>
            </a:pPr>
            <a:r>
              <a:rPr lang="en-US" sz="1700" dirty="0">
                <a:solidFill>
                  <a:srgbClr val="E8E8F5"/>
                </a:solidFill>
                <a:latin typeface="Arial" pitchFamily="34" charset="0"/>
                <a:ea typeface="Arial" pitchFamily="34" charset="-122"/>
                <a:cs typeface="Arial" pitchFamily="34" charset="-120"/>
              </a:rPr>
              <a:t>Switch: Speaker 2 reads, Listener 2 marks. Everyone ends with their own sheet.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11 / 12</a:t>
            </a:r>
            <a:endParaRPr lang="en-US" sz="900" dirty="0"/>
          </a:p>
        </p:txBody>
      </p:sp>
      <p:sp>
        <p:nvSpPr>
          <p:cNvPr id="4" name="Shape 2"/>
          <p:cNvSpPr/>
          <p:nvPr/>
        </p:nvSpPr>
        <p:spPr>
          <a:xfrm>
            <a:off x="7680960" y="146304"/>
            <a:ext cx="960120" cy="310896"/>
          </a:xfrm>
          <a:prstGeom prst="roundRect">
            <a:avLst>
              <a:gd name="adj" fmla="val 50000"/>
            </a:avLst>
          </a:prstGeom>
          <a:solidFill>
            <a:srgbClr val="14141F"/>
          </a:solidFill>
          <a:ln w="15875">
            <a:solidFill>
              <a:srgbClr val="FFB020"/>
            </a:solidFill>
            <a:prstDash val="solid"/>
          </a:ln>
        </p:spPr>
      </p:sp>
      <p:sp>
        <p:nvSpPr>
          <p:cNvPr id="5" name="Text 3"/>
          <p:cNvSpPr txBox="1"/>
          <p:nvPr/>
        </p:nvSpPr>
        <p:spPr>
          <a:xfrm>
            <a:off x="7680960" y="146304"/>
            <a:ext cx="960120" cy="310896"/>
          </a:xfrm>
          <a:prstGeom prst="rect">
            <a:avLst/>
          </a:prstGeom>
          <a:noFill/>
          <a:ln/>
        </p:spPr>
        <p:txBody>
          <a:bodyPr wrap="square" lIns="0" tIns="0" rIns="0" bIns="0" rtlCol="0" anchor="ctr"/>
          <a:lstStyle/>
          <a:p>
            <a:pPr algn="ctr" indent="0" marL="0">
              <a:buNone/>
            </a:pPr>
            <a:r>
              <a:rPr lang="en-US" sz="1000" b="1" dirty="0">
                <a:solidFill>
                  <a:srgbClr val="FFB020"/>
                </a:solidFill>
                <a:latin typeface="Arial" pitchFamily="34" charset="0"/>
                <a:ea typeface="Arial" pitchFamily="34" charset="-122"/>
                <a:cs typeface="Arial" pitchFamily="34" charset="-120"/>
              </a:rPr>
              <a:t>5 MIN</a:t>
            </a:r>
            <a:endParaRPr lang="en-US" sz="1000" dirty="0"/>
          </a:p>
        </p:txBody>
      </p:sp>
      <p:sp>
        <p:nvSpPr>
          <p:cNvPr id="6" name="Text 4"/>
          <p:cNvSpPr txBox="1"/>
          <p:nvPr/>
        </p:nvSpPr>
        <p:spPr>
          <a:xfrm>
            <a:off x="502920" y="502920"/>
            <a:ext cx="7040880" cy="548640"/>
          </a:xfrm>
          <a:prstGeom prst="rect">
            <a:avLst/>
          </a:prstGeom>
          <a:noFill/>
          <a:ln/>
        </p:spPr>
        <p:txBody>
          <a:bodyPr wrap="square" lIns="0" tIns="0" rIns="0" bIns="0" rtlCol="0" anchor="ctr"/>
          <a:lstStyle/>
          <a:p>
            <a:pPr indent="0" marL="0">
              <a:buNone/>
            </a:pPr>
            <a:r>
              <a:rPr lang="en-US" sz="2600" b="1" dirty="0">
                <a:solidFill>
                  <a:srgbClr val="FFB020"/>
                </a:solidFill>
                <a:latin typeface="Arial" pitchFamily="34" charset="0"/>
                <a:ea typeface="Arial" pitchFamily="34" charset="-122"/>
                <a:cs typeface="Arial" pitchFamily="34" charset="-120"/>
              </a:rPr>
              <a:t>Exit Ticket — A Real Job You Know</a:t>
            </a:r>
            <a:endParaRPr lang="en-US" sz="2600" dirty="0"/>
          </a:p>
        </p:txBody>
      </p:sp>
      <p:sp>
        <p:nvSpPr>
          <p:cNvPr id="8" name="Text 5"/>
          <p:cNvSpPr txBox="1"/>
          <p:nvPr/>
        </p:nvSpPr>
        <p:spPr>
          <a:xfrm>
            <a:off x="594360" y="1188720"/>
            <a:ext cx="7955280" cy="34061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The job: one somebody in your life really has — family, neighbor, coach, teacher.</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AUTOMATE — one boring, repeating task AI should take — and who loses something when it does.</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AUGMENT — one task where the human makes the call and AI helps out.</a:t>
            </a:r>
            <a:endParaRPr lang="en-US" sz="1800" dirty="0"/>
          </a:p>
          <a:p>
            <a:pPr marL="342900" indent="-342900">
              <a:spcAft>
                <a:spcPts val="800"/>
              </a:spcAft>
              <a:buSzPct val="100000"/>
              <a:buChar char="■"/>
            </a:pPr>
            <a:r>
              <a:rPr lang="en-US" sz="1800" dirty="0">
                <a:solidFill>
                  <a:srgbClr val="E8E8F5"/>
                </a:solidFill>
                <a:latin typeface="Arial" pitchFamily="34" charset="0"/>
                <a:ea typeface="Arial" pitchFamily="34" charset="-122"/>
                <a:cs typeface="Arial" pitchFamily="34" charset="-120"/>
              </a:rPr>
              <a:t>KEEP HUMAN — one task that should stay fully human — and why.</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02920" y="201168"/>
            <a:ext cx="4572000" cy="228600"/>
          </a:xfrm>
          <a:prstGeom prst="rect">
            <a:avLst/>
          </a:prstGeom>
          <a:noFill/>
          <a:ln/>
        </p:spPr>
        <p:txBody>
          <a:bodyPr wrap="square" lIns="0" tIns="0" rIns="0" bIns="0" rtlCol="0" anchor="t"/>
          <a:lstStyle/>
          <a:p>
            <a:pPr indent="0" marL="0">
              <a:buNone/>
            </a:pPr>
            <a:r>
              <a:rPr lang="en-US" sz="900" b="1" spc="200" kern="0" dirty="0">
                <a:solidFill>
                  <a:srgbClr val="A9A9C4"/>
                </a:solidFill>
                <a:latin typeface="Arial" pitchFamily="34" charset="0"/>
                <a:ea typeface="Arial" pitchFamily="34" charset="-122"/>
                <a:cs typeface="Arial" pitchFamily="34" charset="-120"/>
              </a:rPr>
              <a:t>FUTURE SKILLS · AI LITERACY</a:t>
            </a:r>
            <a:endParaRPr lang="en-US" sz="900" dirty="0"/>
          </a:p>
        </p:txBody>
      </p:sp>
      <p:sp>
        <p:nvSpPr>
          <p:cNvPr id="3" name="Text 1"/>
          <p:cNvSpPr txBox="1"/>
          <p:nvPr/>
        </p:nvSpPr>
        <p:spPr>
          <a:xfrm>
            <a:off x="7726680" y="4759452"/>
            <a:ext cx="914400" cy="228600"/>
          </a:xfrm>
          <a:prstGeom prst="rect">
            <a:avLst/>
          </a:prstGeom>
          <a:noFill/>
          <a:ln/>
        </p:spPr>
        <p:txBody>
          <a:bodyPr wrap="square" lIns="0" tIns="0" rIns="0" bIns="0" rtlCol="0" anchor="t"/>
          <a:lstStyle/>
          <a:p>
            <a:pPr algn="r" indent="0" marL="0">
              <a:buNone/>
            </a:pPr>
            <a:r>
              <a:rPr lang="en-US" sz="900" dirty="0">
                <a:solidFill>
                  <a:srgbClr val="A9A9C4"/>
                </a:solidFill>
                <a:latin typeface="Arial" pitchFamily="34" charset="0"/>
                <a:ea typeface="Arial" pitchFamily="34" charset="-122"/>
                <a:cs typeface="Arial" pitchFamily="34" charset="-120"/>
              </a:rPr>
              <a:t>12 / 12</a:t>
            </a:r>
            <a:endParaRPr lang="en-US" sz="900" dirty="0"/>
          </a:p>
        </p:txBody>
      </p:sp>
      <p:sp>
        <p:nvSpPr>
          <p:cNvPr id="5" name="Shape 2"/>
          <p:cNvSpPr/>
          <p:nvPr/>
        </p:nvSpPr>
        <p:spPr>
          <a:xfrm>
            <a:off x="7132320" y="-1097280"/>
            <a:ext cx="3291840" cy="3291840"/>
          </a:xfrm>
          <a:prstGeom prst="ellipse">
            <a:avLst/>
          </a:prstGeom>
          <a:solidFill>
            <a:srgbClr val="262648"/>
          </a:solidFill>
          <a:ln w="12700">
            <a:solidFill>
              <a:srgbClr val="262648"/>
            </a:solidFill>
            <a:prstDash val="solid"/>
          </a:ln>
        </p:spPr>
      </p:sp>
      <p:sp>
        <p:nvSpPr>
          <p:cNvPr id="6" name="Text 3"/>
          <p:cNvSpPr txBox="1"/>
          <p:nvPr/>
        </p:nvSpPr>
        <p:spPr>
          <a:xfrm>
            <a:off x="502920" y="1097280"/>
            <a:ext cx="6675120" cy="2011680"/>
          </a:xfrm>
          <a:prstGeom prst="rect">
            <a:avLst/>
          </a:prstGeom>
          <a:noFill/>
          <a:ln/>
        </p:spPr>
        <p:txBody>
          <a:bodyPr wrap="square" lIns="0" tIns="0" rIns="0" bIns="0" rtlCol="0" anchor="ctr"/>
          <a:lstStyle/>
          <a:p>
            <a:pPr indent="0" marL="0">
              <a:buNone/>
            </a:pPr>
            <a:r>
              <a:rPr lang="en-US" sz="3400" b="1" dirty="0">
                <a:solidFill>
                  <a:srgbClr val="FFB020"/>
                </a:solidFill>
                <a:latin typeface="Arial" pitchFamily="34" charset="0"/>
                <a:ea typeface="Arial" pitchFamily="34" charset="-122"/>
                <a:cs typeface="Arial" pitchFamily="34" charset="-120"/>
              </a:rPr>
              <a:t>Let the robots do the boring work. Leave the humans to do the human things.</a:t>
            </a:r>
            <a:endParaRPr lang="en-US" sz="3400" dirty="0"/>
          </a:p>
        </p:txBody>
      </p:sp>
      <p:sp>
        <p:nvSpPr>
          <p:cNvPr id="7" name="Text 4"/>
          <p:cNvSpPr txBox="1"/>
          <p:nvPr/>
        </p:nvSpPr>
        <p:spPr>
          <a:xfrm>
            <a:off x="502920" y="3200400"/>
            <a:ext cx="7680960" cy="1097280"/>
          </a:xfrm>
          <a:prstGeom prst="rect">
            <a:avLst/>
          </a:prstGeom>
          <a:noFill/>
          <a:ln/>
        </p:spPr>
        <p:txBody>
          <a:bodyPr wrap="square" lIns="0" tIns="0" rIns="0" bIns="0" rtlCol="0" anchor="t"/>
          <a:lstStyle/>
          <a:p>
            <a:pPr indent="0" marL="0">
              <a:buNone/>
            </a:pPr>
            <a:r>
              <a:rPr lang="en-US" sz="1600" dirty="0">
                <a:solidFill>
                  <a:srgbClr val="E8E8F5"/>
                </a:solidFill>
                <a:latin typeface="Arial" pitchFamily="34" charset="0"/>
                <a:ea typeface="Arial" pitchFamily="34" charset="-122"/>
                <a:cs typeface="Arial" pitchFamily="34" charset="-120"/>
              </a:rPr>
              <a:t>A good AI job runs human → AI → human: a person starts it, AI does the middle, a person checks and decides. The people who win with AI tend to be the ones who decide what it does.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Future Skills Series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Robots Do the Boring Work — Slides</dc:title>
  <dc:subject>PptxGenJS Presentation</dc:subject>
  <dc:creator>Future Skills Series</dc:creator>
  <cp:lastModifiedBy>Future Skills Series</cp:lastModifiedBy>
  <cp:revision>1</cp:revision>
  <dcterms:created xsi:type="dcterms:W3CDTF">2026-09-11T17:14:58Z</dcterms:created>
  <dcterms:modified xsi:type="dcterms:W3CDTF">2026-09-11T17:14:58Z</dcterms:modified>
</cp:coreProperties>
</file>